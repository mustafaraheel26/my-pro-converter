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8" d="100"/>
          <a:sy n="98" d="100"/>
        </p:scale>
        <p:origin x="76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2311634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407008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9342348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857001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7746468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044035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2825547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178511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6636931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8455928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6104708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t>1/13/2025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91440">
              <a:lnSpc>
                <a:spcPts val="880"/>
              </a:lnSpc>
            </a:pPr>
            <a:fld id="{81D60167-4931-47E6-BA6A-407CBD079E47}" type="slidenum">
              <a:rPr lang="en-US" spc="-50" smtClean="0"/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2452949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  <p:sldLayoutId id="2147483672" r:id="rId6"/>
    <p:sldLayoutId id="2147483673" r:id="rId7"/>
    <p:sldLayoutId id="2147483674" r:id="rId8"/>
    <p:sldLayoutId id="2147483675" r:id="rId9"/>
    <p:sldLayoutId id="2147483676" r:id="rId10"/>
    <p:sldLayoutId id="2147483677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jpg"/><Relationship Id="rId4" Type="http://schemas.openxmlformats.org/officeDocument/2006/relationships/image" Target="../media/image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owl.english.purdue.edu/owl/resource/560/01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epp.eurostat.ec.europa.eu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4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hyperlink" Target="http://etext.lib.virginia.edu/subjects/afam.html" TargetMode="External"/><Relationship Id="rId7" Type="http://schemas.openxmlformats.org/officeDocument/2006/relationships/hyperlink" Target="http://www.nytimes.com/" TargetMode="External"/><Relationship Id="rId2" Type="http://schemas.openxmlformats.org/officeDocument/2006/relationships/hyperlink" Target="http://whyfiles.org/137lightning/index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hcsc.gc.ca/english/protection/biologics_genetics/gen_mod_foods/genmodebk.html" TargetMode="External"/><Relationship Id="rId5" Type="http://schemas.openxmlformats.org/officeDocument/2006/relationships/hyperlink" Target="http://www.cc.gatech.edu/gvu/usersurveys/survey1997-10/" TargetMode="External"/><Relationship Id="rId4" Type="http://schemas.openxmlformats.org/officeDocument/2006/relationships/hyperlink" Target="http://journals.apa.org/prevention/volume3/pre0030001a.html" TargetMode="External"/><Relationship Id="rId9" Type="http://schemas.openxmlformats.org/officeDocument/2006/relationships/image" Target="../media/image3.png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pastyle.org/" TargetMode="External"/><Relationship Id="rId7" Type="http://schemas.openxmlformats.org/officeDocument/2006/relationships/image" Target="../media/image3.png"/><Relationship Id="rId2" Type="http://schemas.openxmlformats.org/officeDocument/2006/relationships/hyperlink" Target="http://owl.english.purdue.edu/" TargetMode="Externa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png"/><Relationship Id="rId5" Type="http://schemas.openxmlformats.org/officeDocument/2006/relationships/image" Target="../media/image1.png"/><Relationship Id="rId4" Type="http://schemas.openxmlformats.org/officeDocument/2006/relationships/hyperlink" Target="http://www.sciencebuddies.org/science-fair-projects/science-" TargetMode="Externa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waikato.ac.nz/__data/assets/pdf_file/0014/236120/apa-quick-guide.pdf" TargetMode="External"/><Relationship Id="rId2" Type="http://schemas.openxmlformats.org/officeDocument/2006/relationships/hyperlink" Target="https://library.lanecc.edu/sites/default/files/handouts/mla_quick.pdf" TargetMode="Externa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037077" y="2838068"/>
            <a:ext cx="486791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000" spc="-10" dirty="0">
                <a:solidFill>
                  <a:srgbClr val="1F487C"/>
                </a:solidFill>
                <a:latin typeface="Candara"/>
                <a:cs typeface="Candara"/>
              </a:rPr>
              <a:t>EXPOSITORY</a:t>
            </a:r>
            <a:r>
              <a:rPr sz="4000" spc="-150" dirty="0">
                <a:solidFill>
                  <a:srgbClr val="1F487C"/>
                </a:solidFill>
                <a:latin typeface="Candara"/>
                <a:cs typeface="Candara"/>
              </a:rPr>
              <a:t> </a:t>
            </a:r>
            <a:r>
              <a:rPr sz="4000" spc="-10" dirty="0">
                <a:solidFill>
                  <a:srgbClr val="1F487C"/>
                </a:solidFill>
                <a:latin typeface="Candara"/>
                <a:cs typeface="Candara"/>
              </a:rPr>
              <a:t>WRITING</a:t>
            </a:r>
            <a:endParaRPr sz="4000">
              <a:latin typeface="Candara"/>
              <a:cs typeface="Candar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280784" y="5192648"/>
            <a:ext cx="1716405" cy="482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000" dirty="0">
                <a:solidFill>
                  <a:srgbClr val="1F487C"/>
                </a:solidFill>
                <a:latin typeface="Candara"/>
                <a:cs typeface="Candara"/>
              </a:rPr>
              <a:t>Lecture</a:t>
            </a:r>
            <a:r>
              <a:rPr sz="3000" spc="-75" dirty="0">
                <a:solidFill>
                  <a:srgbClr val="1F487C"/>
                </a:solidFill>
                <a:latin typeface="Candara"/>
                <a:cs typeface="Candara"/>
              </a:rPr>
              <a:t> </a:t>
            </a:r>
            <a:r>
              <a:rPr sz="3000" spc="-25" dirty="0">
                <a:solidFill>
                  <a:srgbClr val="1F487C"/>
                </a:solidFill>
                <a:latin typeface="Candara"/>
                <a:cs typeface="Candara"/>
              </a:rPr>
              <a:t>26</a:t>
            </a:r>
            <a:endParaRPr sz="3000">
              <a:latin typeface="Candara"/>
              <a:cs typeface="Candara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0" y="0"/>
            <a:ext cx="9144635" cy="101600"/>
            <a:chOff x="0" y="0"/>
            <a:chExt cx="9144635" cy="101600"/>
          </a:xfrm>
        </p:grpSpPr>
        <p:sp>
          <p:nvSpPr>
            <p:cNvPr id="6" name="object 6"/>
            <p:cNvSpPr/>
            <p:nvPr/>
          </p:nvSpPr>
          <p:spPr>
            <a:xfrm>
              <a:off x="7940293" y="0"/>
              <a:ext cx="1203960" cy="101600"/>
            </a:xfrm>
            <a:custGeom>
              <a:avLst/>
              <a:gdLst/>
              <a:ahLst/>
              <a:cxnLst/>
              <a:rect l="l" t="t" r="r" b="b"/>
              <a:pathLst>
                <a:path w="1203959" h="101600">
                  <a:moveTo>
                    <a:pt x="1203756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203756" y="101600"/>
                  </a:lnTo>
                  <a:lnTo>
                    <a:pt x="12037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808851" y="0"/>
              <a:ext cx="1129030" cy="101600"/>
            </a:xfrm>
            <a:custGeom>
              <a:avLst/>
              <a:gdLst/>
              <a:ahLst/>
              <a:cxnLst/>
              <a:rect l="l" t="t" r="r" b="b"/>
              <a:pathLst>
                <a:path w="1129029" h="101600">
                  <a:moveTo>
                    <a:pt x="1128522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128522" y="101600"/>
                  </a:lnTo>
                  <a:lnTo>
                    <a:pt x="112852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5688457" y="0"/>
              <a:ext cx="1129030" cy="101600"/>
            </a:xfrm>
            <a:custGeom>
              <a:avLst/>
              <a:gdLst/>
              <a:ahLst/>
              <a:cxnLst/>
              <a:rect l="l" t="t" r="r" b="b"/>
              <a:pathLst>
                <a:path w="1129029" h="101600">
                  <a:moveTo>
                    <a:pt x="1128521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128521" y="101600"/>
                  </a:lnTo>
                  <a:lnTo>
                    <a:pt x="1128521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4567935" y="0"/>
              <a:ext cx="1129030" cy="101600"/>
            </a:xfrm>
            <a:custGeom>
              <a:avLst/>
              <a:gdLst/>
              <a:ahLst/>
              <a:cxnLst/>
              <a:rect l="l" t="t" r="r" b="b"/>
              <a:pathLst>
                <a:path w="1129029" h="101600">
                  <a:moveTo>
                    <a:pt x="1128522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128522" y="101600"/>
                  </a:lnTo>
                  <a:lnTo>
                    <a:pt x="112852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3447541" y="0"/>
              <a:ext cx="1129030" cy="101600"/>
            </a:xfrm>
            <a:custGeom>
              <a:avLst/>
              <a:gdLst/>
              <a:ahLst/>
              <a:cxnLst/>
              <a:rect l="l" t="t" r="r" b="b"/>
              <a:pathLst>
                <a:path w="1129029" h="101600">
                  <a:moveTo>
                    <a:pt x="1128522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128522" y="101600"/>
                  </a:lnTo>
                  <a:lnTo>
                    <a:pt x="112852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2248966" y="0"/>
              <a:ext cx="1207135" cy="101600"/>
            </a:xfrm>
            <a:custGeom>
              <a:avLst/>
              <a:gdLst/>
              <a:ahLst/>
              <a:cxnLst/>
              <a:rect l="l" t="t" r="r" b="b"/>
              <a:pathLst>
                <a:path w="1207135" h="101600">
                  <a:moveTo>
                    <a:pt x="0" y="101600"/>
                  </a:moveTo>
                  <a:lnTo>
                    <a:pt x="1206677" y="101600"/>
                  </a:lnTo>
                  <a:lnTo>
                    <a:pt x="1206677" y="0"/>
                  </a:lnTo>
                  <a:lnTo>
                    <a:pt x="0" y="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1120444" y="0"/>
              <a:ext cx="1129030" cy="101600"/>
            </a:xfrm>
            <a:custGeom>
              <a:avLst/>
              <a:gdLst/>
              <a:ahLst/>
              <a:cxnLst/>
              <a:rect l="l" t="t" r="r" b="b"/>
              <a:pathLst>
                <a:path w="1129030" h="101600">
                  <a:moveTo>
                    <a:pt x="1128522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128522" y="101600"/>
                  </a:lnTo>
                  <a:lnTo>
                    <a:pt x="1128522" y="0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0" y="0"/>
              <a:ext cx="1129030" cy="101600"/>
            </a:xfrm>
            <a:custGeom>
              <a:avLst/>
              <a:gdLst/>
              <a:ahLst/>
              <a:cxnLst/>
              <a:rect l="l" t="t" r="r" b="b"/>
              <a:pathLst>
                <a:path w="1129030" h="101600">
                  <a:moveTo>
                    <a:pt x="1128522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128522" y="101600"/>
                  </a:lnTo>
                  <a:lnTo>
                    <a:pt x="112852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4" name="object 14"/>
          <p:cNvGrpSpPr/>
          <p:nvPr/>
        </p:nvGrpSpPr>
        <p:grpSpPr>
          <a:xfrm>
            <a:off x="0" y="6756400"/>
            <a:ext cx="9144000" cy="101600"/>
            <a:chOff x="0" y="6756400"/>
            <a:chExt cx="9144000" cy="101600"/>
          </a:xfrm>
        </p:grpSpPr>
        <p:sp>
          <p:nvSpPr>
            <p:cNvPr id="15" name="object 15"/>
            <p:cNvSpPr/>
            <p:nvPr/>
          </p:nvSpPr>
          <p:spPr>
            <a:xfrm>
              <a:off x="0" y="6756400"/>
              <a:ext cx="1203960" cy="101600"/>
            </a:xfrm>
            <a:custGeom>
              <a:avLst/>
              <a:gdLst/>
              <a:ahLst/>
              <a:cxnLst/>
              <a:rect l="l" t="t" r="r" b="b"/>
              <a:pathLst>
                <a:path w="1203960" h="101600">
                  <a:moveTo>
                    <a:pt x="1203756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203756" y="101600"/>
                  </a:lnTo>
                  <a:lnTo>
                    <a:pt x="1203756" y="0"/>
                  </a:lnTo>
                  <a:close/>
                </a:path>
              </a:pathLst>
            </a:custGeom>
            <a:solidFill>
              <a:srgbClr val="C0504D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6"/>
            <p:cNvSpPr/>
            <p:nvPr/>
          </p:nvSpPr>
          <p:spPr>
            <a:xfrm>
              <a:off x="1206627" y="6756400"/>
              <a:ext cx="1129030" cy="101600"/>
            </a:xfrm>
            <a:custGeom>
              <a:avLst/>
              <a:gdLst/>
              <a:ahLst/>
              <a:cxnLst/>
              <a:rect l="l" t="t" r="r" b="b"/>
              <a:pathLst>
                <a:path w="1129030" h="101600">
                  <a:moveTo>
                    <a:pt x="1128522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128522" y="101600"/>
                  </a:lnTo>
                  <a:lnTo>
                    <a:pt x="112852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2327020" y="6756400"/>
              <a:ext cx="1129030" cy="101600"/>
            </a:xfrm>
            <a:custGeom>
              <a:avLst/>
              <a:gdLst/>
              <a:ahLst/>
              <a:cxnLst/>
              <a:rect l="l" t="t" r="r" b="b"/>
              <a:pathLst>
                <a:path w="1129029" h="101600">
                  <a:moveTo>
                    <a:pt x="1128521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128521" y="101600"/>
                  </a:lnTo>
                  <a:lnTo>
                    <a:pt x="1128521" y="0"/>
                  </a:lnTo>
                  <a:close/>
                </a:path>
              </a:pathLst>
            </a:custGeom>
            <a:solidFill>
              <a:srgbClr val="548ED4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3447541" y="6756400"/>
              <a:ext cx="1129030" cy="101600"/>
            </a:xfrm>
            <a:custGeom>
              <a:avLst/>
              <a:gdLst/>
              <a:ahLst/>
              <a:cxnLst/>
              <a:rect l="l" t="t" r="r" b="b"/>
              <a:pathLst>
                <a:path w="1129029" h="101600">
                  <a:moveTo>
                    <a:pt x="1128522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128522" y="101600"/>
                  </a:lnTo>
                  <a:lnTo>
                    <a:pt x="112852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9" name="object 19"/>
            <p:cNvSpPr/>
            <p:nvPr/>
          </p:nvSpPr>
          <p:spPr>
            <a:xfrm>
              <a:off x="4567935" y="6756400"/>
              <a:ext cx="1129030" cy="101600"/>
            </a:xfrm>
            <a:custGeom>
              <a:avLst/>
              <a:gdLst/>
              <a:ahLst/>
              <a:cxnLst/>
              <a:rect l="l" t="t" r="r" b="b"/>
              <a:pathLst>
                <a:path w="1129029" h="101600">
                  <a:moveTo>
                    <a:pt x="1128522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128522" y="101600"/>
                  </a:lnTo>
                  <a:lnTo>
                    <a:pt x="112852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688457" y="6756400"/>
              <a:ext cx="1207135" cy="101600"/>
            </a:xfrm>
            <a:custGeom>
              <a:avLst/>
              <a:gdLst/>
              <a:ahLst/>
              <a:cxnLst/>
              <a:rect l="l" t="t" r="r" b="b"/>
              <a:pathLst>
                <a:path w="1207134" h="101600">
                  <a:moveTo>
                    <a:pt x="0" y="101600"/>
                  </a:moveTo>
                  <a:lnTo>
                    <a:pt x="1206626" y="101600"/>
                  </a:lnTo>
                  <a:lnTo>
                    <a:pt x="1206626" y="0"/>
                  </a:lnTo>
                  <a:lnTo>
                    <a:pt x="0" y="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1" name="object 21"/>
            <p:cNvSpPr/>
            <p:nvPr/>
          </p:nvSpPr>
          <p:spPr>
            <a:xfrm>
              <a:off x="6895083" y="6756400"/>
              <a:ext cx="1129030" cy="101600"/>
            </a:xfrm>
            <a:custGeom>
              <a:avLst/>
              <a:gdLst/>
              <a:ahLst/>
              <a:cxnLst/>
              <a:rect l="l" t="t" r="r" b="b"/>
              <a:pathLst>
                <a:path w="1129029" h="101600">
                  <a:moveTo>
                    <a:pt x="1128522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128522" y="101600"/>
                  </a:lnTo>
                  <a:lnTo>
                    <a:pt x="1128522" y="0"/>
                  </a:lnTo>
                  <a:close/>
                </a:path>
              </a:pathLst>
            </a:custGeom>
            <a:solidFill>
              <a:srgbClr val="E36C0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8015478" y="6756400"/>
              <a:ext cx="1129030" cy="101600"/>
            </a:xfrm>
            <a:custGeom>
              <a:avLst/>
              <a:gdLst/>
              <a:ahLst/>
              <a:cxnLst/>
              <a:rect l="l" t="t" r="r" b="b"/>
              <a:pathLst>
                <a:path w="1129029" h="101600">
                  <a:moveTo>
                    <a:pt x="1128522" y="0"/>
                  </a:moveTo>
                  <a:lnTo>
                    <a:pt x="0" y="0"/>
                  </a:lnTo>
                  <a:lnTo>
                    <a:pt x="0" y="101600"/>
                  </a:lnTo>
                  <a:lnTo>
                    <a:pt x="1128522" y="101600"/>
                  </a:lnTo>
                  <a:lnTo>
                    <a:pt x="112852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8422385" y="6595756"/>
            <a:ext cx="69850" cy="152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019"/>
              </a:lnSpc>
            </a:pPr>
            <a:r>
              <a:rPr sz="1000" spc="-50" dirty="0">
                <a:solidFill>
                  <a:srgbClr val="1F487C"/>
                </a:solidFill>
                <a:latin typeface="Candara"/>
                <a:cs typeface="Candara"/>
              </a:rPr>
              <a:t>1</a:t>
            </a:r>
            <a:endParaRPr sz="10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105"/>
              </a:spcBef>
            </a:pPr>
            <a:r>
              <a:rPr dirty="0"/>
              <a:t>Previous</a:t>
            </a:r>
            <a:r>
              <a:rPr spc="-65" dirty="0"/>
              <a:t> </a:t>
            </a:r>
            <a:r>
              <a:rPr spc="-10" dirty="0"/>
              <a:t>Lecture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spc="-50" dirty="0"/>
              <a:t>2</a:t>
            </a:fld>
            <a:endParaRPr spc="-50" dirty="0"/>
          </a:p>
        </p:txBody>
      </p:sp>
      <p:sp>
        <p:nvSpPr>
          <p:cNvPr id="3" name="object 3"/>
          <p:cNvSpPr txBox="1"/>
          <p:nvPr/>
        </p:nvSpPr>
        <p:spPr>
          <a:xfrm>
            <a:off x="908405" y="1759457"/>
            <a:ext cx="3422650" cy="276923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ndara"/>
                <a:cs typeface="Candara"/>
              </a:rPr>
              <a:t>Basics</a:t>
            </a:r>
            <a:r>
              <a:rPr sz="2400" spc="-30" dirty="0">
                <a:solidFill>
                  <a:srgbClr val="404040"/>
                </a:solidFill>
                <a:latin typeface="Candara"/>
                <a:cs typeface="Candara"/>
              </a:rPr>
              <a:t> </a:t>
            </a:r>
            <a:r>
              <a:rPr sz="2400" dirty="0">
                <a:solidFill>
                  <a:srgbClr val="404040"/>
                </a:solidFill>
                <a:latin typeface="Candara"/>
                <a:cs typeface="Candara"/>
              </a:rPr>
              <a:t>of </a:t>
            </a:r>
            <a:r>
              <a:rPr sz="2400" spc="-10" dirty="0">
                <a:solidFill>
                  <a:srgbClr val="404040"/>
                </a:solidFill>
                <a:latin typeface="Candara"/>
                <a:cs typeface="Candara"/>
              </a:rPr>
              <a:t>Plagiarism</a:t>
            </a:r>
            <a:endParaRPr sz="2400">
              <a:latin typeface="Candara"/>
              <a:cs typeface="Candar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spc="-10" dirty="0">
                <a:solidFill>
                  <a:srgbClr val="404040"/>
                </a:solidFill>
                <a:latin typeface="Candara"/>
                <a:cs typeface="Candara"/>
              </a:rPr>
              <a:t>Quotations</a:t>
            </a:r>
            <a:endParaRPr sz="2400">
              <a:latin typeface="Candara"/>
              <a:cs typeface="Candar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spc="-10" dirty="0">
                <a:solidFill>
                  <a:srgbClr val="404040"/>
                </a:solidFill>
                <a:latin typeface="Candara"/>
                <a:cs typeface="Candara"/>
              </a:rPr>
              <a:t>Citations</a:t>
            </a:r>
            <a:endParaRPr sz="2400">
              <a:latin typeface="Candara"/>
              <a:cs typeface="Candar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spc="-10" dirty="0">
                <a:solidFill>
                  <a:srgbClr val="404040"/>
                </a:solidFill>
                <a:latin typeface="Candara"/>
                <a:cs typeface="Candara"/>
              </a:rPr>
              <a:t>Paraphrasing</a:t>
            </a:r>
            <a:endParaRPr sz="2400">
              <a:latin typeface="Candara"/>
              <a:cs typeface="Candara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ndara"/>
                <a:cs typeface="Candara"/>
              </a:rPr>
              <a:t>Tips</a:t>
            </a:r>
            <a:r>
              <a:rPr sz="2400" spc="-35" dirty="0">
                <a:solidFill>
                  <a:srgbClr val="404040"/>
                </a:solidFill>
                <a:latin typeface="Candara"/>
                <a:cs typeface="Candara"/>
              </a:rPr>
              <a:t> </a:t>
            </a:r>
            <a:r>
              <a:rPr sz="2400" dirty="0">
                <a:solidFill>
                  <a:srgbClr val="404040"/>
                </a:solidFill>
                <a:latin typeface="Candara"/>
                <a:cs typeface="Candara"/>
              </a:rPr>
              <a:t>to</a:t>
            </a:r>
            <a:r>
              <a:rPr sz="2400" spc="-15" dirty="0">
                <a:solidFill>
                  <a:srgbClr val="404040"/>
                </a:solidFill>
                <a:latin typeface="Candara"/>
                <a:cs typeface="Candara"/>
              </a:rPr>
              <a:t> </a:t>
            </a:r>
            <a:r>
              <a:rPr sz="2400" dirty="0">
                <a:solidFill>
                  <a:srgbClr val="404040"/>
                </a:solidFill>
                <a:latin typeface="Candara"/>
                <a:cs typeface="Candara"/>
              </a:rPr>
              <a:t>Avoid</a:t>
            </a:r>
            <a:r>
              <a:rPr sz="2400" spc="-10" dirty="0">
                <a:solidFill>
                  <a:srgbClr val="404040"/>
                </a:solidFill>
                <a:latin typeface="Candara"/>
                <a:cs typeface="Candara"/>
              </a:rPr>
              <a:t> Plagiarism</a:t>
            </a:r>
            <a:endParaRPr sz="2400">
              <a:latin typeface="Candara"/>
              <a:cs typeface="Candar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5" name="object 5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spc="-50" dirty="0"/>
              <a:t>3</a:t>
            </a:fld>
            <a:endParaRPr spc="-50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623301"/>
            <a:ext cx="5377815" cy="3345179"/>
          </a:xfrm>
          <a:prstGeom prst="rect">
            <a:avLst/>
          </a:prstGeom>
        </p:spPr>
        <p:txBody>
          <a:bodyPr vert="horz" wrap="square" lIns="0" tIns="20955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latin typeface="Candara"/>
                <a:cs typeface="Candara"/>
              </a:rPr>
              <a:t>Citation</a:t>
            </a:r>
            <a:endParaRPr sz="24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Documentation</a:t>
            </a:r>
            <a:r>
              <a:rPr sz="2000" spc="-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original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source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Street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address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for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quote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Reference</a:t>
            </a:r>
            <a:r>
              <a:rPr sz="2000" spc="-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published/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unpublished</a:t>
            </a:r>
            <a:r>
              <a:rPr sz="2000" spc="-10" dirty="0">
                <a:latin typeface="Candara"/>
                <a:cs typeface="Candara"/>
              </a:rPr>
              <a:t> source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Goes</a:t>
            </a:r>
            <a:r>
              <a:rPr sz="2000" spc="-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parallel</a:t>
            </a:r>
            <a:r>
              <a:rPr sz="2000" spc="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with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writing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Not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be</a:t>
            </a:r>
            <a:r>
              <a:rPr sz="2000" spc="-10" dirty="0">
                <a:latin typeface="Candara"/>
                <a:cs typeface="Candara"/>
              </a:rPr>
              <a:t> overlooked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Mark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all the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sites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for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citations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611096"/>
            <a:ext cx="426910" cy="46713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90500" y="2183257"/>
            <a:ext cx="838200" cy="2962275"/>
            <a:chOff x="190500" y="2183257"/>
            <a:chExt cx="838200" cy="296227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83257"/>
              <a:ext cx="838200" cy="6496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4038600"/>
              <a:ext cx="838200" cy="649605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4495800"/>
              <a:ext cx="838200" cy="64960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124200"/>
              <a:ext cx="838200" cy="64960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566414"/>
              <a:ext cx="838200" cy="64960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674620"/>
              <a:ext cx="838200" cy="649604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62950" y="6457289"/>
            <a:ext cx="7874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888888"/>
                </a:solidFill>
                <a:latin typeface="Calibri"/>
                <a:cs typeface="Calibri"/>
              </a:rPr>
              <a:t>4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5" name="object 5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36142" y="1542989"/>
            <a:ext cx="7693025" cy="47174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What</a:t>
            </a:r>
            <a:r>
              <a:rPr sz="2400" b="1" spc="-3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needs</a:t>
            </a:r>
            <a:r>
              <a:rPr sz="2400" b="1" spc="-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to</a:t>
            </a:r>
            <a:r>
              <a:rPr sz="2400" b="1" spc="-1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be</a:t>
            </a:r>
            <a:r>
              <a:rPr sz="2400" b="1" spc="-25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documented?</a:t>
            </a:r>
            <a:endParaRPr sz="24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exact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words</a:t>
            </a:r>
            <a:r>
              <a:rPr sz="2000" b="1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unique</a:t>
            </a:r>
            <a:r>
              <a:rPr sz="2000" b="1" spc="-35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phrases</a:t>
            </a:r>
            <a:r>
              <a:rPr sz="2000" b="1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have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been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copied.</a:t>
            </a:r>
            <a:endParaRPr sz="2000">
              <a:latin typeface="Candara"/>
              <a:cs typeface="Candara"/>
            </a:endParaRPr>
          </a:p>
          <a:p>
            <a:pPr marL="464820" marR="5715" indent="-452755" algn="just">
              <a:lnSpc>
                <a:spcPct val="15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2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ideas</a:t>
            </a:r>
            <a:r>
              <a:rPr sz="2000" b="1" spc="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presented</a:t>
            </a:r>
            <a:r>
              <a:rPr sz="2000" spc="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book,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magazine,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newspaper,</a:t>
            </a:r>
            <a:r>
              <a:rPr sz="2000" spc="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web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page, 	</a:t>
            </a:r>
            <a:r>
              <a:rPr sz="2000" dirty="0">
                <a:latin typeface="Candara"/>
                <a:cs typeface="Candara"/>
              </a:rPr>
              <a:t>TV</a:t>
            </a:r>
            <a:r>
              <a:rPr sz="2000" spc="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program,</a:t>
            </a:r>
            <a:r>
              <a:rPr sz="2000" spc="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letter,</a:t>
            </a:r>
            <a:r>
              <a:rPr sz="2000" spc="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advertisement</a:t>
            </a:r>
            <a:r>
              <a:rPr sz="2000" spc="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any</a:t>
            </a:r>
            <a:r>
              <a:rPr sz="2000" spc="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other</a:t>
            </a:r>
            <a:r>
              <a:rPr sz="2000" spc="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medium</a:t>
            </a:r>
            <a:r>
              <a:rPr sz="2000" spc="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have</a:t>
            </a:r>
            <a:r>
              <a:rPr sz="2000" spc="60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been 	</a:t>
            </a:r>
            <a:r>
              <a:rPr sz="2000" dirty="0">
                <a:latin typeface="Candara"/>
                <a:cs typeface="Candara"/>
              </a:rPr>
              <a:t>incorporated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work.</a:t>
            </a:r>
            <a:endParaRPr sz="2000">
              <a:latin typeface="Candara"/>
              <a:cs typeface="Candara"/>
            </a:endParaRPr>
          </a:p>
          <a:p>
            <a:pPr marL="464820" marR="5080" indent="-452755" algn="just">
              <a:lnSpc>
                <a:spcPct val="15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20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any</a:t>
            </a:r>
            <a:r>
              <a:rPr sz="2000" spc="22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diagrams,</a:t>
            </a:r>
            <a:r>
              <a:rPr sz="2000" b="1" spc="21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illustrations,</a:t>
            </a:r>
            <a:r>
              <a:rPr sz="2000" b="1" spc="22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charts,</a:t>
            </a:r>
            <a:r>
              <a:rPr sz="2000" b="1" spc="195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pictures</a:t>
            </a:r>
            <a:r>
              <a:rPr sz="2000" b="1" spc="2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215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other</a:t>
            </a:r>
            <a:r>
              <a:rPr sz="2000" b="1" spc="215" dirty="0">
                <a:latin typeface="Candara"/>
                <a:cs typeface="Candara"/>
              </a:rPr>
              <a:t> </a:t>
            </a:r>
            <a:r>
              <a:rPr sz="2000" b="1" spc="-10" dirty="0">
                <a:latin typeface="Candara"/>
                <a:cs typeface="Candara"/>
              </a:rPr>
              <a:t>visual 	</a:t>
            </a:r>
            <a:r>
              <a:rPr sz="2000" b="1" dirty="0">
                <a:latin typeface="Candara"/>
                <a:cs typeface="Candara"/>
              </a:rPr>
              <a:t>material</a:t>
            </a:r>
            <a:r>
              <a:rPr sz="2000" b="1" spc="-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has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been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reprinted.</a:t>
            </a:r>
            <a:endParaRPr sz="20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315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information</a:t>
            </a:r>
            <a:r>
              <a:rPr sz="2000" b="1" spc="3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is</a:t>
            </a:r>
            <a:r>
              <a:rPr sz="2000" spc="3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gained</a:t>
            </a:r>
            <a:r>
              <a:rPr sz="2000" spc="3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through</a:t>
            </a:r>
            <a:r>
              <a:rPr sz="2000" spc="32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interviewing</a:t>
            </a:r>
            <a:r>
              <a:rPr sz="2000" b="1" spc="3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310" dirty="0">
                <a:latin typeface="Candara"/>
                <a:cs typeface="Candara"/>
              </a:rPr>
              <a:t> </a:t>
            </a:r>
            <a:r>
              <a:rPr sz="2000" b="1" spc="-10" dirty="0">
                <a:latin typeface="Candara"/>
                <a:cs typeface="Candara"/>
              </a:rPr>
              <a:t>conversing</a:t>
            </a:r>
            <a:endParaRPr sz="2000">
              <a:latin typeface="Candara"/>
              <a:cs typeface="Candara"/>
            </a:endParaRPr>
          </a:p>
          <a:p>
            <a:pPr marL="469265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Candara"/>
                <a:cs typeface="Candara"/>
              </a:rPr>
              <a:t>with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another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person,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face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face,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on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phone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writing.</a:t>
            </a:r>
            <a:endParaRPr sz="20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any</a:t>
            </a:r>
            <a:r>
              <a:rPr sz="2000" spc="5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electronically</a:t>
            </a:r>
            <a:r>
              <a:rPr sz="2000" b="1" spc="45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available</a:t>
            </a:r>
            <a:r>
              <a:rPr sz="2000" b="1" spc="5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material</a:t>
            </a:r>
            <a:r>
              <a:rPr sz="2000" b="1" spc="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including</a:t>
            </a:r>
            <a:r>
              <a:rPr sz="2000" spc="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images,</a:t>
            </a:r>
            <a:r>
              <a:rPr sz="2000" spc="4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audio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3316" y="6386576"/>
            <a:ext cx="27755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ndara"/>
                <a:cs typeface="Candara"/>
              </a:rPr>
              <a:t>or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video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has been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reused.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962400"/>
            <a:ext cx="838200" cy="64960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4836795"/>
            <a:ext cx="838200" cy="64960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5766549"/>
            <a:ext cx="838200" cy="649605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190500" y="2133600"/>
            <a:ext cx="838200" cy="1106805"/>
            <a:chOff x="190500" y="2133600"/>
            <a:chExt cx="838200" cy="1106805"/>
          </a:xfrm>
        </p:grpSpPr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590800"/>
              <a:ext cx="838200" cy="6496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spc="-50" dirty="0"/>
              <a:t>5</a:t>
            </a:fld>
            <a:endParaRPr spc="-50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2390" cy="42602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Why</a:t>
            </a:r>
            <a:r>
              <a:rPr sz="2400" b="1" spc="-4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must</a:t>
            </a:r>
            <a:r>
              <a:rPr sz="2400" b="1" spc="-2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we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cite?</a:t>
            </a:r>
            <a:endParaRPr sz="2400">
              <a:latin typeface="Candara"/>
              <a:cs typeface="Candara"/>
            </a:endParaRPr>
          </a:p>
          <a:p>
            <a:pPr marL="464820" marR="5080" indent="-45275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To</a:t>
            </a:r>
            <a:r>
              <a:rPr sz="2000" spc="140" dirty="0">
                <a:latin typeface="Candara"/>
                <a:cs typeface="Candara"/>
              </a:rPr>
              <a:t>  </a:t>
            </a:r>
            <a:r>
              <a:rPr sz="2000" b="1" dirty="0">
                <a:latin typeface="Candara"/>
                <a:cs typeface="Candara"/>
              </a:rPr>
              <a:t>acknowledge</a:t>
            </a:r>
            <a:r>
              <a:rPr sz="2000" b="1" spc="14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145" dirty="0">
                <a:latin typeface="Candara"/>
                <a:cs typeface="Candara"/>
              </a:rPr>
              <a:t>  </a:t>
            </a:r>
            <a:r>
              <a:rPr sz="2000" b="1" dirty="0">
                <a:latin typeface="Candara"/>
                <a:cs typeface="Candara"/>
              </a:rPr>
              <a:t>give</a:t>
            </a:r>
            <a:r>
              <a:rPr sz="2000" b="1" spc="145" dirty="0">
                <a:latin typeface="Candara"/>
                <a:cs typeface="Candara"/>
              </a:rPr>
              <a:t>  </a:t>
            </a:r>
            <a:r>
              <a:rPr sz="2000" b="1" dirty="0">
                <a:latin typeface="Candara"/>
                <a:cs typeface="Candara"/>
              </a:rPr>
              <a:t>credit</a:t>
            </a:r>
            <a:r>
              <a:rPr sz="2000" b="1" spc="14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1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sources</a:t>
            </a:r>
            <a:r>
              <a:rPr sz="2000" spc="14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14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words,</a:t>
            </a:r>
            <a:r>
              <a:rPr sz="2000" spc="145" dirty="0">
                <a:latin typeface="Candara"/>
                <a:cs typeface="Candara"/>
              </a:rPr>
              <a:t>  </a:t>
            </a:r>
            <a:r>
              <a:rPr sz="2000" spc="-10" dirty="0">
                <a:latin typeface="Candara"/>
                <a:cs typeface="Candara"/>
              </a:rPr>
              <a:t>ideas, 	</a:t>
            </a:r>
            <a:r>
              <a:rPr sz="2000" dirty="0">
                <a:latin typeface="Candara"/>
                <a:cs typeface="Candara"/>
              </a:rPr>
              <a:t>diagrams,</a:t>
            </a:r>
            <a:r>
              <a:rPr sz="2000" spc="17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illustrations,</a:t>
            </a:r>
            <a:r>
              <a:rPr sz="2000" spc="17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quotations</a:t>
            </a:r>
            <a:r>
              <a:rPr sz="2000" spc="16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borrowed,</a:t>
            </a:r>
            <a:r>
              <a:rPr sz="2000" spc="17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16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any</a:t>
            </a:r>
            <a:r>
              <a:rPr sz="2000" spc="170" dirty="0">
                <a:latin typeface="Candara"/>
                <a:cs typeface="Candara"/>
              </a:rPr>
              <a:t>  </a:t>
            </a:r>
            <a:r>
              <a:rPr sz="2000" spc="-10" dirty="0">
                <a:latin typeface="Candara"/>
                <a:cs typeface="Candara"/>
              </a:rPr>
              <a:t>materials 	</a:t>
            </a:r>
            <a:r>
              <a:rPr sz="2000" dirty="0">
                <a:latin typeface="Candara"/>
                <a:cs typeface="Candara"/>
              </a:rPr>
              <a:t>summarized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paraphrased.</a:t>
            </a:r>
            <a:endParaRPr sz="20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dirty="0">
                <a:latin typeface="Candara"/>
                <a:cs typeface="Candara"/>
              </a:rPr>
              <a:t>To</a:t>
            </a:r>
            <a:r>
              <a:rPr sz="2000" spc="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show</a:t>
            </a:r>
            <a:r>
              <a:rPr sz="2000" spc="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that</a:t>
            </a:r>
            <a:r>
              <a:rPr sz="2000" spc="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</a:t>
            </a:r>
            <a:r>
              <a:rPr sz="2000" spc="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are</a:t>
            </a:r>
            <a:r>
              <a:rPr sz="2000" spc="7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respectfully</a:t>
            </a:r>
            <a:r>
              <a:rPr sz="2000" b="1" spc="5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borrowing</a:t>
            </a:r>
            <a:r>
              <a:rPr sz="2000" b="1" spc="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other</a:t>
            </a:r>
            <a:r>
              <a:rPr sz="2000" spc="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people’s</a:t>
            </a:r>
            <a:r>
              <a:rPr sz="2000" spc="6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ideas,</a:t>
            </a:r>
            <a:endParaRPr sz="2000">
              <a:latin typeface="Candara"/>
              <a:cs typeface="Candara"/>
            </a:endParaRPr>
          </a:p>
          <a:p>
            <a:pPr marL="469265" algn="just">
              <a:lnSpc>
                <a:spcPct val="100000"/>
              </a:lnSpc>
              <a:spcBef>
                <a:spcPts val="1200"/>
              </a:spcBef>
            </a:pPr>
            <a:r>
              <a:rPr sz="2000" b="1" dirty="0">
                <a:latin typeface="Candara"/>
                <a:cs typeface="Candara"/>
              </a:rPr>
              <a:t>not</a:t>
            </a:r>
            <a:r>
              <a:rPr sz="2000" b="1" spc="-35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stealing</a:t>
            </a:r>
            <a:r>
              <a:rPr sz="2000" b="1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them,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i.e.,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prove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that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are not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plagiarizing.</a:t>
            </a:r>
            <a:endParaRPr sz="2000">
              <a:latin typeface="Candara"/>
              <a:cs typeface="Candara"/>
            </a:endParaRPr>
          </a:p>
          <a:p>
            <a:pPr marL="464820" marR="5080" indent="-452755" algn="just">
              <a:lnSpc>
                <a:spcPct val="15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To</a:t>
            </a:r>
            <a:r>
              <a:rPr sz="2000" spc="15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enhance</a:t>
            </a:r>
            <a:r>
              <a:rPr sz="2000" b="1" spc="17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the</a:t>
            </a:r>
            <a:r>
              <a:rPr sz="2000" b="1" spc="165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credibility</a:t>
            </a:r>
            <a:r>
              <a:rPr sz="2000" b="1" spc="1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1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1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research.</a:t>
            </a:r>
            <a:r>
              <a:rPr sz="2000" spc="1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By</a:t>
            </a:r>
            <a:r>
              <a:rPr sz="2000" spc="1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giving</a:t>
            </a:r>
            <a:r>
              <a:rPr sz="2000" spc="1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6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readers 	</a:t>
            </a:r>
            <a:r>
              <a:rPr sz="2000" dirty="0">
                <a:latin typeface="Candara"/>
                <a:cs typeface="Candara"/>
              </a:rPr>
              <a:t>an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opportunity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check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out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sources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for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accuracy,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inspire 	</a:t>
            </a:r>
            <a:r>
              <a:rPr sz="2000" dirty="0">
                <a:latin typeface="Candara"/>
                <a:cs typeface="Candara"/>
              </a:rPr>
              <a:t>reader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confidence.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4419600"/>
            <a:ext cx="838200" cy="649605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505200"/>
            <a:ext cx="838200" cy="64960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spc="-50" dirty="0"/>
              <a:t>6</a:t>
            </a:fld>
            <a:endParaRPr spc="-50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2390" cy="33458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HEC’s</a:t>
            </a:r>
            <a:r>
              <a:rPr sz="2400" b="1" spc="-5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Plagiarism</a:t>
            </a:r>
            <a:r>
              <a:rPr sz="2400" b="1" spc="-2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Policy</a:t>
            </a:r>
            <a:endParaRPr sz="2400">
              <a:latin typeface="Candara"/>
              <a:cs typeface="Candara"/>
            </a:endParaRPr>
          </a:p>
          <a:p>
            <a:pPr marL="464820" marR="5715" indent="-45275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In</a:t>
            </a:r>
            <a:r>
              <a:rPr sz="2000" spc="4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4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special</a:t>
            </a:r>
            <a:r>
              <a:rPr sz="2000" spc="43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meeting</a:t>
            </a:r>
            <a:r>
              <a:rPr sz="2000" spc="4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4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4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commission</a:t>
            </a:r>
            <a:r>
              <a:rPr sz="2000" spc="4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held</a:t>
            </a:r>
            <a:r>
              <a:rPr sz="2000" spc="4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on</a:t>
            </a:r>
            <a:r>
              <a:rPr sz="2000" spc="43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14th</a:t>
            </a:r>
            <a:r>
              <a:rPr sz="2000" spc="4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4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April 	</a:t>
            </a:r>
            <a:r>
              <a:rPr sz="2000" dirty="0">
                <a:latin typeface="Candara"/>
                <a:cs typeface="Candara"/>
              </a:rPr>
              <a:t>2007,</a:t>
            </a:r>
            <a:r>
              <a:rPr sz="2000" spc="-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following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was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decided:</a:t>
            </a:r>
            <a:endParaRPr sz="2000">
              <a:latin typeface="Candara"/>
              <a:cs typeface="Candara"/>
            </a:endParaRPr>
          </a:p>
          <a:p>
            <a:pPr marL="926465" marR="5080" lvl="1" indent="-457200" algn="just">
              <a:lnSpc>
                <a:spcPct val="150000"/>
              </a:lnSpc>
              <a:buFont typeface="Courier New"/>
              <a:buChar char="o"/>
              <a:tabLst>
                <a:tab pos="926465" algn="l"/>
              </a:tabLst>
            </a:pPr>
            <a:r>
              <a:rPr sz="2000" i="1" dirty="0">
                <a:latin typeface="Candara"/>
                <a:cs typeface="Candara"/>
              </a:rPr>
              <a:t>“To</a:t>
            </a:r>
            <a:r>
              <a:rPr sz="2000" i="1" spc="80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preserve</a:t>
            </a:r>
            <a:r>
              <a:rPr sz="2000" i="1" spc="90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academic</a:t>
            </a:r>
            <a:r>
              <a:rPr sz="2000" i="1" spc="80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honesty</a:t>
            </a:r>
            <a:r>
              <a:rPr sz="2000" i="1" spc="85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and</a:t>
            </a:r>
            <a:r>
              <a:rPr sz="2000" i="1" spc="85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sanctity</a:t>
            </a:r>
            <a:r>
              <a:rPr sz="2000" i="1" spc="90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90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85" dirty="0">
                <a:latin typeface="Candara"/>
                <a:cs typeface="Candara"/>
              </a:rPr>
              <a:t>  </a:t>
            </a:r>
            <a:r>
              <a:rPr sz="2000" i="1" spc="-10" dirty="0">
                <a:latin typeface="Candara"/>
                <a:cs typeface="Candara"/>
              </a:rPr>
              <a:t>degrees </a:t>
            </a:r>
            <a:r>
              <a:rPr sz="2000" i="1" dirty="0">
                <a:latin typeface="Candara"/>
                <a:cs typeface="Candara"/>
              </a:rPr>
              <a:t>awarded</a:t>
            </a:r>
            <a:r>
              <a:rPr sz="2000" i="1" spc="254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by</a:t>
            </a:r>
            <a:r>
              <a:rPr sz="2000" i="1" spc="26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254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Universities</a:t>
            </a:r>
            <a:r>
              <a:rPr sz="2000" i="1" spc="25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and</a:t>
            </a:r>
            <a:r>
              <a:rPr sz="2000" i="1" spc="254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Degree</a:t>
            </a:r>
            <a:r>
              <a:rPr sz="2000" i="1" spc="24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Awarding</a:t>
            </a:r>
            <a:r>
              <a:rPr sz="2000" i="1" spc="26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Institutes</a:t>
            </a:r>
            <a:r>
              <a:rPr sz="2000" i="1" spc="250" dirty="0">
                <a:latin typeface="Candara"/>
                <a:cs typeface="Candara"/>
              </a:rPr>
              <a:t> </a:t>
            </a:r>
            <a:r>
              <a:rPr sz="2000" i="1" spc="-25" dirty="0">
                <a:latin typeface="Candara"/>
                <a:cs typeface="Candara"/>
              </a:rPr>
              <a:t>in </a:t>
            </a:r>
            <a:r>
              <a:rPr sz="2000" i="1" dirty="0">
                <a:latin typeface="Candara"/>
                <a:cs typeface="Candara"/>
              </a:rPr>
              <a:t>Pakistan,</a:t>
            </a:r>
            <a:r>
              <a:rPr sz="2000" i="1" spc="10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HEC</a:t>
            </a:r>
            <a:r>
              <a:rPr sz="2000" i="1" spc="10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will</a:t>
            </a:r>
            <a:r>
              <a:rPr sz="2000" i="1" spc="8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have</a:t>
            </a:r>
            <a:r>
              <a:rPr sz="2000" i="1" spc="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</a:t>
            </a:r>
            <a:r>
              <a:rPr sz="2000" i="1" spc="10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zero</a:t>
            </a:r>
            <a:r>
              <a:rPr sz="2000" i="1" spc="8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tolerance</a:t>
            </a:r>
            <a:r>
              <a:rPr sz="2000" i="1" spc="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policy</a:t>
            </a:r>
            <a:r>
              <a:rPr sz="2000" i="1" spc="10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towards</a:t>
            </a:r>
            <a:r>
              <a:rPr sz="2000" i="1" spc="9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any</a:t>
            </a:r>
            <a:r>
              <a:rPr sz="2000" i="1" spc="105" dirty="0">
                <a:latin typeface="Candara"/>
                <a:cs typeface="Candara"/>
              </a:rPr>
              <a:t> </a:t>
            </a:r>
            <a:r>
              <a:rPr sz="2000" i="1" spc="-20" dirty="0">
                <a:latin typeface="Candara"/>
                <a:cs typeface="Candara"/>
              </a:rPr>
              <a:t>kind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-25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Plagiarism.”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62950" y="6457289"/>
            <a:ext cx="7874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888888"/>
                </a:solidFill>
                <a:latin typeface="Calibri"/>
                <a:cs typeface="Calibri"/>
              </a:rPr>
              <a:t>7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5" name="object 5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36142" y="1542989"/>
            <a:ext cx="7694295" cy="47174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What</a:t>
            </a:r>
            <a:r>
              <a:rPr sz="2400" b="1" spc="-3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need</a:t>
            </a:r>
            <a:r>
              <a:rPr sz="2400" b="1" spc="-1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not</a:t>
            </a:r>
            <a:r>
              <a:rPr sz="2400" b="1" spc="-1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to</a:t>
            </a:r>
            <a:r>
              <a:rPr sz="2400" b="1" spc="-2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be</a:t>
            </a:r>
            <a:r>
              <a:rPr sz="2400" b="1" spc="-25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documented?</a:t>
            </a:r>
            <a:endParaRPr sz="2400">
              <a:latin typeface="Candara"/>
              <a:cs typeface="Candara"/>
            </a:endParaRPr>
          </a:p>
          <a:p>
            <a:pPr marL="464820" marR="9525" indent="-45275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Writing</a:t>
            </a:r>
            <a:r>
              <a:rPr sz="2000" spc="4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4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own</a:t>
            </a:r>
            <a:r>
              <a:rPr sz="2000" spc="4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lived</a:t>
            </a:r>
            <a:r>
              <a:rPr sz="2000" spc="46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experiences,</a:t>
            </a:r>
            <a:r>
              <a:rPr sz="2000" spc="4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4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own</a:t>
            </a:r>
            <a:r>
              <a:rPr sz="2000" spc="46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observation</a:t>
            </a:r>
            <a:r>
              <a:rPr sz="2000" spc="47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and 	</a:t>
            </a:r>
            <a:r>
              <a:rPr sz="2000" dirty="0">
                <a:latin typeface="Candara"/>
                <a:cs typeface="Candara"/>
              </a:rPr>
              <a:t>insight,</a:t>
            </a:r>
            <a:r>
              <a:rPr sz="2000" spc="3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3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own</a:t>
            </a:r>
            <a:r>
              <a:rPr sz="2000" spc="3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thoughts</a:t>
            </a:r>
            <a:r>
              <a:rPr sz="2000" spc="3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3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3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own</a:t>
            </a:r>
            <a:r>
              <a:rPr sz="2000" spc="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conclusions</a:t>
            </a:r>
            <a:r>
              <a:rPr sz="2000" spc="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about</a:t>
            </a:r>
            <a:r>
              <a:rPr sz="2000" spc="35" dirty="0">
                <a:latin typeface="Candara"/>
                <a:cs typeface="Candara"/>
              </a:rPr>
              <a:t>  </a:t>
            </a:r>
            <a:r>
              <a:rPr sz="2000" spc="-50" dirty="0">
                <a:latin typeface="Candara"/>
                <a:cs typeface="Candara"/>
              </a:rPr>
              <a:t>a 	</a:t>
            </a:r>
            <a:r>
              <a:rPr sz="2000" spc="-10" dirty="0">
                <a:latin typeface="Candara"/>
                <a:cs typeface="Candara"/>
              </a:rPr>
              <a:t>subject.</a:t>
            </a:r>
            <a:endParaRPr sz="2000">
              <a:latin typeface="Candara"/>
              <a:cs typeface="Candara"/>
            </a:endParaRPr>
          </a:p>
          <a:p>
            <a:pPr marL="464820" marR="7620" indent="-452755" algn="just">
              <a:lnSpc>
                <a:spcPts val="3600"/>
              </a:lnSpc>
              <a:spcBef>
                <a:spcPts val="32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</a:t>
            </a:r>
            <a:r>
              <a:rPr sz="2000" spc="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are</a:t>
            </a:r>
            <a:r>
              <a:rPr sz="2000" spc="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writing</a:t>
            </a:r>
            <a:r>
              <a:rPr sz="2000" spc="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up</a:t>
            </a:r>
            <a:r>
              <a:rPr sz="2000" spc="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own</a:t>
            </a:r>
            <a:r>
              <a:rPr sz="2000" spc="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obtained</a:t>
            </a:r>
            <a:r>
              <a:rPr sz="2000" spc="6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results</a:t>
            </a:r>
            <a:r>
              <a:rPr sz="2000" spc="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through</a:t>
            </a:r>
            <a:r>
              <a:rPr sz="2000" spc="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lab</a:t>
            </a:r>
            <a:r>
              <a:rPr sz="2000" spc="6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or 	</a:t>
            </a:r>
            <a:r>
              <a:rPr sz="2000" dirty="0">
                <a:latin typeface="Candara"/>
                <a:cs typeface="Candara"/>
              </a:rPr>
              <a:t>field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experiments.</a:t>
            </a:r>
            <a:endParaRPr sz="2000">
              <a:latin typeface="Candara"/>
              <a:cs typeface="Candara"/>
            </a:endParaRPr>
          </a:p>
          <a:p>
            <a:pPr marL="464820" marR="9525" indent="-452755" algn="just">
              <a:lnSpc>
                <a:spcPts val="36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1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use</a:t>
            </a:r>
            <a:r>
              <a:rPr sz="2000" spc="1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own</a:t>
            </a:r>
            <a:r>
              <a:rPr sz="2000" spc="1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art</a:t>
            </a:r>
            <a:r>
              <a:rPr sz="2000" spc="1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work,</a:t>
            </a:r>
            <a:r>
              <a:rPr sz="2000" spc="1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digital</a:t>
            </a:r>
            <a:r>
              <a:rPr sz="2000" spc="1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photographs,</a:t>
            </a:r>
            <a:r>
              <a:rPr sz="2000" spc="1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audio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and 	</a:t>
            </a:r>
            <a:r>
              <a:rPr sz="2000" spc="-10" dirty="0">
                <a:latin typeface="Candara"/>
                <a:cs typeface="Candara"/>
              </a:rPr>
              <a:t>video.</a:t>
            </a:r>
            <a:endParaRPr sz="20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use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“common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knowledge”-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things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like folklore,</a:t>
            </a:r>
            <a:r>
              <a:rPr sz="2000" spc="-10" dirty="0">
                <a:latin typeface="Candara"/>
                <a:cs typeface="Candara"/>
              </a:rPr>
              <a:t> common</a:t>
            </a:r>
            <a:endParaRPr sz="2000">
              <a:latin typeface="Candara"/>
              <a:cs typeface="Candara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andara"/>
                <a:cs typeface="Candara"/>
              </a:rPr>
              <a:t>sense</a:t>
            </a:r>
            <a:r>
              <a:rPr sz="2000" spc="4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observations,</a:t>
            </a:r>
            <a:r>
              <a:rPr sz="2000" spc="48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myths,</a:t>
            </a:r>
            <a:r>
              <a:rPr sz="2000" spc="4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urban</a:t>
            </a:r>
            <a:r>
              <a:rPr sz="2000" spc="4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legends</a:t>
            </a:r>
            <a:r>
              <a:rPr sz="2000" spc="4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4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historical</a:t>
            </a:r>
            <a:r>
              <a:rPr sz="2000" spc="49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events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3316" y="6386576"/>
            <a:ext cx="33566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ndara"/>
                <a:cs typeface="Candara"/>
              </a:rPr>
              <a:t>(but</a:t>
            </a:r>
            <a:r>
              <a:rPr sz="2000" spc="-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not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historical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documents).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498596"/>
            <a:ext cx="838200" cy="64960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4401565"/>
            <a:ext cx="838200" cy="64960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5331307"/>
            <a:ext cx="838200" cy="64960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62950" y="6457289"/>
            <a:ext cx="7874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50" dirty="0">
                <a:solidFill>
                  <a:srgbClr val="888888"/>
                </a:solidFill>
                <a:latin typeface="Calibri"/>
                <a:cs typeface="Calibri"/>
              </a:rPr>
              <a:t>8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5" name="object 5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48842" y="1783768"/>
            <a:ext cx="27241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40"/>
              </a:lnSpc>
            </a:pPr>
            <a:r>
              <a:rPr sz="2400" spc="-50" dirty="0">
                <a:latin typeface="Wingdings"/>
                <a:cs typeface="Wingdings"/>
              </a:rPr>
              <a:t>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3316" y="1740230"/>
            <a:ext cx="26320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ndara"/>
                <a:cs typeface="Candara"/>
              </a:rPr>
              <a:t>Methods</a:t>
            </a:r>
            <a:r>
              <a:rPr sz="2400" b="1" spc="-6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of</a:t>
            </a:r>
            <a:r>
              <a:rPr sz="2400" b="1" spc="-7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Citation</a:t>
            </a:r>
            <a:endParaRPr sz="2400">
              <a:latin typeface="Candara"/>
              <a:cs typeface="Candar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grpSp>
        <p:nvGrpSpPr>
          <p:cNvPr id="17" name="object 17"/>
          <p:cNvGrpSpPr/>
          <p:nvPr/>
        </p:nvGrpSpPr>
        <p:grpSpPr>
          <a:xfrm>
            <a:off x="5696711" y="3054095"/>
            <a:ext cx="2286000" cy="2286000"/>
            <a:chOff x="5696711" y="3054095"/>
            <a:chExt cx="2286000" cy="2286000"/>
          </a:xfrm>
        </p:grpSpPr>
        <p:pic>
          <p:nvPicPr>
            <p:cNvPr id="18" name="object 18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696711" y="3054095"/>
              <a:ext cx="2285999" cy="2286000"/>
            </a:xfrm>
            <a:prstGeom prst="rect">
              <a:avLst/>
            </a:prstGeom>
          </p:spPr>
        </p:pic>
        <p:sp>
          <p:nvSpPr>
            <p:cNvPr id="19" name="object 19"/>
            <p:cNvSpPr/>
            <p:nvPr/>
          </p:nvSpPr>
          <p:spPr>
            <a:xfrm>
              <a:off x="5774943" y="3133089"/>
              <a:ext cx="2132330" cy="2132330"/>
            </a:xfrm>
            <a:custGeom>
              <a:avLst/>
              <a:gdLst/>
              <a:ahLst/>
              <a:cxnLst/>
              <a:rect l="l" t="t" r="r" b="b"/>
              <a:pathLst>
                <a:path w="2132329" h="2132329">
                  <a:moveTo>
                    <a:pt x="1066037" y="0"/>
                  </a:moveTo>
                  <a:lnTo>
                    <a:pt x="1017239" y="1096"/>
                  </a:lnTo>
                  <a:lnTo>
                    <a:pt x="969004" y="4356"/>
                  </a:lnTo>
                  <a:lnTo>
                    <a:pt x="921379" y="9731"/>
                  </a:lnTo>
                  <a:lnTo>
                    <a:pt x="874412" y="17174"/>
                  </a:lnTo>
                  <a:lnTo>
                    <a:pt x="828149" y="26639"/>
                  </a:lnTo>
                  <a:lnTo>
                    <a:pt x="782637" y="38078"/>
                  </a:lnTo>
                  <a:lnTo>
                    <a:pt x="737924" y="51445"/>
                  </a:lnTo>
                  <a:lnTo>
                    <a:pt x="694056" y="66692"/>
                  </a:lnTo>
                  <a:lnTo>
                    <a:pt x="651081" y="83772"/>
                  </a:lnTo>
                  <a:lnTo>
                    <a:pt x="609045" y="102638"/>
                  </a:lnTo>
                  <a:lnTo>
                    <a:pt x="567996" y="123244"/>
                  </a:lnTo>
                  <a:lnTo>
                    <a:pt x="527981" y="145542"/>
                  </a:lnTo>
                  <a:lnTo>
                    <a:pt x="489046" y="169484"/>
                  </a:lnTo>
                  <a:lnTo>
                    <a:pt x="451239" y="195025"/>
                  </a:lnTo>
                  <a:lnTo>
                    <a:pt x="414607" y="222117"/>
                  </a:lnTo>
                  <a:lnTo>
                    <a:pt x="379196" y="250713"/>
                  </a:lnTo>
                  <a:lnTo>
                    <a:pt x="345055" y="280766"/>
                  </a:lnTo>
                  <a:lnTo>
                    <a:pt x="312229" y="312229"/>
                  </a:lnTo>
                  <a:lnTo>
                    <a:pt x="280766" y="345055"/>
                  </a:lnTo>
                  <a:lnTo>
                    <a:pt x="250713" y="379196"/>
                  </a:lnTo>
                  <a:lnTo>
                    <a:pt x="222117" y="414607"/>
                  </a:lnTo>
                  <a:lnTo>
                    <a:pt x="195025" y="451239"/>
                  </a:lnTo>
                  <a:lnTo>
                    <a:pt x="169484" y="489046"/>
                  </a:lnTo>
                  <a:lnTo>
                    <a:pt x="145542" y="527981"/>
                  </a:lnTo>
                  <a:lnTo>
                    <a:pt x="123244" y="567996"/>
                  </a:lnTo>
                  <a:lnTo>
                    <a:pt x="102638" y="609045"/>
                  </a:lnTo>
                  <a:lnTo>
                    <a:pt x="83772" y="651081"/>
                  </a:lnTo>
                  <a:lnTo>
                    <a:pt x="66692" y="694056"/>
                  </a:lnTo>
                  <a:lnTo>
                    <a:pt x="51445" y="737924"/>
                  </a:lnTo>
                  <a:lnTo>
                    <a:pt x="38078" y="782637"/>
                  </a:lnTo>
                  <a:lnTo>
                    <a:pt x="26639" y="828149"/>
                  </a:lnTo>
                  <a:lnTo>
                    <a:pt x="17174" y="874412"/>
                  </a:lnTo>
                  <a:lnTo>
                    <a:pt x="9731" y="921379"/>
                  </a:lnTo>
                  <a:lnTo>
                    <a:pt x="4356" y="969004"/>
                  </a:lnTo>
                  <a:lnTo>
                    <a:pt x="1096" y="1017239"/>
                  </a:lnTo>
                  <a:lnTo>
                    <a:pt x="0" y="1066038"/>
                  </a:lnTo>
                  <a:lnTo>
                    <a:pt x="1096" y="1114826"/>
                  </a:lnTo>
                  <a:lnTo>
                    <a:pt x="4356" y="1163051"/>
                  </a:lnTo>
                  <a:lnTo>
                    <a:pt x="9731" y="1210667"/>
                  </a:lnTo>
                  <a:lnTo>
                    <a:pt x="17174" y="1257625"/>
                  </a:lnTo>
                  <a:lnTo>
                    <a:pt x="26639" y="1303880"/>
                  </a:lnTo>
                  <a:lnTo>
                    <a:pt x="38078" y="1349384"/>
                  </a:lnTo>
                  <a:lnTo>
                    <a:pt x="51445" y="1394091"/>
                  </a:lnTo>
                  <a:lnTo>
                    <a:pt x="66692" y="1437952"/>
                  </a:lnTo>
                  <a:lnTo>
                    <a:pt x="83772" y="1480921"/>
                  </a:lnTo>
                  <a:lnTo>
                    <a:pt x="102638" y="1522951"/>
                  </a:lnTo>
                  <a:lnTo>
                    <a:pt x="123244" y="1563994"/>
                  </a:lnTo>
                  <a:lnTo>
                    <a:pt x="145542" y="1604005"/>
                  </a:lnTo>
                  <a:lnTo>
                    <a:pt x="169484" y="1642935"/>
                  </a:lnTo>
                  <a:lnTo>
                    <a:pt x="195025" y="1680738"/>
                  </a:lnTo>
                  <a:lnTo>
                    <a:pt x="222117" y="1717366"/>
                  </a:lnTo>
                  <a:lnTo>
                    <a:pt x="250713" y="1752773"/>
                  </a:lnTo>
                  <a:lnTo>
                    <a:pt x="280766" y="1786912"/>
                  </a:lnTo>
                  <a:lnTo>
                    <a:pt x="312229" y="1819735"/>
                  </a:lnTo>
                  <a:lnTo>
                    <a:pt x="345055" y="1851195"/>
                  </a:lnTo>
                  <a:lnTo>
                    <a:pt x="379196" y="1881246"/>
                  </a:lnTo>
                  <a:lnTo>
                    <a:pt x="414607" y="1909840"/>
                  </a:lnTo>
                  <a:lnTo>
                    <a:pt x="451239" y="1936930"/>
                  </a:lnTo>
                  <a:lnTo>
                    <a:pt x="489046" y="1962470"/>
                  </a:lnTo>
                  <a:lnTo>
                    <a:pt x="527981" y="1986411"/>
                  </a:lnTo>
                  <a:lnTo>
                    <a:pt x="567996" y="2008708"/>
                  </a:lnTo>
                  <a:lnTo>
                    <a:pt x="609045" y="2029312"/>
                  </a:lnTo>
                  <a:lnTo>
                    <a:pt x="651081" y="2048178"/>
                  </a:lnTo>
                  <a:lnTo>
                    <a:pt x="694056" y="2065258"/>
                  </a:lnTo>
                  <a:lnTo>
                    <a:pt x="737924" y="2080504"/>
                  </a:lnTo>
                  <a:lnTo>
                    <a:pt x="782637" y="2093870"/>
                  </a:lnTo>
                  <a:lnTo>
                    <a:pt x="828149" y="2105309"/>
                  </a:lnTo>
                  <a:lnTo>
                    <a:pt x="874412" y="2114774"/>
                  </a:lnTo>
                  <a:lnTo>
                    <a:pt x="921379" y="2122217"/>
                  </a:lnTo>
                  <a:lnTo>
                    <a:pt x="969004" y="2127592"/>
                  </a:lnTo>
                  <a:lnTo>
                    <a:pt x="1017239" y="2130852"/>
                  </a:lnTo>
                  <a:lnTo>
                    <a:pt x="1066164" y="2131949"/>
                  </a:lnTo>
                  <a:lnTo>
                    <a:pt x="1114963" y="2130852"/>
                  </a:lnTo>
                  <a:lnTo>
                    <a:pt x="1163198" y="2127592"/>
                  </a:lnTo>
                  <a:lnTo>
                    <a:pt x="1210823" y="2122217"/>
                  </a:lnTo>
                  <a:lnTo>
                    <a:pt x="1257790" y="2114774"/>
                  </a:lnTo>
                  <a:lnTo>
                    <a:pt x="1304053" y="2105309"/>
                  </a:lnTo>
                  <a:lnTo>
                    <a:pt x="1349565" y="2093870"/>
                  </a:lnTo>
                  <a:lnTo>
                    <a:pt x="1394278" y="2080504"/>
                  </a:lnTo>
                  <a:lnTo>
                    <a:pt x="1438146" y="2065258"/>
                  </a:lnTo>
                  <a:lnTo>
                    <a:pt x="1481121" y="2048178"/>
                  </a:lnTo>
                  <a:lnTo>
                    <a:pt x="1523157" y="2029312"/>
                  </a:lnTo>
                  <a:lnTo>
                    <a:pt x="1564206" y="2008708"/>
                  </a:lnTo>
                  <a:lnTo>
                    <a:pt x="1604221" y="1986411"/>
                  </a:lnTo>
                  <a:lnTo>
                    <a:pt x="1643156" y="1962470"/>
                  </a:lnTo>
                  <a:lnTo>
                    <a:pt x="1680963" y="1936930"/>
                  </a:lnTo>
                  <a:lnTo>
                    <a:pt x="1717595" y="1909840"/>
                  </a:lnTo>
                  <a:lnTo>
                    <a:pt x="1753006" y="1881246"/>
                  </a:lnTo>
                  <a:lnTo>
                    <a:pt x="1787147" y="1851195"/>
                  </a:lnTo>
                  <a:lnTo>
                    <a:pt x="1819973" y="1819735"/>
                  </a:lnTo>
                  <a:lnTo>
                    <a:pt x="1851436" y="1786912"/>
                  </a:lnTo>
                  <a:lnTo>
                    <a:pt x="1881489" y="1752773"/>
                  </a:lnTo>
                  <a:lnTo>
                    <a:pt x="1910085" y="1717366"/>
                  </a:lnTo>
                  <a:lnTo>
                    <a:pt x="1937177" y="1680738"/>
                  </a:lnTo>
                  <a:lnTo>
                    <a:pt x="1962718" y="1642935"/>
                  </a:lnTo>
                  <a:lnTo>
                    <a:pt x="1986660" y="1604005"/>
                  </a:lnTo>
                  <a:lnTo>
                    <a:pt x="2008958" y="1563994"/>
                  </a:lnTo>
                  <a:lnTo>
                    <a:pt x="2029564" y="1522951"/>
                  </a:lnTo>
                  <a:lnTo>
                    <a:pt x="2048430" y="1480921"/>
                  </a:lnTo>
                  <a:lnTo>
                    <a:pt x="2065510" y="1437952"/>
                  </a:lnTo>
                  <a:lnTo>
                    <a:pt x="2080757" y="1394091"/>
                  </a:lnTo>
                  <a:lnTo>
                    <a:pt x="2094124" y="1349384"/>
                  </a:lnTo>
                  <a:lnTo>
                    <a:pt x="2105563" y="1303880"/>
                  </a:lnTo>
                  <a:lnTo>
                    <a:pt x="2115028" y="1257625"/>
                  </a:lnTo>
                  <a:lnTo>
                    <a:pt x="2122471" y="1210667"/>
                  </a:lnTo>
                  <a:lnTo>
                    <a:pt x="2127846" y="1163051"/>
                  </a:lnTo>
                  <a:lnTo>
                    <a:pt x="2131106" y="1114826"/>
                  </a:lnTo>
                  <a:lnTo>
                    <a:pt x="2132203" y="1066038"/>
                  </a:lnTo>
                  <a:lnTo>
                    <a:pt x="2131106" y="1017239"/>
                  </a:lnTo>
                  <a:lnTo>
                    <a:pt x="2127846" y="969004"/>
                  </a:lnTo>
                  <a:lnTo>
                    <a:pt x="2122471" y="921379"/>
                  </a:lnTo>
                  <a:lnTo>
                    <a:pt x="2115028" y="874412"/>
                  </a:lnTo>
                  <a:lnTo>
                    <a:pt x="2105563" y="828149"/>
                  </a:lnTo>
                  <a:lnTo>
                    <a:pt x="2094124" y="782637"/>
                  </a:lnTo>
                  <a:lnTo>
                    <a:pt x="2080757" y="737924"/>
                  </a:lnTo>
                  <a:lnTo>
                    <a:pt x="2065510" y="694056"/>
                  </a:lnTo>
                  <a:lnTo>
                    <a:pt x="2048430" y="651081"/>
                  </a:lnTo>
                  <a:lnTo>
                    <a:pt x="2029564" y="609045"/>
                  </a:lnTo>
                  <a:lnTo>
                    <a:pt x="2008958" y="567996"/>
                  </a:lnTo>
                  <a:lnTo>
                    <a:pt x="1986660" y="527981"/>
                  </a:lnTo>
                  <a:lnTo>
                    <a:pt x="1962718" y="489046"/>
                  </a:lnTo>
                  <a:lnTo>
                    <a:pt x="1937177" y="451239"/>
                  </a:lnTo>
                  <a:lnTo>
                    <a:pt x="1910085" y="414607"/>
                  </a:lnTo>
                  <a:lnTo>
                    <a:pt x="1881489" y="379196"/>
                  </a:lnTo>
                  <a:lnTo>
                    <a:pt x="1851436" y="345055"/>
                  </a:lnTo>
                  <a:lnTo>
                    <a:pt x="1819973" y="312229"/>
                  </a:lnTo>
                  <a:lnTo>
                    <a:pt x="1787147" y="280766"/>
                  </a:lnTo>
                  <a:lnTo>
                    <a:pt x="1753006" y="250713"/>
                  </a:lnTo>
                  <a:lnTo>
                    <a:pt x="1717595" y="222117"/>
                  </a:lnTo>
                  <a:lnTo>
                    <a:pt x="1680963" y="195025"/>
                  </a:lnTo>
                  <a:lnTo>
                    <a:pt x="1643156" y="169484"/>
                  </a:lnTo>
                  <a:lnTo>
                    <a:pt x="1604221" y="145542"/>
                  </a:lnTo>
                  <a:lnTo>
                    <a:pt x="1564206" y="123244"/>
                  </a:lnTo>
                  <a:lnTo>
                    <a:pt x="1523157" y="102638"/>
                  </a:lnTo>
                  <a:lnTo>
                    <a:pt x="1481121" y="83772"/>
                  </a:lnTo>
                  <a:lnTo>
                    <a:pt x="1438146" y="66692"/>
                  </a:lnTo>
                  <a:lnTo>
                    <a:pt x="1394278" y="51445"/>
                  </a:lnTo>
                  <a:lnTo>
                    <a:pt x="1349565" y="38078"/>
                  </a:lnTo>
                  <a:lnTo>
                    <a:pt x="1304053" y="26639"/>
                  </a:lnTo>
                  <a:lnTo>
                    <a:pt x="1257790" y="17174"/>
                  </a:lnTo>
                  <a:lnTo>
                    <a:pt x="1210823" y="9731"/>
                  </a:lnTo>
                  <a:lnTo>
                    <a:pt x="1163198" y="4356"/>
                  </a:lnTo>
                  <a:lnTo>
                    <a:pt x="1114963" y="1096"/>
                  </a:lnTo>
                  <a:lnTo>
                    <a:pt x="1066037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0" name="object 20"/>
            <p:cNvSpPr/>
            <p:nvPr/>
          </p:nvSpPr>
          <p:spPr>
            <a:xfrm>
              <a:off x="5774943" y="3133089"/>
              <a:ext cx="2132330" cy="2132330"/>
            </a:xfrm>
            <a:custGeom>
              <a:avLst/>
              <a:gdLst/>
              <a:ahLst/>
              <a:cxnLst/>
              <a:rect l="l" t="t" r="r" b="b"/>
              <a:pathLst>
                <a:path w="2132329" h="2132329">
                  <a:moveTo>
                    <a:pt x="0" y="1066038"/>
                  </a:moveTo>
                  <a:lnTo>
                    <a:pt x="1096" y="1017239"/>
                  </a:lnTo>
                  <a:lnTo>
                    <a:pt x="4356" y="969004"/>
                  </a:lnTo>
                  <a:lnTo>
                    <a:pt x="9731" y="921379"/>
                  </a:lnTo>
                  <a:lnTo>
                    <a:pt x="17174" y="874412"/>
                  </a:lnTo>
                  <a:lnTo>
                    <a:pt x="26639" y="828149"/>
                  </a:lnTo>
                  <a:lnTo>
                    <a:pt x="38078" y="782637"/>
                  </a:lnTo>
                  <a:lnTo>
                    <a:pt x="51445" y="737924"/>
                  </a:lnTo>
                  <a:lnTo>
                    <a:pt x="66692" y="694056"/>
                  </a:lnTo>
                  <a:lnTo>
                    <a:pt x="83772" y="651081"/>
                  </a:lnTo>
                  <a:lnTo>
                    <a:pt x="102638" y="609045"/>
                  </a:lnTo>
                  <a:lnTo>
                    <a:pt x="123244" y="567996"/>
                  </a:lnTo>
                  <a:lnTo>
                    <a:pt x="145542" y="527981"/>
                  </a:lnTo>
                  <a:lnTo>
                    <a:pt x="169484" y="489046"/>
                  </a:lnTo>
                  <a:lnTo>
                    <a:pt x="195025" y="451239"/>
                  </a:lnTo>
                  <a:lnTo>
                    <a:pt x="222117" y="414607"/>
                  </a:lnTo>
                  <a:lnTo>
                    <a:pt x="250713" y="379196"/>
                  </a:lnTo>
                  <a:lnTo>
                    <a:pt x="280766" y="345055"/>
                  </a:lnTo>
                  <a:lnTo>
                    <a:pt x="312229" y="312229"/>
                  </a:lnTo>
                  <a:lnTo>
                    <a:pt x="345055" y="280766"/>
                  </a:lnTo>
                  <a:lnTo>
                    <a:pt x="379196" y="250713"/>
                  </a:lnTo>
                  <a:lnTo>
                    <a:pt x="414607" y="222117"/>
                  </a:lnTo>
                  <a:lnTo>
                    <a:pt x="451239" y="195025"/>
                  </a:lnTo>
                  <a:lnTo>
                    <a:pt x="489046" y="169484"/>
                  </a:lnTo>
                  <a:lnTo>
                    <a:pt x="527981" y="145542"/>
                  </a:lnTo>
                  <a:lnTo>
                    <a:pt x="567996" y="123244"/>
                  </a:lnTo>
                  <a:lnTo>
                    <a:pt x="609045" y="102638"/>
                  </a:lnTo>
                  <a:lnTo>
                    <a:pt x="651081" y="83772"/>
                  </a:lnTo>
                  <a:lnTo>
                    <a:pt x="694056" y="66692"/>
                  </a:lnTo>
                  <a:lnTo>
                    <a:pt x="737924" y="51445"/>
                  </a:lnTo>
                  <a:lnTo>
                    <a:pt x="782637" y="38078"/>
                  </a:lnTo>
                  <a:lnTo>
                    <a:pt x="828149" y="26639"/>
                  </a:lnTo>
                  <a:lnTo>
                    <a:pt x="874412" y="17174"/>
                  </a:lnTo>
                  <a:lnTo>
                    <a:pt x="921379" y="9731"/>
                  </a:lnTo>
                  <a:lnTo>
                    <a:pt x="969004" y="4356"/>
                  </a:lnTo>
                  <a:lnTo>
                    <a:pt x="1017239" y="1096"/>
                  </a:lnTo>
                  <a:lnTo>
                    <a:pt x="1066037" y="0"/>
                  </a:lnTo>
                  <a:lnTo>
                    <a:pt x="1114963" y="1096"/>
                  </a:lnTo>
                  <a:lnTo>
                    <a:pt x="1163198" y="4356"/>
                  </a:lnTo>
                  <a:lnTo>
                    <a:pt x="1210823" y="9731"/>
                  </a:lnTo>
                  <a:lnTo>
                    <a:pt x="1257790" y="17174"/>
                  </a:lnTo>
                  <a:lnTo>
                    <a:pt x="1304053" y="26639"/>
                  </a:lnTo>
                  <a:lnTo>
                    <a:pt x="1349565" y="38078"/>
                  </a:lnTo>
                  <a:lnTo>
                    <a:pt x="1394278" y="51445"/>
                  </a:lnTo>
                  <a:lnTo>
                    <a:pt x="1438146" y="66692"/>
                  </a:lnTo>
                  <a:lnTo>
                    <a:pt x="1481121" y="83772"/>
                  </a:lnTo>
                  <a:lnTo>
                    <a:pt x="1523157" y="102638"/>
                  </a:lnTo>
                  <a:lnTo>
                    <a:pt x="1564206" y="123244"/>
                  </a:lnTo>
                  <a:lnTo>
                    <a:pt x="1604221" y="145542"/>
                  </a:lnTo>
                  <a:lnTo>
                    <a:pt x="1643156" y="169484"/>
                  </a:lnTo>
                  <a:lnTo>
                    <a:pt x="1680963" y="195025"/>
                  </a:lnTo>
                  <a:lnTo>
                    <a:pt x="1717595" y="222117"/>
                  </a:lnTo>
                  <a:lnTo>
                    <a:pt x="1753006" y="250713"/>
                  </a:lnTo>
                  <a:lnTo>
                    <a:pt x="1787147" y="280766"/>
                  </a:lnTo>
                  <a:lnTo>
                    <a:pt x="1819973" y="312229"/>
                  </a:lnTo>
                  <a:lnTo>
                    <a:pt x="1851436" y="345055"/>
                  </a:lnTo>
                  <a:lnTo>
                    <a:pt x="1881489" y="379196"/>
                  </a:lnTo>
                  <a:lnTo>
                    <a:pt x="1910085" y="414607"/>
                  </a:lnTo>
                  <a:lnTo>
                    <a:pt x="1937177" y="451239"/>
                  </a:lnTo>
                  <a:lnTo>
                    <a:pt x="1962718" y="489046"/>
                  </a:lnTo>
                  <a:lnTo>
                    <a:pt x="1986660" y="527981"/>
                  </a:lnTo>
                  <a:lnTo>
                    <a:pt x="2008958" y="567996"/>
                  </a:lnTo>
                  <a:lnTo>
                    <a:pt x="2029564" y="609045"/>
                  </a:lnTo>
                  <a:lnTo>
                    <a:pt x="2048430" y="651081"/>
                  </a:lnTo>
                  <a:lnTo>
                    <a:pt x="2065510" y="694056"/>
                  </a:lnTo>
                  <a:lnTo>
                    <a:pt x="2080757" y="737924"/>
                  </a:lnTo>
                  <a:lnTo>
                    <a:pt x="2094124" y="782637"/>
                  </a:lnTo>
                  <a:lnTo>
                    <a:pt x="2105563" y="828149"/>
                  </a:lnTo>
                  <a:lnTo>
                    <a:pt x="2115028" y="874412"/>
                  </a:lnTo>
                  <a:lnTo>
                    <a:pt x="2122471" y="921379"/>
                  </a:lnTo>
                  <a:lnTo>
                    <a:pt x="2127846" y="969004"/>
                  </a:lnTo>
                  <a:lnTo>
                    <a:pt x="2131106" y="1017239"/>
                  </a:lnTo>
                  <a:lnTo>
                    <a:pt x="2132203" y="1066038"/>
                  </a:lnTo>
                  <a:lnTo>
                    <a:pt x="2131106" y="1114826"/>
                  </a:lnTo>
                  <a:lnTo>
                    <a:pt x="2127846" y="1163051"/>
                  </a:lnTo>
                  <a:lnTo>
                    <a:pt x="2122471" y="1210667"/>
                  </a:lnTo>
                  <a:lnTo>
                    <a:pt x="2115028" y="1257625"/>
                  </a:lnTo>
                  <a:lnTo>
                    <a:pt x="2105563" y="1303880"/>
                  </a:lnTo>
                  <a:lnTo>
                    <a:pt x="2094124" y="1349384"/>
                  </a:lnTo>
                  <a:lnTo>
                    <a:pt x="2080757" y="1394091"/>
                  </a:lnTo>
                  <a:lnTo>
                    <a:pt x="2065510" y="1437952"/>
                  </a:lnTo>
                  <a:lnTo>
                    <a:pt x="2048430" y="1480921"/>
                  </a:lnTo>
                  <a:lnTo>
                    <a:pt x="2029564" y="1522951"/>
                  </a:lnTo>
                  <a:lnTo>
                    <a:pt x="2008958" y="1563994"/>
                  </a:lnTo>
                  <a:lnTo>
                    <a:pt x="1986660" y="1604005"/>
                  </a:lnTo>
                  <a:lnTo>
                    <a:pt x="1962718" y="1642935"/>
                  </a:lnTo>
                  <a:lnTo>
                    <a:pt x="1937177" y="1680738"/>
                  </a:lnTo>
                  <a:lnTo>
                    <a:pt x="1910085" y="1717366"/>
                  </a:lnTo>
                  <a:lnTo>
                    <a:pt x="1881489" y="1752773"/>
                  </a:lnTo>
                  <a:lnTo>
                    <a:pt x="1851436" y="1786912"/>
                  </a:lnTo>
                  <a:lnTo>
                    <a:pt x="1819973" y="1819735"/>
                  </a:lnTo>
                  <a:lnTo>
                    <a:pt x="1787147" y="1851195"/>
                  </a:lnTo>
                  <a:lnTo>
                    <a:pt x="1753006" y="1881246"/>
                  </a:lnTo>
                  <a:lnTo>
                    <a:pt x="1717595" y="1909840"/>
                  </a:lnTo>
                  <a:lnTo>
                    <a:pt x="1680963" y="1936930"/>
                  </a:lnTo>
                  <a:lnTo>
                    <a:pt x="1643156" y="1962470"/>
                  </a:lnTo>
                  <a:lnTo>
                    <a:pt x="1604221" y="1986411"/>
                  </a:lnTo>
                  <a:lnTo>
                    <a:pt x="1564206" y="2008708"/>
                  </a:lnTo>
                  <a:lnTo>
                    <a:pt x="1523157" y="2029312"/>
                  </a:lnTo>
                  <a:lnTo>
                    <a:pt x="1481121" y="2048178"/>
                  </a:lnTo>
                  <a:lnTo>
                    <a:pt x="1438146" y="2065258"/>
                  </a:lnTo>
                  <a:lnTo>
                    <a:pt x="1394278" y="2080504"/>
                  </a:lnTo>
                  <a:lnTo>
                    <a:pt x="1349565" y="2093870"/>
                  </a:lnTo>
                  <a:lnTo>
                    <a:pt x="1304053" y="2105309"/>
                  </a:lnTo>
                  <a:lnTo>
                    <a:pt x="1257790" y="2114774"/>
                  </a:lnTo>
                  <a:lnTo>
                    <a:pt x="1210823" y="2122217"/>
                  </a:lnTo>
                  <a:lnTo>
                    <a:pt x="1163198" y="2127592"/>
                  </a:lnTo>
                  <a:lnTo>
                    <a:pt x="1114963" y="2130852"/>
                  </a:lnTo>
                  <a:lnTo>
                    <a:pt x="1066164" y="2131949"/>
                  </a:lnTo>
                  <a:lnTo>
                    <a:pt x="1017239" y="2130852"/>
                  </a:lnTo>
                  <a:lnTo>
                    <a:pt x="969004" y="2127592"/>
                  </a:lnTo>
                  <a:lnTo>
                    <a:pt x="921379" y="2122217"/>
                  </a:lnTo>
                  <a:lnTo>
                    <a:pt x="874412" y="2114774"/>
                  </a:lnTo>
                  <a:lnTo>
                    <a:pt x="828149" y="2105309"/>
                  </a:lnTo>
                  <a:lnTo>
                    <a:pt x="782637" y="2093870"/>
                  </a:lnTo>
                  <a:lnTo>
                    <a:pt x="737924" y="2080504"/>
                  </a:lnTo>
                  <a:lnTo>
                    <a:pt x="694056" y="2065258"/>
                  </a:lnTo>
                  <a:lnTo>
                    <a:pt x="651081" y="2048178"/>
                  </a:lnTo>
                  <a:lnTo>
                    <a:pt x="609045" y="2029312"/>
                  </a:lnTo>
                  <a:lnTo>
                    <a:pt x="567996" y="2008708"/>
                  </a:lnTo>
                  <a:lnTo>
                    <a:pt x="527981" y="1986411"/>
                  </a:lnTo>
                  <a:lnTo>
                    <a:pt x="489046" y="1962470"/>
                  </a:lnTo>
                  <a:lnTo>
                    <a:pt x="451239" y="1936930"/>
                  </a:lnTo>
                  <a:lnTo>
                    <a:pt x="414607" y="1909840"/>
                  </a:lnTo>
                  <a:lnTo>
                    <a:pt x="379196" y="1881246"/>
                  </a:lnTo>
                  <a:lnTo>
                    <a:pt x="345055" y="1851195"/>
                  </a:lnTo>
                  <a:lnTo>
                    <a:pt x="312229" y="1819735"/>
                  </a:lnTo>
                  <a:lnTo>
                    <a:pt x="280766" y="1786912"/>
                  </a:lnTo>
                  <a:lnTo>
                    <a:pt x="250713" y="1752773"/>
                  </a:lnTo>
                  <a:lnTo>
                    <a:pt x="222117" y="1717366"/>
                  </a:lnTo>
                  <a:lnTo>
                    <a:pt x="195025" y="1680738"/>
                  </a:lnTo>
                  <a:lnTo>
                    <a:pt x="169484" y="1642935"/>
                  </a:lnTo>
                  <a:lnTo>
                    <a:pt x="145542" y="1604005"/>
                  </a:lnTo>
                  <a:lnTo>
                    <a:pt x="123244" y="1563994"/>
                  </a:lnTo>
                  <a:lnTo>
                    <a:pt x="102638" y="1522951"/>
                  </a:lnTo>
                  <a:lnTo>
                    <a:pt x="83772" y="1480921"/>
                  </a:lnTo>
                  <a:lnTo>
                    <a:pt x="66692" y="1437952"/>
                  </a:lnTo>
                  <a:lnTo>
                    <a:pt x="51445" y="1394091"/>
                  </a:lnTo>
                  <a:lnTo>
                    <a:pt x="38078" y="1349384"/>
                  </a:lnTo>
                  <a:lnTo>
                    <a:pt x="26639" y="1303880"/>
                  </a:lnTo>
                  <a:lnTo>
                    <a:pt x="17174" y="1257625"/>
                  </a:lnTo>
                  <a:lnTo>
                    <a:pt x="9731" y="1210667"/>
                  </a:lnTo>
                  <a:lnTo>
                    <a:pt x="4356" y="1163051"/>
                  </a:lnTo>
                  <a:lnTo>
                    <a:pt x="1096" y="1114826"/>
                  </a:lnTo>
                  <a:lnTo>
                    <a:pt x="0" y="1066038"/>
                  </a:lnTo>
                  <a:close/>
                </a:path>
              </a:pathLst>
            </a:custGeom>
            <a:ln w="12700">
              <a:solidFill>
                <a:srgbClr val="FFC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object 21"/>
          <p:cNvSpPr txBox="1"/>
          <p:nvPr/>
        </p:nvSpPr>
        <p:spPr>
          <a:xfrm>
            <a:off x="6116192" y="3864102"/>
            <a:ext cx="1452880" cy="61150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0"/>
              </a:spcBef>
            </a:pPr>
            <a:r>
              <a:rPr sz="2000" spc="-10" dirty="0">
                <a:latin typeface="Candara"/>
                <a:cs typeface="Candara"/>
              </a:rPr>
              <a:t>Parenthetical</a:t>
            </a:r>
            <a:endParaRPr sz="2000">
              <a:latin typeface="Candara"/>
              <a:cs typeface="Candara"/>
            </a:endParaRPr>
          </a:p>
          <a:p>
            <a:pPr marL="119380">
              <a:lnSpc>
                <a:spcPts val="2305"/>
              </a:lnSpc>
            </a:pPr>
            <a:r>
              <a:rPr sz="2000" spc="-10" dirty="0">
                <a:latin typeface="Candara"/>
                <a:cs typeface="Candara"/>
              </a:rPr>
              <a:t>References</a:t>
            </a:r>
            <a:endParaRPr sz="2000">
              <a:latin typeface="Candara"/>
              <a:cs typeface="Candara"/>
            </a:endParaRPr>
          </a:p>
        </p:txBody>
      </p:sp>
      <p:grpSp>
        <p:nvGrpSpPr>
          <p:cNvPr id="22" name="object 22"/>
          <p:cNvGrpSpPr/>
          <p:nvPr/>
        </p:nvGrpSpPr>
        <p:grpSpPr>
          <a:xfrm>
            <a:off x="3328415" y="3044951"/>
            <a:ext cx="2771140" cy="2304415"/>
            <a:chOff x="3328415" y="3044951"/>
            <a:chExt cx="2771140" cy="2304415"/>
          </a:xfrm>
        </p:grpSpPr>
        <p:pic>
          <p:nvPicPr>
            <p:cNvPr id="23" name="object 23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328415" y="3044951"/>
              <a:ext cx="2770632" cy="2304288"/>
            </a:xfrm>
            <a:prstGeom prst="rect">
              <a:avLst/>
            </a:prstGeom>
          </p:spPr>
        </p:pic>
        <p:sp>
          <p:nvSpPr>
            <p:cNvPr id="24" name="object 24"/>
            <p:cNvSpPr/>
            <p:nvPr/>
          </p:nvSpPr>
          <p:spPr>
            <a:xfrm>
              <a:off x="3414521" y="3133089"/>
              <a:ext cx="2132330" cy="2132330"/>
            </a:xfrm>
            <a:custGeom>
              <a:avLst/>
              <a:gdLst/>
              <a:ahLst/>
              <a:cxnLst/>
              <a:rect l="l" t="t" r="r" b="b"/>
              <a:pathLst>
                <a:path w="2132329" h="2132329">
                  <a:moveTo>
                    <a:pt x="1066038" y="0"/>
                  </a:moveTo>
                  <a:lnTo>
                    <a:pt x="1017239" y="1096"/>
                  </a:lnTo>
                  <a:lnTo>
                    <a:pt x="969004" y="4356"/>
                  </a:lnTo>
                  <a:lnTo>
                    <a:pt x="921379" y="9731"/>
                  </a:lnTo>
                  <a:lnTo>
                    <a:pt x="874412" y="17174"/>
                  </a:lnTo>
                  <a:lnTo>
                    <a:pt x="828149" y="26639"/>
                  </a:lnTo>
                  <a:lnTo>
                    <a:pt x="782637" y="38078"/>
                  </a:lnTo>
                  <a:lnTo>
                    <a:pt x="737924" y="51445"/>
                  </a:lnTo>
                  <a:lnTo>
                    <a:pt x="694056" y="66692"/>
                  </a:lnTo>
                  <a:lnTo>
                    <a:pt x="651081" y="83772"/>
                  </a:lnTo>
                  <a:lnTo>
                    <a:pt x="609045" y="102638"/>
                  </a:lnTo>
                  <a:lnTo>
                    <a:pt x="567996" y="123244"/>
                  </a:lnTo>
                  <a:lnTo>
                    <a:pt x="527981" y="145542"/>
                  </a:lnTo>
                  <a:lnTo>
                    <a:pt x="489046" y="169484"/>
                  </a:lnTo>
                  <a:lnTo>
                    <a:pt x="451239" y="195025"/>
                  </a:lnTo>
                  <a:lnTo>
                    <a:pt x="414607" y="222117"/>
                  </a:lnTo>
                  <a:lnTo>
                    <a:pt x="379196" y="250713"/>
                  </a:lnTo>
                  <a:lnTo>
                    <a:pt x="345055" y="280766"/>
                  </a:lnTo>
                  <a:lnTo>
                    <a:pt x="312229" y="312229"/>
                  </a:lnTo>
                  <a:lnTo>
                    <a:pt x="280766" y="345055"/>
                  </a:lnTo>
                  <a:lnTo>
                    <a:pt x="250713" y="379196"/>
                  </a:lnTo>
                  <a:lnTo>
                    <a:pt x="222117" y="414607"/>
                  </a:lnTo>
                  <a:lnTo>
                    <a:pt x="195025" y="451239"/>
                  </a:lnTo>
                  <a:lnTo>
                    <a:pt x="169484" y="489046"/>
                  </a:lnTo>
                  <a:lnTo>
                    <a:pt x="145542" y="527981"/>
                  </a:lnTo>
                  <a:lnTo>
                    <a:pt x="123244" y="567996"/>
                  </a:lnTo>
                  <a:lnTo>
                    <a:pt x="102638" y="609045"/>
                  </a:lnTo>
                  <a:lnTo>
                    <a:pt x="83772" y="651081"/>
                  </a:lnTo>
                  <a:lnTo>
                    <a:pt x="66692" y="694056"/>
                  </a:lnTo>
                  <a:lnTo>
                    <a:pt x="51445" y="737924"/>
                  </a:lnTo>
                  <a:lnTo>
                    <a:pt x="38078" y="782637"/>
                  </a:lnTo>
                  <a:lnTo>
                    <a:pt x="26639" y="828149"/>
                  </a:lnTo>
                  <a:lnTo>
                    <a:pt x="17174" y="874412"/>
                  </a:lnTo>
                  <a:lnTo>
                    <a:pt x="9731" y="921379"/>
                  </a:lnTo>
                  <a:lnTo>
                    <a:pt x="4356" y="969004"/>
                  </a:lnTo>
                  <a:lnTo>
                    <a:pt x="1096" y="1017239"/>
                  </a:lnTo>
                  <a:lnTo>
                    <a:pt x="0" y="1066038"/>
                  </a:lnTo>
                  <a:lnTo>
                    <a:pt x="1096" y="1114826"/>
                  </a:lnTo>
                  <a:lnTo>
                    <a:pt x="4356" y="1163051"/>
                  </a:lnTo>
                  <a:lnTo>
                    <a:pt x="9731" y="1210667"/>
                  </a:lnTo>
                  <a:lnTo>
                    <a:pt x="17174" y="1257625"/>
                  </a:lnTo>
                  <a:lnTo>
                    <a:pt x="26639" y="1303880"/>
                  </a:lnTo>
                  <a:lnTo>
                    <a:pt x="38078" y="1349384"/>
                  </a:lnTo>
                  <a:lnTo>
                    <a:pt x="51445" y="1394091"/>
                  </a:lnTo>
                  <a:lnTo>
                    <a:pt x="66692" y="1437952"/>
                  </a:lnTo>
                  <a:lnTo>
                    <a:pt x="83772" y="1480921"/>
                  </a:lnTo>
                  <a:lnTo>
                    <a:pt x="102638" y="1522951"/>
                  </a:lnTo>
                  <a:lnTo>
                    <a:pt x="123244" y="1563994"/>
                  </a:lnTo>
                  <a:lnTo>
                    <a:pt x="145542" y="1604005"/>
                  </a:lnTo>
                  <a:lnTo>
                    <a:pt x="169484" y="1642935"/>
                  </a:lnTo>
                  <a:lnTo>
                    <a:pt x="195025" y="1680738"/>
                  </a:lnTo>
                  <a:lnTo>
                    <a:pt x="222117" y="1717366"/>
                  </a:lnTo>
                  <a:lnTo>
                    <a:pt x="250713" y="1752773"/>
                  </a:lnTo>
                  <a:lnTo>
                    <a:pt x="280766" y="1786912"/>
                  </a:lnTo>
                  <a:lnTo>
                    <a:pt x="312229" y="1819735"/>
                  </a:lnTo>
                  <a:lnTo>
                    <a:pt x="345055" y="1851195"/>
                  </a:lnTo>
                  <a:lnTo>
                    <a:pt x="379196" y="1881246"/>
                  </a:lnTo>
                  <a:lnTo>
                    <a:pt x="414607" y="1909840"/>
                  </a:lnTo>
                  <a:lnTo>
                    <a:pt x="451239" y="1936930"/>
                  </a:lnTo>
                  <a:lnTo>
                    <a:pt x="489046" y="1962470"/>
                  </a:lnTo>
                  <a:lnTo>
                    <a:pt x="527981" y="1986411"/>
                  </a:lnTo>
                  <a:lnTo>
                    <a:pt x="567996" y="2008708"/>
                  </a:lnTo>
                  <a:lnTo>
                    <a:pt x="609045" y="2029312"/>
                  </a:lnTo>
                  <a:lnTo>
                    <a:pt x="651081" y="2048178"/>
                  </a:lnTo>
                  <a:lnTo>
                    <a:pt x="694056" y="2065258"/>
                  </a:lnTo>
                  <a:lnTo>
                    <a:pt x="737924" y="2080504"/>
                  </a:lnTo>
                  <a:lnTo>
                    <a:pt x="782637" y="2093870"/>
                  </a:lnTo>
                  <a:lnTo>
                    <a:pt x="828149" y="2105309"/>
                  </a:lnTo>
                  <a:lnTo>
                    <a:pt x="874412" y="2114774"/>
                  </a:lnTo>
                  <a:lnTo>
                    <a:pt x="921379" y="2122217"/>
                  </a:lnTo>
                  <a:lnTo>
                    <a:pt x="969004" y="2127592"/>
                  </a:lnTo>
                  <a:lnTo>
                    <a:pt x="1017239" y="2130852"/>
                  </a:lnTo>
                  <a:lnTo>
                    <a:pt x="1066038" y="2131949"/>
                  </a:lnTo>
                  <a:lnTo>
                    <a:pt x="1114836" y="2130852"/>
                  </a:lnTo>
                  <a:lnTo>
                    <a:pt x="1163072" y="2127592"/>
                  </a:lnTo>
                  <a:lnTo>
                    <a:pt x="1210698" y="2122217"/>
                  </a:lnTo>
                  <a:lnTo>
                    <a:pt x="1257668" y="2114774"/>
                  </a:lnTo>
                  <a:lnTo>
                    <a:pt x="1303933" y="2105309"/>
                  </a:lnTo>
                  <a:lnTo>
                    <a:pt x="1349447" y="2093870"/>
                  </a:lnTo>
                  <a:lnTo>
                    <a:pt x="1394164" y="2080504"/>
                  </a:lnTo>
                  <a:lnTo>
                    <a:pt x="1438035" y="2065258"/>
                  </a:lnTo>
                  <a:lnTo>
                    <a:pt x="1481014" y="2048178"/>
                  </a:lnTo>
                  <a:lnTo>
                    <a:pt x="1523054" y="2029312"/>
                  </a:lnTo>
                  <a:lnTo>
                    <a:pt x="1564107" y="2008708"/>
                  </a:lnTo>
                  <a:lnTo>
                    <a:pt x="1604127" y="1986411"/>
                  </a:lnTo>
                  <a:lnTo>
                    <a:pt x="1643067" y="1962470"/>
                  </a:lnTo>
                  <a:lnTo>
                    <a:pt x="1680879" y="1936930"/>
                  </a:lnTo>
                  <a:lnTo>
                    <a:pt x="1717516" y="1909840"/>
                  </a:lnTo>
                  <a:lnTo>
                    <a:pt x="1752932" y="1881246"/>
                  </a:lnTo>
                  <a:lnTo>
                    <a:pt x="1787078" y="1851195"/>
                  </a:lnTo>
                  <a:lnTo>
                    <a:pt x="1819909" y="1819735"/>
                  </a:lnTo>
                  <a:lnTo>
                    <a:pt x="1851378" y="1786912"/>
                  </a:lnTo>
                  <a:lnTo>
                    <a:pt x="1881436" y="1752773"/>
                  </a:lnTo>
                  <a:lnTo>
                    <a:pt x="1910037" y="1717366"/>
                  </a:lnTo>
                  <a:lnTo>
                    <a:pt x="1937134" y="1680738"/>
                  </a:lnTo>
                  <a:lnTo>
                    <a:pt x="1962680" y="1642935"/>
                  </a:lnTo>
                  <a:lnTo>
                    <a:pt x="1986628" y="1604005"/>
                  </a:lnTo>
                  <a:lnTo>
                    <a:pt x="2008930" y="1563994"/>
                  </a:lnTo>
                  <a:lnTo>
                    <a:pt x="2029540" y="1522951"/>
                  </a:lnTo>
                  <a:lnTo>
                    <a:pt x="2048410" y="1480921"/>
                  </a:lnTo>
                  <a:lnTo>
                    <a:pt x="2065494" y="1437952"/>
                  </a:lnTo>
                  <a:lnTo>
                    <a:pt x="2080745" y="1394091"/>
                  </a:lnTo>
                  <a:lnTo>
                    <a:pt x="2094114" y="1349384"/>
                  </a:lnTo>
                  <a:lnTo>
                    <a:pt x="2105556" y="1303880"/>
                  </a:lnTo>
                  <a:lnTo>
                    <a:pt x="2115023" y="1257625"/>
                  </a:lnTo>
                  <a:lnTo>
                    <a:pt x="2122469" y="1210667"/>
                  </a:lnTo>
                  <a:lnTo>
                    <a:pt x="2127845" y="1163051"/>
                  </a:lnTo>
                  <a:lnTo>
                    <a:pt x="2131105" y="1114826"/>
                  </a:lnTo>
                  <a:lnTo>
                    <a:pt x="2132203" y="1066038"/>
                  </a:lnTo>
                  <a:lnTo>
                    <a:pt x="2131105" y="1017239"/>
                  </a:lnTo>
                  <a:lnTo>
                    <a:pt x="2127845" y="969004"/>
                  </a:lnTo>
                  <a:lnTo>
                    <a:pt x="2122469" y="921379"/>
                  </a:lnTo>
                  <a:lnTo>
                    <a:pt x="2115023" y="874412"/>
                  </a:lnTo>
                  <a:lnTo>
                    <a:pt x="2105556" y="828149"/>
                  </a:lnTo>
                  <a:lnTo>
                    <a:pt x="2094114" y="782637"/>
                  </a:lnTo>
                  <a:lnTo>
                    <a:pt x="2080745" y="737924"/>
                  </a:lnTo>
                  <a:lnTo>
                    <a:pt x="2065494" y="694056"/>
                  </a:lnTo>
                  <a:lnTo>
                    <a:pt x="2048410" y="651081"/>
                  </a:lnTo>
                  <a:lnTo>
                    <a:pt x="2029540" y="609045"/>
                  </a:lnTo>
                  <a:lnTo>
                    <a:pt x="2008930" y="567996"/>
                  </a:lnTo>
                  <a:lnTo>
                    <a:pt x="1986628" y="527981"/>
                  </a:lnTo>
                  <a:lnTo>
                    <a:pt x="1962680" y="489046"/>
                  </a:lnTo>
                  <a:lnTo>
                    <a:pt x="1937134" y="451239"/>
                  </a:lnTo>
                  <a:lnTo>
                    <a:pt x="1910037" y="414607"/>
                  </a:lnTo>
                  <a:lnTo>
                    <a:pt x="1881436" y="379196"/>
                  </a:lnTo>
                  <a:lnTo>
                    <a:pt x="1851378" y="345055"/>
                  </a:lnTo>
                  <a:lnTo>
                    <a:pt x="1819909" y="312229"/>
                  </a:lnTo>
                  <a:lnTo>
                    <a:pt x="1787078" y="280766"/>
                  </a:lnTo>
                  <a:lnTo>
                    <a:pt x="1752932" y="250713"/>
                  </a:lnTo>
                  <a:lnTo>
                    <a:pt x="1717516" y="222117"/>
                  </a:lnTo>
                  <a:lnTo>
                    <a:pt x="1680879" y="195025"/>
                  </a:lnTo>
                  <a:lnTo>
                    <a:pt x="1643067" y="169484"/>
                  </a:lnTo>
                  <a:lnTo>
                    <a:pt x="1604127" y="145542"/>
                  </a:lnTo>
                  <a:lnTo>
                    <a:pt x="1564107" y="123244"/>
                  </a:lnTo>
                  <a:lnTo>
                    <a:pt x="1523054" y="102638"/>
                  </a:lnTo>
                  <a:lnTo>
                    <a:pt x="1481014" y="83772"/>
                  </a:lnTo>
                  <a:lnTo>
                    <a:pt x="1438035" y="66692"/>
                  </a:lnTo>
                  <a:lnTo>
                    <a:pt x="1394164" y="51445"/>
                  </a:lnTo>
                  <a:lnTo>
                    <a:pt x="1349447" y="38078"/>
                  </a:lnTo>
                  <a:lnTo>
                    <a:pt x="1303933" y="26639"/>
                  </a:lnTo>
                  <a:lnTo>
                    <a:pt x="1257668" y="17174"/>
                  </a:lnTo>
                  <a:lnTo>
                    <a:pt x="1210698" y="9731"/>
                  </a:lnTo>
                  <a:lnTo>
                    <a:pt x="1163072" y="4356"/>
                  </a:lnTo>
                  <a:lnTo>
                    <a:pt x="1114836" y="1096"/>
                  </a:lnTo>
                  <a:lnTo>
                    <a:pt x="106603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5" name="object 25"/>
            <p:cNvSpPr/>
            <p:nvPr/>
          </p:nvSpPr>
          <p:spPr>
            <a:xfrm>
              <a:off x="3414521" y="3133089"/>
              <a:ext cx="2132330" cy="2132330"/>
            </a:xfrm>
            <a:custGeom>
              <a:avLst/>
              <a:gdLst/>
              <a:ahLst/>
              <a:cxnLst/>
              <a:rect l="l" t="t" r="r" b="b"/>
              <a:pathLst>
                <a:path w="2132329" h="2132329">
                  <a:moveTo>
                    <a:pt x="0" y="1066038"/>
                  </a:moveTo>
                  <a:lnTo>
                    <a:pt x="1096" y="1017239"/>
                  </a:lnTo>
                  <a:lnTo>
                    <a:pt x="4356" y="969004"/>
                  </a:lnTo>
                  <a:lnTo>
                    <a:pt x="9731" y="921379"/>
                  </a:lnTo>
                  <a:lnTo>
                    <a:pt x="17174" y="874412"/>
                  </a:lnTo>
                  <a:lnTo>
                    <a:pt x="26639" y="828149"/>
                  </a:lnTo>
                  <a:lnTo>
                    <a:pt x="38078" y="782637"/>
                  </a:lnTo>
                  <a:lnTo>
                    <a:pt x="51445" y="737924"/>
                  </a:lnTo>
                  <a:lnTo>
                    <a:pt x="66692" y="694056"/>
                  </a:lnTo>
                  <a:lnTo>
                    <a:pt x="83772" y="651081"/>
                  </a:lnTo>
                  <a:lnTo>
                    <a:pt x="102638" y="609045"/>
                  </a:lnTo>
                  <a:lnTo>
                    <a:pt x="123244" y="567996"/>
                  </a:lnTo>
                  <a:lnTo>
                    <a:pt x="145542" y="527981"/>
                  </a:lnTo>
                  <a:lnTo>
                    <a:pt x="169484" y="489046"/>
                  </a:lnTo>
                  <a:lnTo>
                    <a:pt x="195025" y="451239"/>
                  </a:lnTo>
                  <a:lnTo>
                    <a:pt x="222117" y="414607"/>
                  </a:lnTo>
                  <a:lnTo>
                    <a:pt x="250713" y="379196"/>
                  </a:lnTo>
                  <a:lnTo>
                    <a:pt x="280766" y="345055"/>
                  </a:lnTo>
                  <a:lnTo>
                    <a:pt x="312229" y="312229"/>
                  </a:lnTo>
                  <a:lnTo>
                    <a:pt x="345055" y="280766"/>
                  </a:lnTo>
                  <a:lnTo>
                    <a:pt x="379196" y="250713"/>
                  </a:lnTo>
                  <a:lnTo>
                    <a:pt x="414607" y="222117"/>
                  </a:lnTo>
                  <a:lnTo>
                    <a:pt x="451239" y="195025"/>
                  </a:lnTo>
                  <a:lnTo>
                    <a:pt x="489046" y="169484"/>
                  </a:lnTo>
                  <a:lnTo>
                    <a:pt x="527981" y="145542"/>
                  </a:lnTo>
                  <a:lnTo>
                    <a:pt x="567996" y="123244"/>
                  </a:lnTo>
                  <a:lnTo>
                    <a:pt x="609045" y="102638"/>
                  </a:lnTo>
                  <a:lnTo>
                    <a:pt x="651081" y="83772"/>
                  </a:lnTo>
                  <a:lnTo>
                    <a:pt x="694056" y="66692"/>
                  </a:lnTo>
                  <a:lnTo>
                    <a:pt x="737924" y="51445"/>
                  </a:lnTo>
                  <a:lnTo>
                    <a:pt x="782637" y="38078"/>
                  </a:lnTo>
                  <a:lnTo>
                    <a:pt x="828149" y="26639"/>
                  </a:lnTo>
                  <a:lnTo>
                    <a:pt x="874412" y="17174"/>
                  </a:lnTo>
                  <a:lnTo>
                    <a:pt x="921379" y="9731"/>
                  </a:lnTo>
                  <a:lnTo>
                    <a:pt x="969004" y="4356"/>
                  </a:lnTo>
                  <a:lnTo>
                    <a:pt x="1017239" y="1096"/>
                  </a:lnTo>
                  <a:lnTo>
                    <a:pt x="1066038" y="0"/>
                  </a:lnTo>
                  <a:lnTo>
                    <a:pt x="1114836" y="1096"/>
                  </a:lnTo>
                  <a:lnTo>
                    <a:pt x="1163072" y="4356"/>
                  </a:lnTo>
                  <a:lnTo>
                    <a:pt x="1210698" y="9731"/>
                  </a:lnTo>
                  <a:lnTo>
                    <a:pt x="1257668" y="17174"/>
                  </a:lnTo>
                  <a:lnTo>
                    <a:pt x="1303933" y="26639"/>
                  </a:lnTo>
                  <a:lnTo>
                    <a:pt x="1349447" y="38078"/>
                  </a:lnTo>
                  <a:lnTo>
                    <a:pt x="1394164" y="51445"/>
                  </a:lnTo>
                  <a:lnTo>
                    <a:pt x="1438035" y="66692"/>
                  </a:lnTo>
                  <a:lnTo>
                    <a:pt x="1481014" y="83772"/>
                  </a:lnTo>
                  <a:lnTo>
                    <a:pt x="1523054" y="102638"/>
                  </a:lnTo>
                  <a:lnTo>
                    <a:pt x="1564107" y="123244"/>
                  </a:lnTo>
                  <a:lnTo>
                    <a:pt x="1604127" y="145542"/>
                  </a:lnTo>
                  <a:lnTo>
                    <a:pt x="1643067" y="169484"/>
                  </a:lnTo>
                  <a:lnTo>
                    <a:pt x="1680879" y="195025"/>
                  </a:lnTo>
                  <a:lnTo>
                    <a:pt x="1717516" y="222117"/>
                  </a:lnTo>
                  <a:lnTo>
                    <a:pt x="1752932" y="250713"/>
                  </a:lnTo>
                  <a:lnTo>
                    <a:pt x="1787078" y="280766"/>
                  </a:lnTo>
                  <a:lnTo>
                    <a:pt x="1819909" y="312229"/>
                  </a:lnTo>
                  <a:lnTo>
                    <a:pt x="1851378" y="345055"/>
                  </a:lnTo>
                  <a:lnTo>
                    <a:pt x="1881436" y="379196"/>
                  </a:lnTo>
                  <a:lnTo>
                    <a:pt x="1910037" y="414607"/>
                  </a:lnTo>
                  <a:lnTo>
                    <a:pt x="1937134" y="451239"/>
                  </a:lnTo>
                  <a:lnTo>
                    <a:pt x="1962680" y="489046"/>
                  </a:lnTo>
                  <a:lnTo>
                    <a:pt x="1986628" y="527981"/>
                  </a:lnTo>
                  <a:lnTo>
                    <a:pt x="2008930" y="567996"/>
                  </a:lnTo>
                  <a:lnTo>
                    <a:pt x="2029540" y="609045"/>
                  </a:lnTo>
                  <a:lnTo>
                    <a:pt x="2048410" y="651081"/>
                  </a:lnTo>
                  <a:lnTo>
                    <a:pt x="2065494" y="694056"/>
                  </a:lnTo>
                  <a:lnTo>
                    <a:pt x="2080745" y="737924"/>
                  </a:lnTo>
                  <a:lnTo>
                    <a:pt x="2094114" y="782637"/>
                  </a:lnTo>
                  <a:lnTo>
                    <a:pt x="2105556" y="828149"/>
                  </a:lnTo>
                  <a:lnTo>
                    <a:pt x="2115023" y="874412"/>
                  </a:lnTo>
                  <a:lnTo>
                    <a:pt x="2122469" y="921379"/>
                  </a:lnTo>
                  <a:lnTo>
                    <a:pt x="2127845" y="969004"/>
                  </a:lnTo>
                  <a:lnTo>
                    <a:pt x="2131105" y="1017239"/>
                  </a:lnTo>
                  <a:lnTo>
                    <a:pt x="2132203" y="1066038"/>
                  </a:lnTo>
                  <a:lnTo>
                    <a:pt x="2131105" y="1114826"/>
                  </a:lnTo>
                  <a:lnTo>
                    <a:pt x="2127845" y="1163051"/>
                  </a:lnTo>
                  <a:lnTo>
                    <a:pt x="2122469" y="1210667"/>
                  </a:lnTo>
                  <a:lnTo>
                    <a:pt x="2115023" y="1257625"/>
                  </a:lnTo>
                  <a:lnTo>
                    <a:pt x="2105556" y="1303880"/>
                  </a:lnTo>
                  <a:lnTo>
                    <a:pt x="2094114" y="1349384"/>
                  </a:lnTo>
                  <a:lnTo>
                    <a:pt x="2080745" y="1394091"/>
                  </a:lnTo>
                  <a:lnTo>
                    <a:pt x="2065494" y="1437952"/>
                  </a:lnTo>
                  <a:lnTo>
                    <a:pt x="2048410" y="1480921"/>
                  </a:lnTo>
                  <a:lnTo>
                    <a:pt x="2029540" y="1522951"/>
                  </a:lnTo>
                  <a:lnTo>
                    <a:pt x="2008930" y="1563994"/>
                  </a:lnTo>
                  <a:lnTo>
                    <a:pt x="1986628" y="1604005"/>
                  </a:lnTo>
                  <a:lnTo>
                    <a:pt x="1962680" y="1642935"/>
                  </a:lnTo>
                  <a:lnTo>
                    <a:pt x="1937134" y="1680738"/>
                  </a:lnTo>
                  <a:lnTo>
                    <a:pt x="1910037" y="1717366"/>
                  </a:lnTo>
                  <a:lnTo>
                    <a:pt x="1881436" y="1752773"/>
                  </a:lnTo>
                  <a:lnTo>
                    <a:pt x="1851378" y="1786912"/>
                  </a:lnTo>
                  <a:lnTo>
                    <a:pt x="1819910" y="1819735"/>
                  </a:lnTo>
                  <a:lnTo>
                    <a:pt x="1787078" y="1851195"/>
                  </a:lnTo>
                  <a:lnTo>
                    <a:pt x="1752932" y="1881246"/>
                  </a:lnTo>
                  <a:lnTo>
                    <a:pt x="1717516" y="1909840"/>
                  </a:lnTo>
                  <a:lnTo>
                    <a:pt x="1680879" y="1936930"/>
                  </a:lnTo>
                  <a:lnTo>
                    <a:pt x="1643067" y="1962470"/>
                  </a:lnTo>
                  <a:lnTo>
                    <a:pt x="1604127" y="1986411"/>
                  </a:lnTo>
                  <a:lnTo>
                    <a:pt x="1564107" y="2008708"/>
                  </a:lnTo>
                  <a:lnTo>
                    <a:pt x="1523054" y="2029312"/>
                  </a:lnTo>
                  <a:lnTo>
                    <a:pt x="1481014" y="2048178"/>
                  </a:lnTo>
                  <a:lnTo>
                    <a:pt x="1438035" y="2065258"/>
                  </a:lnTo>
                  <a:lnTo>
                    <a:pt x="1394164" y="2080504"/>
                  </a:lnTo>
                  <a:lnTo>
                    <a:pt x="1349447" y="2093870"/>
                  </a:lnTo>
                  <a:lnTo>
                    <a:pt x="1303933" y="2105309"/>
                  </a:lnTo>
                  <a:lnTo>
                    <a:pt x="1257668" y="2114774"/>
                  </a:lnTo>
                  <a:lnTo>
                    <a:pt x="1210698" y="2122217"/>
                  </a:lnTo>
                  <a:lnTo>
                    <a:pt x="1163072" y="2127592"/>
                  </a:lnTo>
                  <a:lnTo>
                    <a:pt x="1114836" y="2130852"/>
                  </a:lnTo>
                  <a:lnTo>
                    <a:pt x="1066038" y="2131949"/>
                  </a:lnTo>
                  <a:lnTo>
                    <a:pt x="1017239" y="2130852"/>
                  </a:lnTo>
                  <a:lnTo>
                    <a:pt x="969004" y="2127592"/>
                  </a:lnTo>
                  <a:lnTo>
                    <a:pt x="921379" y="2122217"/>
                  </a:lnTo>
                  <a:lnTo>
                    <a:pt x="874412" y="2114774"/>
                  </a:lnTo>
                  <a:lnTo>
                    <a:pt x="828149" y="2105309"/>
                  </a:lnTo>
                  <a:lnTo>
                    <a:pt x="782637" y="2093870"/>
                  </a:lnTo>
                  <a:lnTo>
                    <a:pt x="737924" y="2080504"/>
                  </a:lnTo>
                  <a:lnTo>
                    <a:pt x="694056" y="2065258"/>
                  </a:lnTo>
                  <a:lnTo>
                    <a:pt x="651081" y="2048178"/>
                  </a:lnTo>
                  <a:lnTo>
                    <a:pt x="609045" y="2029312"/>
                  </a:lnTo>
                  <a:lnTo>
                    <a:pt x="567996" y="2008708"/>
                  </a:lnTo>
                  <a:lnTo>
                    <a:pt x="527981" y="1986411"/>
                  </a:lnTo>
                  <a:lnTo>
                    <a:pt x="489046" y="1962470"/>
                  </a:lnTo>
                  <a:lnTo>
                    <a:pt x="451239" y="1936930"/>
                  </a:lnTo>
                  <a:lnTo>
                    <a:pt x="414607" y="1909840"/>
                  </a:lnTo>
                  <a:lnTo>
                    <a:pt x="379196" y="1881246"/>
                  </a:lnTo>
                  <a:lnTo>
                    <a:pt x="345055" y="1851195"/>
                  </a:lnTo>
                  <a:lnTo>
                    <a:pt x="312229" y="1819735"/>
                  </a:lnTo>
                  <a:lnTo>
                    <a:pt x="280766" y="1786912"/>
                  </a:lnTo>
                  <a:lnTo>
                    <a:pt x="250713" y="1752773"/>
                  </a:lnTo>
                  <a:lnTo>
                    <a:pt x="222117" y="1717366"/>
                  </a:lnTo>
                  <a:lnTo>
                    <a:pt x="195025" y="1680738"/>
                  </a:lnTo>
                  <a:lnTo>
                    <a:pt x="169484" y="1642935"/>
                  </a:lnTo>
                  <a:lnTo>
                    <a:pt x="145542" y="1604005"/>
                  </a:lnTo>
                  <a:lnTo>
                    <a:pt x="123244" y="1563994"/>
                  </a:lnTo>
                  <a:lnTo>
                    <a:pt x="102638" y="1522951"/>
                  </a:lnTo>
                  <a:lnTo>
                    <a:pt x="83772" y="1480921"/>
                  </a:lnTo>
                  <a:lnTo>
                    <a:pt x="66692" y="1437952"/>
                  </a:lnTo>
                  <a:lnTo>
                    <a:pt x="51445" y="1394091"/>
                  </a:lnTo>
                  <a:lnTo>
                    <a:pt x="38078" y="1349384"/>
                  </a:lnTo>
                  <a:lnTo>
                    <a:pt x="26639" y="1303880"/>
                  </a:lnTo>
                  <a:lnTo>
                    <a:pt x="17174" y="1257625"/>
                  </a:lnTo>
                  <a:lnTo>
                    <a:pt x="9731" y="1210667"/>
                  </a:lnTo>
                  <a:lnTo>
                    <a:pt x="4356" y="1163051"/>
                  </a:lnTo>
                  <a:lnTo>
                    <a:pt x="1096" y="1114826"/>
                  </a:lnTo>
                  <a:lnTo>
                    <a:pt x="0" y="1066038"/>
                  </a:lnTo>
                  <a:close/>
                </a:path>
              </a:pathLst>
            </a:custGeom>
            <a:ln w="12700">
              <a:solidFill>
                <a:srgbClr val="22E047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6" name="object 26"/>
          <p:cNvSpPr txBox="1"/>
          <p:nvPr/>
        </p:nvSpPr>
        <p:spPr>
          <a:xfrm>
            <a:off x="3959733" y="4003675"/>
            <a:ext cx="104457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ndara"/>
                <a:cs typeface="Candara"/>
              </a:rPr>
              <a:t>Endnotes</a:t>
            </a:r>
            <a:endParaRPr sz="2000">
              <a:latin typeface="Candara"/>
              <a:cs typeface="Candara"/>
            </a:endParaRPr>
          </a:p>
        </p:txBody>
      </p:sp>
      <p:grpSp>
        <p:nvGrpSpPr>
          <p:cNvPr id="27" name="object 27"/>
          <p:cNvGrpSpPr/>
          <p:nvPr/>
        </p:nvGrpSpPr>
        <p:grpSpPr>
          <a:xfrm>
            <a:off x="969263" y="3044951"/>
            <a:ext cx="2766060" cy="2304415"/>
            <a:chOff x="969263" y="3044951"/>
            <a:chExt cx="2766060" cy="2304415"/>
          </a:xfrm>
        </p:grpSpPr>
        <p:pic>
          <p:nvPicPr>
            <p:cNvPr id="28" name="object 2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969263" y="3044951"/>
              <a:ext cx="2766060" cy="2304288"/>
            </a:xfrm>
            <a:prstGeom prst="rect">
              <a:avLst/>
            </a:prstGeom>
          </p:spPr>
        </p:pic>
        <p:sp>
          <p:nvSpPr>
            <p:cNvPr id="29" name="object 29"/>
            <p:cNvSpPr/>
            <p:nvPr/>
          </p:nvSpPr>
          <p:spPr>
            <a:xfrm>
              <a:off x="1054049" y="3133089"/>
              <a:ext cx="2132330" cy="2132330"/>
            </a:xfrm>
            <a:custGeom>
              <a:avLst/>
              <a:gdLst/>
              <a:ahLst/>
              <a:cxnLst/>
              <a:rect l="l" t="t" r="r" b="b"/>
              <a:pathLst>
                <a:path w="2132330" h="2132329">
                  <a:moveTo>
                    <a:pt x="1066088" y="0"/>
                  </a:moveTo>
                  <a:lnTo>
                    <a:pt x="1017290" y="1096"/>
                  </a:lnTo>
                  <a:lnTo>
                    <a:pt x="969054" y="4356"/>
                  </a:lnTo>
                  <a:lnTo>
                    <a:pt x="921429" y="9731"/>
                  </a:lnTo>
                  <a:lnTo>
                    <a:pt x="874461" y="17174"/>
                  </a:lnTo>
                  <a:lnTo>
                    <a:pt x="828197" y="26639"/>
                  </a:lnTo>
                  <a:lnTo>
                    <a:pt x="782684" y="38078"/>
                  </a:lnTo>
                  <a:lnTo>
                    <a:pt x="737970" y="51445"/>
                  </a:lnTo>
                  <a:lnTo>
                    <a:pt x="694100" y="66692"/>
                  </a:lnTo>
                  <a:lnTo>
                    <a:pt x="651124" y="83772"/>
                  </a:lnTo>
                  <a:lnTo>
                    <a:pt x="609086" y="102638"/>
                  </a:lnTo>
                  <a:lnTo>
                    <a:pt x="568036" y="123244"/>
                  </a:lnTo>
                  <a:lnTo>
                    <a:pt x="528018" y="145542"/>
                  </a:lnTo>
                  <a:lnTo>
                    <a:pt x="489082" y="169484"/>
                  </a:lnTo>
                  <a:lnTo>
                    <a:pt x="451273" y="195025"/>
                  </a:lnTo>
                  <a:lnTo>
                    <a:pt x="414639" y="222117"/>
                  </a:lnTo>
                  <a:lnTo>
                    <a:pt x="379226" y="250713"/>
                  </a:lnTo>
                  <a:lnTo>
                    <a:pt x="345082" y="280766"/>
                  </a:lnTo>
                  <a:lnTo>
                    <a:pt x="312254" y="312229"/>
                  </a:lnTo>
                  <a:lnTo>
                    <a:pt x="280789" y="345055"/>
                  </a:lnTo>
                  <a:lnTo>
                    <a:pt x="250734" y="379196"/>
                  </a:lnTo>
                  <a:lnTo>
                    <a:pt x="222136" y="414607"/>
                  </a:lnTo>
                  <a:lnTo>
                    <a:pt x="195042" y="451239"/>
                  </a:lnTo>
                  <a:lnTo>
                    <a:pt x="169499" y="489046"/>
                  </a:lnTo>
                  <a:lnTo>
                    <a:pt x="145555" y="527981"/>
                  </a:lnTo>
                  <a:lnTo>
                    <a:pt x="123255" y="567996"/>
                  </a:lnTo>
                  <a:lnTo>
                    <a:pt x="102648" y="609045"/>
                  </a:lnTo>
                  <a:lnTo>
                    <a:pt x="83780" y="651081"/>
                  </a:lnTo>
                  <a:lnTo>
                    <a:pt x="66698" y="694056"/>
                  </a:lnTo>
                  <a:lnTo>
                    <a:pt x="51450" y="737924"/>
                  </a:lnTo>
                  <a:lnTo>
                    <a:pt x="38082" y="782637"/>
                  </a:lnTo>
                  <a:lnTo>
                    <a:pt x="26642" y="828149"/>
                  </a:lnTo>
                  <a:lnTo>
                    <a:pt x="17176" y="874412"/>
                  </a:lnTo>
                  <a:lnTo>
                    <a:pt x="9732" y="921379"/>
                  </a:lnTo>
                  <a:lnTo>
                    <a:pt x="4356" y="969004"/>
                  </a:lnTo>
                  <a:lnTo>
                    <a:pt x="1097" y="1017239"/>
                  </a:lnTo>
                  <a:lnTo>
                    <a:pt x="0" y="1066038"/>
                  </a:lnTo>
                  <a:lnTo>
                    <a:pt x="1097" y="1114826"/>
                  </a:lnTo>
                  <a:lnTo>
                    <a:pt x="4356" y="1163051"/>
                  </a:lnTo>
                  <a:lnTo>
                    <a:pt x="9732" y="1210667"/>
                  </a:lnTo>
                  <a:lnTo>
                    <a:pt x="17176" y="1257625"/>
                  </a:lnTo>
                  <a:lnTo>
                    <a:pt x="26642" y="1303880"/>
                  </a:lnTo>
                  <a:lnTo>
                    <a:pt x="38082" y="1349384"/>
                  </a:lnTo>
                  <a:lnTo>
                    <a:pt x="51450" y="1394091"/>
                  </a:lnTo>
                  <a:lnTo>
                    <a:pt x="66698" y="1437952"/>
                  </a:lnTo>
                  <a:lnTo>
                    <a:pt x="83780" y="1480921"/>
                  </a:lnTo>
                  <a:lnTo>
                    <a:pt x="102648" y="1522951"/>
                  </a:lnTo>
                  <a:lnTo>
                    <a:pt x="123255" y="1563994"/>
                  </a:lnTo>
                  <a:lnTo>
                    <a:pt x="145555" y="1604005"/>
                  </a:lnTo>
                  <a:lnTo>
                    <a:pt x="169499" y="1642935"/>
                  </a:lnTo>
                  <a:lnTo>
                    <a:pt x="195042" y="1680738"/>
                  </a:lnTo>
                  <a:lnTo>
                    <a:pt x="222136" y="1717366"/>
                  </a:lnTo>
                  <a:lnTo>
                    <a:pt x="250734" y="1752773"/>
                  </a:lnTo>
                  <a:lnTo>
                    <a:pt x="280789" y="1786912"/>
                  </a:lnTo>
                  <a:lnTo>
                    <a:pt x="312254" y="1819735"/>
                  </a:lnTo>
                  <a:lnTo>
                    <a:pt x="345082" y="1851195"/>
                  </a:lnTo>
                  <a:lnTo>
                    <a:pt x="379226" y="1881246"/>
                  </a:lnTo>
                  <a:lnTo>
                    <a:pt x="414639" y="1909840"/>
                  </a:lnTo>
                  <a:lnTo>
                    <a:pt x="451273" y="1936930"/>
                  </a:lnTo>
                  <a:lnTo>
                    <a:pt x="489082" y="1962470"/>
                  </a:lnTo>
                  <a:lnTo>
                    <a:pt x="528018" y="1986411"/>
                  </a:lnTo>
                  <a:lnTo>
                    <a:pt x="568036" y="2008708"/>
                  </a:lnTo>
                  <a:lnTo>
                    <a:pt x="609086" y="2029312"/>
                  </a:lnTo>
                  <a:lnTo>
                    <a:pt x="651124" y="2048178"/>
                  </a:lnTo>
                  <a:lnTo>
                    <a:pt x="694100" y="2065258"/>
                  </a:lnTo>
                  <a:lnTo>
                    <a:pt x="737970" y="2080504"/>
                  </a:lnTo>
                  <a:lnTo>
                    <a:pt x="782684" y="2093870"/>
                  </a:lnTo>
                  <a:lnTo>
                    <a:pt x="828197" y="2105309"/>
                  </a:lnTo>
                  <a:lnTo>
                    <a:pt x="874461" y="2114774"/>
                  </a:lnTo>
                  <a:lnTo>
                    <a:pt x="921429" y="2122217"/>
                  </a:lnTo>
                  <a:lnTo>
                    <a:pt x="969054" y="2127592"/>
                  </a:lnTo>
                  <a:lnTo>
                    <a:pt x="1017290" y="2130852"/>
                  </a:lnTo>
                  <a:lnTo>
                    <a:pt x="1066088" y="2131949"/>
                  </a:lnTo>
                  <a:lnTo>
                    <a:pt x="1114887" y="2130852"/>
                  </a:lnTo>
                  <a:lnTo>
                    <a:pt x="1163123" y="2127592"/>
                  </a:lnTo>
                  <a:lnTo>
                    <a:pt x="1210749" y="2122217"/>
                  </a:lnTo>
                  <a:lnTo>
                    <a:pt x="1257718" y="2114774"/>
                  </a:lnTo>
                  <a:lnTo>
                    <a:pt x="1303984" y="2105309"/>
                  </a:lnTo>
                  <a:lnTo>
                    <a:pt x="1349498" y="2093870"/>
                  </a:lnTo>
                  <a:lnTo>
                    <a:pt x="1394215" y="2080504"/>
                  </a:lnTo>
                  <a:lnTo>
                    <a:pt x="1438086" y="2065258"/>
                  </a:lnTo>
                  <a:lnTo>
                    <a:pt x="1481065" y="2048178"/>
                  </a:lnTo>
                  <a:lnTo>
                    <a:pt x="1523105" y="2029312"/>
                  </a:lnTo>
                  <a:lnTo>
                    <a:pt x="1564158" y="2008708"/>
                  </a:lnTo>
                  <a:lnTo>
                    <a:pt x="1604178" y="1986411"/>
                  </a:lnTo>
                  <a:lnTo>
                    <a:pt x="1643117" y="1962470"/>
                  </a:lnTo>
                  <a:lnTo>
                    <a:pt x="1680929" y="1936930"/>
                  </a:lnTo>
                  <a:lnTo>
                    <a:pt x="1717567" y="1909840"/>
                  </a:lnTo>
                  <a:lnTo>
                    <a:pt x="1752982" y="1881246"/>
                  </a:lnTo>
                  <a:lnTo>
                    <a:pt x="1787129" y="1851195"/>
                  </a:lnTo>
                  <a:lnTo>
                    <a:pt x="1819960" y="1819735"/>
                  </a:lnTo>
                  <a:lnTo>
                    <a:pt x="1851428" y="1786912"/>
                  </a:lnTo>
                  <a:lnTo>
                    <a:pt x="1881487" y="1752773"/>
                  </a:lnTo>
                  <a:lnTo>
                    <a:pt x="1910088" y="1717366"/>
                  </a:lnTo>
                  <a:lnTo>
                    <a:pt x="1937185" y="1680738"/>
                  </a:lnTo>
                  <a:lnTo>
                    <a:pt x="1962731" y="1642935"/>
                  </a:lnTo>
                  <a:lnTo>
                    <a:pt x="1986678" y="1604005"/>
                  </a:lnTo>
                  <a:lnTo>
                    <a:pt x="2008981" y="1563994"/>
                  </a:lnTo>
                  <a:lnTo>
                    <a:pt x="2029591" y="1522951"/>
                  </a:lnTo>
                  <a:lnTo>
                    <a:pt x="2048461" y="1480921"/>
                  </a:lnTo>
                  <a:lnTo>
                    <a:pt x="2065545" y="1437952"/>
                  </a:lnTo>
                  <a:lnTo>
                    <a:pt x="2080795" y="1394091"/>
                  </a:lnTo>
                  <a:lnTo>
                    <a:pt x="2094165" y="1349384"/>
                  </a:lnTo>
                  <a:lnTo>
                    <a:pt x="2105607" y="1303880"/>
                  </a:lnTo>
                  <a:lnTo>
                    <a:pt x="2115074" y="1257625"/>
                  </a:lnTo>
                  <a:lnTo>
                    <a:pt x="2122519" y="1210667"/>
                  </a:lnTo>
                  <a:lnTo>
                    <a:pt x="2127896" y="1163051"/>
                  </a:lnTo>
                  <a:lnTo>
                    <a:pt x="2131156" y="1114826"/>
                  </a:lnTo>
                  <a:lnTo>
                    <a:pt x="2132253" y="1066038"/>
                  </a:lnTo>
                  <a:lnTo>
                    <a:pt x="2131156" y="1017239"/>
                  </a:lnTo>
                  <a:lnTo>
                    <a:pt x="2127896" y="969004"/>
                  </a:lnTo>
                  <a:lnTo>
                    <a:pt x="2122519" y="921379"/>
                  </a:lnTo>
                  <a:lnTo>
                    <a:pt x="2115074" y="874412"/>
                  </a:lnTo>
                  <a:lnTo>
                    <a:pt x="2105607" y="828149"/>
                  </a:lnTo>
                  <a:lnTo>
                    <a:pt x="2094165" y="782637"/>
                  </a:lnTo>
                  <a:lnTo>
                    <a:pt x="2080795" y="737924"/>
                  </a:lnTo>
                  <a:lnTo>
                    <a:pt x="2065545" y="694056"/>
                  </a:lnTo>
                  <a:lnTo>
                    <a:pt x="2048461" y="651081"/>
                  </a:lnTo>
                  <a:lnTo>
                    <a:pt x="2029591" y="609045"/>
                  </a:lnTo>
                  <a:lnTo>
                    <a:pt x="2008981" y="567996"/>
                  </a:lnTo>
                  <a:lnTo>
                    <a:pt x="1986678" y="527981"/>
                  </a:lnTo>
                  <a:lnTo>
                    <a:pt x="1962731" y="489046"/>
                  </a:lnTo>
                  <a:lnTo>
                    <a:pt x="1937185" y="451239"/>
                  </a:lnTo>
                  <a:lnTo>
                    <a:pt x="1910088" y="414607"/>
                  </a:lnTo>
                  <a:lnTo>
                    <a:pt x="1881487" y="379196"/>
                  </a:lnTo>
                  <a:lnTo>
                    <a:pt x="1851428" y="345055"/>
                  </a:lnTo>
                  <a:lnTo>
                    <a:pt x="1819960" y="312229"/>
                  </a:lnTo>
                  <a:lnTo>
                    <a:pt x="1787129" y="280766"/>
                  </a:lnTo>
                  <a:lnTo>
                    <a:pt x="1752982" y="250713"/>
                  </a:lnTo>
                  <a:lnTo>
                    <a:pt x="1717567" y="222117"/>
                  </a:lnTo>
                  <a:lnTo>
                    <a:pt x="1680929" y="195025"/>
                  </a:lnTo>
                  <a:lnTo>
                    <a:pt x="1643117" y="169484"/>
                  </a:lnTo>
                  <a:lnTo>
                    <a:pt x="1604178" y="145542"/>
                  </a:lnTo>
                  <a:lnTo>
                    <a:pt x="1564158" y="123244"/>
                  </a:lnTo>
                  <a:lnTo>
                    <a:pt x="1523105" y="102638"/>
                  </a:lnTo>
                  <a:lnTo>
                    <a:pt x="1481065" y="83772"/>
                  </a:lnTo>
                  <a:lnTo>
                    <a:pt x="1438086" y="66692"/>
                  </a:lnTo>
                  <a:lnTo>
                    <a:pt x="1394215" y="51445"/>
                  </a:lnTo>
                  <a:lnTo>
                    <a:pt x="1349498" y="38078"/>
                  </a:lnTo>
                  <a:lnTo>
                    <a:pt x="1303984" y="26639"/>
                  </a:lnTo>
                  <a:lnTo>
                    <a:pt x="1257718" y="17174"/>
                  </a:lnTo>
                  <a:lnTo>
                    <a:pt x="1210749" y="9731"/>
                  </a:lnTo>
                  <a:lnTo>
                    <a:pt x="1163123" y="4356"/>
                  </a:lnTo>
                  <a:lnTo>
                    <a:pt x="1114887" y="1096"/>
                  </a:lnTo>
                  <a:lnTo>
                    <a:pt x="1066088" y="0"/>
                  </a:lnTo>
                  <a:close/>
                </a:path>
              </a:pathLst>
            </a:custGeom>
            <a:solidFill>
              <a:srgbClr val="FFFFFF">
                <a:alpha val="90194"/>
              </a:srgbClr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1054049" y="3133089"/>
              <a:ext cx="2132330" cy="2132330"/>
            </a:xfrm>
            <a:custGeom>
              <a:avLst/>
              <a:gdLst/>
              <a:ahLst/>
              <a:cxnLst/>
              <a:rect l="l" t="t" r="r" b="b"/>
              <a:pathLst>
                <a:path w="2132330" h="2132329">
                  <a:moveTo>
                    <a:pt x="0" y="1066038"/>
                  </a:moveTo>
                  <a:lnTo>
                    <a:pt x="1097" y="1017239"/>
                  </a:lnTo>
                  <a:lnTo>
                    <a:pt x="4356" y="969004"/>
                  </a:lnTo>
                  <a:lnTo>
                    <a:pt x="9732" y="921379"/>
                  </a:lnTo>
                  <a:lnTo>
                    <a:pt x="17176" y="874412"/>
                  </a:lnTo>
                  <a:lnTo>
                    <a:pt x="26642" y="828149"/>
                  </a:lnTo>
                  <a:lnTo>
                    <a:pt x="38082" y="782637"/>
                  </a:lnTo>
                  <a:lnTo>
                    <a:pt x="51450" y="737924"/>
                  </a:lnTo>
                  <a:lnTo>
                    <a:pt x="66698" y="694056"/>
                  </a:lnTo>
                  <a:lnTo>
                    <a:pt x="83780" y="651081"/>
                  </a:lnTo>
                  <a:lnTo>
                    <a:pt x="102648" y="609045"/>
                  </a:lnTo>
                  <a:lnTo>
                    <a:pt x="123255" y="567996"/>
                  </a:lnTo>
                  <a:lnTo>
                    <a:pt x="145555" y="527981"/>
                  </a:lnTo>
                  <a:lnTo>
                    <a:pt x="169499" y="489046"/>
                  </a:lnTo>
                  <a:lnTo>
                    <a:pt x="195042" y="451239"/>
                  </a:lnTo>
                  <a:lnTo>
                    <a:pt x="222136" y="414607"/>
                  </a:lnTo>
                  <a:lnTo>
                    <a:pt x="250734" y="379196"/>
                  </a:lnTo>
                  <a:lnTo>
                    <a:pt x="280789" y="345055"/>
                  </a:lnTo>
                  <a:lnTo>
                    <a:pt x="312254" y="312229"/>
                  </a:lnTo>
                  <a:lnTo>
                    <a:pt x="345082" y="280766"/>
                  </a:lnTo>
                  <a:lnTo>
                    <a:pt x="379226" y="250713"/>
                  </a:lnTo>
                  <a:lnTo>
                    <a:pt x="414639" y="222117"/>
                  </a:lnTo>
                  <a:lnTo>
                    <a:pt x="451273" y="195025"/>
                  </a:lnTo>
                  <a:lnTo>
                    <a:pt x="489082" y="169484"/>
                  </a:lnTo>
                  <a:lnTo>
                    <a:pt x="528018" y="145542"/>
                  </a:lnTo>
                  <a:lnTo>
                    <a:pt x="568036" y="123244"/>
                  </a:lnTo>
                  <a:lnTo>
                    <a:pt x="609086" y="102638"/>
                  </a:lnTo>
                  <a:lnTo>
                    <a:pt x="651124" y="83772"/>
                  </a:lnTo>
                  <a:lnTo>
                    <a:pt x="694100" y="66692"/>
                  </a:lnTo>
                  <a:lnTo>
                    <a:pt x="737970" y="51445"/>
                  </a:lnTo>
                  <a:lnTo>
                    <a:pt x="782684" y="38078"/>
                  </a:lnTo>
                  <a:lnTo>
                    <a:pt x="828197" y="26639"/>
                  </a:lnTo>
                  <a:lnTo>
                    <a:pt x="874461" y="17174"/>
                  </a:lnTo>
                  <a:lnTo>
                    <a:pt x="921429" y="9731"/>
                  </a:lnTo>
                  <a:lnTo>
                    <a:pt x="969054" y="4356"/>
                  </a:lnTo>
                  <a:lnTo>
                    <a:pt x="1017290" y="1096"/>
                  </a:lnTo>
                  <a:lnTo>
                    <a:pt x="1066088" y="0"/>
                  </a:lnTo>
                  <a:lnTo>
                    <a:pt x="1114887" y="1096"/>
                  </a:lnTo>
                  <a:lnTo>
                    <a:pt x="1163123" y="4356"/>
                  </a:lnTo>
                  <a:lnTo>
                    <a:pt x="1210749" y="9731"/>
                  </a:lnTo>
                  <a:lnTo>
                    <a:pt x="1257718" y="17174"/>
                  </a:lnTo>
                  <a:lnTo>
                    <a:pt x="1303984" y="26639"/>
                  </a:lnTo>
                  <a:lnTo>
                    <a:pt x="1349498" y="38078"/>
                  </a:lnTo>
                  <a:lnTo>
                    <a:pt x="1394215" y="51445"/>
                  </a:lnTo>
                  <a:lnTo>
                    <a:pt x="1438086" y="66692"/>
                  </a:lnTo>
                  <a:lnTo>
                    <a:pt x="1481065" y="83772"/>
                  </a:lnTo>
                  <a:lnTo>
                    <a:pt x="1523105" y="102638"/>
                  </a:lnTo>
                  <a:lnTo>
                    <a:pt x="1564158" y="123244"/>
                  </a:lnTo>
                  <a:lnTo>
                    <a:pt x="1604178" y="145542"/>
                  </a:lnTo>
                  <a:lnTo>
                    <a:pt x="1643117" y="169484"/>
                  </a:lnTo>
                  <a:lnTo>
                    <a:pt x="1680929" y="195025"/>
                  </a:lnTo>
                  <a:lnTo>
                    <a:pt x="1717567" y="222117"/>
                  </a:lnTo>
                  <a:lnTo>
                    <a:pt x="1752982" y="250713"/>
                  </a:lnTo>
                  <a:lnTo>
                    <a:pt x="1787129" y="280766"/>
                  </a:lnTo>
                  <a:lnTo>
                    <a:pt x="1819960" y="312229"/>
                  </a:lnTo>
                  <a:lnTo>
                    <a:pt x="1851428" y="345055"/>
                  </a:lnTo>
                  <a:lnTo>
                    <a:pt x="1881487" y="379196"/>
                  </a:lnTo>
                  <a:lnTo>
                    <a:pt x="1910088" y="414607"/>
                  </a:lnTo>
                  <a:lnTo>
                    <a:pt x="1937185" y="451239"/>
                  </a:lnTo>
                  <a:lnTo>
                    <a:pt x="1962731" y="489046"/>
                  </a:lnTo>
                  <a:lnTo>
                    <a:pt x="1986678" y="527981"/>
                  </a:lnTo>
                  <a:lnTo>
                    <a:pt x="2008981" y="567996"/>
                  </a:lnTo>
                  <a:lnTo>
                    <a:pt x="2029591" y="609045"/>
                  </a:lnTo>
                  <a:lnTo>
                    <a:pt x="2048461" y="651081"/>
                  </a:lnTo>
                  <a:lnTo>
                    <a:pt x="2065545" y="694056"/>
                  </a:lnTo>
                  <a:lnTo>
                    <a:pt x="2080795" y="737924"/>
                  </a:lnTo>
                  <a:lnTo>
                    <a:pt x="2094165" y="782637"/>
                  </a:lnTo>
                  <a:lnTo>
                    <a:pt x="2105607" y="828149"/>
                  </a:lnTo>
                  <a:lnTo>
                    <a:pt x="2115074" y="874412"/>
                  </a:lnTo>
                  <a:lnTo>
                    <a:pt x="2122519" y="921379"/>
                  </a:lnTo>
                  <a:lnTo>
                    <a:pt x="2127896" y="969004"/>
                  </a:lnTo>
                  <a:lnTo>
                    <a:pt x="2131156" y="1017239"/>
                  </a:lnTo>
                  <a:lnTo>
                    <a:pt x="2132253" y="1066038"/>
                  </a:lnTo>
                  <a:lnTo>
                    <a:pt x="2131156" y="1114826"/>
                  </a:lnTo>
                  <a:lnTo>
                    <a:pt x="2127896" y="1163051"/>
                  </a:lnTo>
                  <a:lnTo>
                    <a:pt x="2122519" y="1210667"/>
                  </a:lnTo>
                  <a:lnTo>
                    <a:pt x="2115074" y="1257625"/>
                  </a:lnTo>
                  <a:lnTo>
                    <a:pt x="2105607" y="1303880"/>
                  </a:lnTo>
                  <a:lnTo>
                    <a:pt x="2094165" y="1349384"/>
                  </a:lnTo>
                  <a:lnTo>
                    <a:pt x="2080795" y="1394091"/>
                  </a:lnTo>
                  <a:lnTo>
                    <a:pt x="2065545" y="1437952"/>
                  </a:lnTo>
                  <a:lnTo>
                    <a:pt x="2048461" y="1480921"/>
                  </a:lnTo>
                  <a:lnTo>
                    <a:pt x="2029591" y="1522951"/>
                  </a:lnTo>
                  <a:lnTo>
                    <a:pt x="2008981" y="1563994"/>
                  </a:lnTo>
                  <a:lnTo>
                    <a:pt x="1986678" y="1604005"/>
                  </a:lnTo>
                  <a:lnTo>
                    <a:pt x="1962731" y="1642935"/>
                  </a:lnTo>
                  <a:lnTo>
                    <a:pt x="1937185" y="1680738"/>
                  </a:lnTo>
                  <a:lnTo>
                    <a:pt x="1910088" y="1717366"/>
                  </a:lnTo>
                  <a:lnTo>
                    <a:pt x="1881487" y="1752773"/>
                  </a:lnTo>
                  <a:lnTo>
                    <a:pt x="1851428" y="1786912"/>
                  </a:lnTo>
                  <a:lnTo>
                    <a:pt x="1819960" y="1819735"/>
                  </a:lnTo>
                  <a:lnTo>
                    <a:pt x="1787129" y="1851195"/>
                  </a:lnTo>
                  <a:lnTo>
                    <a:pt x="1752982" y="1881246"/>
                  </a:lnTo>
                  <a:lnTo>
                    <a:pt x="1717567" y="1909840"/>
                  </a:lnTo>
                  <a:lnTo>
                    <a:pt x="1680929" y="1936930"/>
                  </a:lnTo>
                  <a:lnTo>
                    <a:pt x="1643117" y="1962470"/>
                  </a:lnTo>
                  <a:lnTo>
                    <a:pt x="1604178" y="1986411"/>
                  </a:lnTo>
                  <a:lnTo>
                    <a:pt x="1564158" y="2008708"/>
                  </a:lnTo>
                  <a:lnTo>
                    <a:pt x="1523105" y="2029312"/>
                  </a:lnTo>
                  <a:lnTo>
                    <a:pt x="1481065" y="2048178"/>
                  </a:lnTo>
                  <a:lnTo>
                    <a:pt x="1438086" y="2065258"/>
                  </a:lnTo>
                  <a:lnTo>
                    <a:pt x="1394215" y="2080504"/>
                  </a:lnTo>
                  <a:lnTo>
                    <a:pt x="1349498" y="2093870"/>
                  </a:lnTo>
                  <a:lnTo>
                    <a:pt x="1303984" y="2105309"/>
                  </a:lnTo>
                  <a:lnTo>
                    <a:pt x="1257718" y="2114774"/>
                  </a:lnTo>
                  <a:lnTo>
                    <a:pt x="1210749" y="2122217"/>
                  </a:lnTo>
                  <a:lnTo>
                    <a:pt x="1163123" y="2127592"/>
                  </a:lnTo>
                  <a:lnTo>
                    <a:pt x="1114887" y="2130852"/>
                  </a:lnTo>
                  <a:lnTo>
                    <a:pt x="1066088" y="2131949"/>
                  </a:lnTo>
                  <a:lnTo>
                    <a:pt x="1017290" y="2130852"/>
                  </a:lnTo>
                  <a:lnTo>
                    <a:pt x="969054" y="2127592"/>
                  </a:lnTo>
                  <a:lnTo>
                    <a:pt x="921429" y="2122217"/>
                  </a:lnTo>
                  <a:lnTo>
                    <a:pt x="874461" y="2114774"/>
                  </a:lnTo>
                  <a:lnTo>
                    <a:pt x="828197" y="2105309"/>
                  </a:lnTo>
                  <a:lnTo>
                    <a:pt x="782684" y="2093870"/>
                  </a:lnTo>
                  <a:lnTo>
                    <a:pt x="737970" y="2080504"/>
                  </a:lnTo>
                  <a:lnTo>
                    <a:pt x="694100" y="2065258"/>
                  </a:lnTo>
                  <a:lnTo>
                    <a:pt x="651124" y="2048178"/>
                  </a:lnTo>
                  <a:lnTo>
                    <a:pt x="609086" y="2029312"/>
                  </a:lnTo>
                  <a:lnTo>
                    <a:pt x="568036" y="2008708"/>
                  </a:lnTo>
                  <a:lnTo>
                    <a:pt x="528018" y="1986411"/>
                  </a:lnTo>
                  <a:lnTo>
                    <a:pt x="489082" y="1962470"/>
                  </a:lnTo>
                  <a:lnTo>
                    <a:pt x="451273" y="1936930"/>
                  </a:lnTo>
                  <a:lnTo>
                    <a:pt x="414639" y="1909840"/>
                  </a:lnTo>
                  <a:lnTo>
                    <a:pt x="379226" y="1881246"/>
                  </a:lnTo>
                  <a:lnTo>
                    <a:pt x="345082" y="1851195"/>
                  </a:lnTo>
                  <a:lnTo>
                    <a:pt x="312254" y="1819735"/>
                  </a:lnTo>
                  <a:lnTo>
                    <a:pt x="280789" y="1786912"/>
                  </a:lnTo>
                  <a:lnTo>
                    <a:pt x="250734" y="1752773"/>
                  </a:lnTo>
                  <a:lnTo>
                    <a:pt x="222136" y="1717366"/>
                  </a:lnTo>
                  <a:lnTo>
                    <a:pt x="195042" y="1680738"/>
                  </a:lnTo>
                  <a:lnTo>
                    <a:pt x="169499" y="1642935"/>
                  </a:lnTo>
                  <a:lnTo>
                    <a:pt x="145555" y="1604005"/>
                  </a:lnTo>
                  <a:lnTo>
                    <a:pt x="123255" y="1563994"/>
                  </a:lnTo>
                  <a:lnTo>
                    <a:pt x="102648" y="1522951"/>
                  </a:lnTo>
                  <a:lnTo>
                    <a:pt x="83780" y="1480921"/>
                  </a:lnTo>
                  <a:lnTo>
                    <a:pt x="66698" y="1437952"/>
                  </a:lnTo>
                  <a:lnTo>
                    <a:pt x="51450" y="1394091"/>
                  </a:lnTo>
                  <a:lnTo>
                    <a:pt x="38082" y="1349384"/>
                  </a:lnTo>
                  <a:lnTo>
                    <a:pt x="26642" y="1303880"/>
                  </a:lnTo>
                  <a:lnTo>
                    <a:pt x="17176" y="1257625"/>
                  </a:lnTo>
                  <a:lnTo>
                    <a:pt x="9732" y="1210667"/>
                  </a:lnTo>
                  <a:lnTo>
                    <a:pt x="4356" y="1163051"/>
                  </a:lnTo>
                  <a:lnTo>
                    <a:pt x="1097" y="1114826"/>
                  </a:lnTo>
                  <a:lnTo>
                    <a:pt x="0" y="1066038"/>
                  </a:lnTo>
                  <a:close/>
                </a:path>
              </a:pathLst>
            </a:custGeom>
            <a:ln w="12699">
              <a:solidFill>
                <a:srgbClr val="4471C4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1553083" y="4003675"/>
            <a:ext cx="11341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spc="-10" dirty="0">
                <a:latin typeface="Candara"/>
                <a:cs typeface="Candara"/>
              </a:rPr>
              <a:t>Footnotes</a:t>
            </a:r>
            <a:endParaRPr sz="20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1440">
              <a:lnSpc>
                <a:spcPts val="880"/>
              </a:lnSpc>
            </a:pPr>
            <a:fld id="{81D60167-4931-47E6-BA6A-407CBD079E47}" type="slidenum">
              <a:rPr spc="-50" dirty="0"/>
              <a:t>9</a:t>
            </a:fld>
            <a:endParaRPr spc="-50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23442" y="1542989"/>
            <a:ext cx="7767320" cy="422148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81965" indent="-456565" algn="just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81965" algn="l"/>
              </a:tabLst>
            </a:pPr>
            <a:r>
              <a:rPr sz="2400" b="1" spc="-10" dirty="0">
                <a:latin typeface="Candara"/>
                <a:cs typeface="Candara"/>
              </a:rPr>
              <a:t>Footnotes</a:t>
            </a:r>
            <a:endParaRPr sz="2400">
              <a:latin typeface="Candara"/>
              <a:cs typeface="Candara"/>
            </a:endParaRPr>
          </a:p>
          <a:p>
            <a:pPr marL="478155" indent="-452755" algn="just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78155" algn="l"/>
              </a:tabLst>
            </a:pPr>
            <a:r>
              <a:rPr sz="2000" dirty="0">
                <a:latin typeface="Candara"/>
                <a:cs typeface="Candara"/>
              </a:rPr>
              <a:t>Place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superscript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number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after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last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word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quotation.</a:t>
            </a:r>
            <a:endParaRPr sz="2000">
              <a:latin typeface="Candara"/>
              <a:cs typeface="Candara"/>
            </a:endParaRPr>
          </a:p>
          <a:p>
            <a:pPr marL="477520" marR="68580" indent="-452755" algn="just">
              <a:lnSpc>
                <a:spcPct val="150000"/>
              </a:lnSpc>
              <a:buFont typeface="Arial MT"/>
              <a:buChar char="•"/>
              <a:tabLst>
                <a:tab pos="481965" algn="l"/>
              </a:tabLst>
            </a:pPr>
            <a:r>
              <a:rPr sz="2000" dirty="0">
                <a:latin typeface="Candara"/>
                <a:cs typeface="Candara"/>
              </a:rPr>
              <a:t>Place</a:t>
            </a:r>
            <a:r>
              <a:rPr sz="2000" spc="18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8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same</a:t>
            </a:r>
            <a:r>
              <a:rPr sz="2000" spc="19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superscript</a:t>
            </a:r>
            <a:r>
              <a:rPr sz="2000" spc="18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number</a:t>
            </a:r>
            <a:r>
              <a:rPr sz="2000" spc="18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at</a:t>
            </a:r>
            <a:r>
              <a:rPr sz="2000" spc="18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8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beginning</a:t>
            </a:r>
            <a:r>
              <a:rPr sz="2000" spc="18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185" dirty="0">
                <a:latin typeface="Candara"/>
                <a:cs typeface="Candara"/>
              </a:rPr>
              <a:t>  </a:t>
            </a:r>
            <a:r>
              <a:rPr sz="2000" spc="-25" dirty="0">
                <a:latin typeface="Candara"/>
                <a:cs typeface="Candara"/>
              </a:rPr>
              <a:t>the 	</a:t>
            </a:r>
            <a:r>
              <a:rPr sz="2000" dirty="0">
                <a:latin typeface="Candara"/>
                <a:cs typeface="Candara"/>
              </a:rPr>
              <a:t>Footnote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at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5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bottom</a:t>
            </a:r>
            <a:r>
              <a:rPr sz="2000" spc="6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same</a:t>
            </a:r>
            <a:r>
              <a:rPr sz="2000" spc="6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page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where</a:t>
            </a:r>
            <a:r>
              <a:rPr sz="2000" spc="6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spc="-10" dirty="0">
                <a:latin typeface="Candara"/>
                <a:cs typeface="Candara"/>
              </a:rPr>
              <a:t>citation 	occurs.</a:t>
            </a:r>
            <a:endParaRPr sz="2000">
              <a:latin typeface="Candara"/>
              <a:cs typeface="Candara"/>
            </a:endParaRPr>
          </a:p>
          <a:p>
            <a:pPr marL="478155" indent="-452755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78155" algn="l"/>
              </a:tabLst>
            </a:pPr>
            <a:r>
              <a:rPr sz="2000" spc="-10" dirty="0">
                <a:latin typeface="Candara"/>
                <a:cs typeface="Candara"/>
              </a:rPr>
              <a:t>Example:</a:t>
            </a:r>
            <a:endParaRPr sz="2000">
              <a:latin typeface="Candara"/>
              <a:cs typeface="Candara"/>
            </a:endParaRPr>
          </a:p>
          <a:p>
            <a:pPr marL="939165" marR="68580" lvl="1" indent="-457200" algn="just">
              <a:lnSpc>
                <a:spcPct val="150000"/>
              </a:lnSpc>
              <a:buFont typeface="Courier New"/>
              <a:buChar char="o"/>
              <a:tabLst>
                <a:tab pos="939165" algn="l"/>
              </a:tabLst>
            </a:pPr>
            <a:r>
              <a:rPr sz="2000" i="1" dirty="0">
                <a:latin typeface="Candara"/>
                <a:cs typeface="Candara"/>
              </a:rPr>
              <a:t>In</a:t>
            </a:r>
            <a:r>
              <a:rPr sz="2000" i="1" spc="4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traditional</a:t>
            </a:r>
            <a:r>
              <a:rPr sz="2000" i="1" spc="40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British</a:t>
            </a:r>
            <a:r>
              <a:rPr sz="2000" i="1" spc="4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East</a:t>
            </a:r>
            <a:r>
              <a:rPr sz="2000" i="1" spc="47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Africa,</a:t>
            </a:r>
            <a:r>
              <a:rPr sz="2000" i="1" spc="48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there</a:t>
            </a:r>
            <a:r>
              <a:rPr sz="2000" i="1" spc="4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are</a:t>
            </a:r>
            <a:r>
              <a:rPr sz="2000" i="1" spc="49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certain</a:t>
            </a:r>
            <a:r>
              <a:rPr sz="2000" i="1" spc="4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social</a:t>
            </a:r>
            <a:r>
              <a:rPr sz="2000" i="1" spc="495" dirty="0">
                <a:latin typeface="Candara"/>
                <a:cs typeface="Candara"/>
              </a:rPr>
              <a:t> </a:t>
            </a:r>
            <a:r>
              <a:rPr sz="2000" i="1" spc="-25" dirty="0">
                <a:latin typeface="Candara"/>
                <a:cs typeface="Candara"/>
              </a:rPr>
              <a:t>and </a:t>
            </a:r>
            <a:r>
              <a:rPr sz="2000" i="1" dirty="0">
                <a:latin typeface="Candara"/>
                <a:cs typeface="Candara"/>
              </a:rPr>
              <a:t>cultural</a:t>
            </a:r>
            <a:r>
              <a:rPr sz="2000" i="1" spc="-6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restrictions</a:t>
            </a:r>
            <a:r>
              <a:rPr sz="2000" i="1" spc="-5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for</a:t>
            </a:r>
            <a:r>
              <a:rPr sz="2000" i="1" spc="-5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young</a:t>
            </a:r>
            <a:r>
              <a:rPr sz="2000" i="1" spc="-55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females.</a:t>
            </a:r>
            <a:r>
              <a:rPr sz="1950" i="1" spc="-15" baseline="25641" dirty="0">
                <a:latin typeface="Candara"/>
                <a:cs typeface="Candara"/>
              </a:rPr>
              <a:t>6</a:t>
            </a:r>
            <a:endParaRPr sz="1950" baseline="25641">
              <a:latin typeface="Candara"/>
              <a:cs typeface="Candara"/>
            </a:endParaRPr>
          </a:p>
          <a:p>
            <a:pPr marL="937260" lvl="1" indent="-455295" algn="just">
              <a:lnSpc>
                <a:spcPct val="100000"/>
              </a:lnSpc>
              <a:spcBef>
                <a:spcPts val="1140"/>
              </a:spcBef>
              <a:buFont typeface="Courier New"/>
              <a:buChar char="o"/>
              <a:tabLst>
                <a:tab pos="937260" algn="l"/>
              </a:tabLst>
            </a:pPr>
            <a:r>
              <a:rPr sz="1800" dirty="0">
                <a:latin typeface="Candara"/>
                <a:cs typeface="Candara"/>
              </a:rPr>
              <a:t>[6]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Sigmund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Freud,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spc="-20" dirty="0">
                <a:latin typeface="Candara"/>
                <a:cs typeface="Candara"/>
              </a:rPr>
              <a:t>Totem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and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Taboo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(New</a:t>
            </a:r>
            <a:r>
              <a:rPr sz="1800" spc="-4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York:</a:t>
            </a:r>
            <a:r>
              <a:rPr sz="1800" spc="-5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Random,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1918)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spc="-25" dirty="0">
                <a:latin typeface="Candara"/>
                <a:cs typeface="Candara"/>
              </a:rPr>
              <a:t>17.</a:t>
            </a:r>
            <a:endParaRPr sz="18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90500" y="2133600"/>
            <a:ext cx="838200" cy="1114425"/>
            <a:chOff x="190500" y="2133600"/>
            <a:chExt cx="838200" cy="111442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598419"/>
              <a:ext cx="838200" cy="649604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964940"/>
            <a:ext cx="838200" cy="64960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5706745"/>
            <a:ext cx="838200" cy="649605"/>
          </a:xfrm>
          <a:prstGeom prst="rect">
            <a:avLst/>
          </a:prstGeom>
        </p:spPr>
      </p:pic>
      <p:sp>
        <p:nvSpPr>
          <p:cNvPr id="20" name="object 20"/>
          <p:cNvSpPr txBox="1"/>
          <p:nvPr/>
        </p:nvSpPr>
        <p:spPr>
          <a:xfrm>
            <a:off x="936142" y="5907764"/>
            <a:ext cx="114935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spc="-50" dirty="0"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93316" y="5953745"/>
            <a:ext cx="375094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50"/>
              </a:lnSpc>
            </a:pPr>
            <a:r>
              <a:rPr sz="2000" dirty="0">
                <a:latin typeface="Candara"/>
                <a:cs typeface="Candara"/>
              </a:rPr>
              <a:t>In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work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cited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page,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write: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393316" y="6371521"/>
            <a:ext cx="163195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60"/>
              </a:lnSpc>
            </a:pPr>
            <a:r>
              <a:rPr sz="1800" spc="-50" dirty="0">
                <a:latin typeface="Courier New"/>
                <a:cs typeface="Courier New"/>
              </a:rPr>
              <a:t>o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50517" y="6396190"/>
            <a:ext cx="585533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4"/>
              </a:lnSpc>
            </a:pPr>
            <a:r>
              <a:rPr sz="1800" dirty="0">
                <a:latin typeface="Candara"/>
                <a:cs typeface="Candara"/>
              </a:rPr>
              <a:t>Freud,</a:t>
            </a:r>
            <a:r>
              <a:rPr sz="1800" spc="-6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Sigmund.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spc="-20" dirty="0">
                <a:latin typeface="Candara"/>
                <a:cs typeface="Candara"/>
              </a:rPr>
              <a:t>Totem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and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Taboo.</a:t>
            </a:r>
            <a:r>
              <a:rPr sz="1800" spc="-5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New</a:t>
            </a:r>
            <a:r>
              <a:rPr sz="1800" spc="-4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York:</a:t>
            </a:r>
            <a:r>
              <a:rPr sz="1800" spc="-6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Random,</a:t>
            </a:r>
            <a:r>
              <a:rPr sz="1800" spc="-5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1918.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10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23442" y="1542989"/>
            <a:ext cx="7765415" cy="422148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81965" indent="-456565" algn="just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81965" algn="l"/>
              </a:tabLst>
            </a:pPr>
            <a:r>
              <a:rPr sz="2400" b="1" spc="-10" dirty="0">
                <a:latin typeface="Candara"/>
                <a:cs typeface="Candara"/>
              </a:rPr>
              <a:t>Endnotes</a:t>
            </a:r>
            <a:endParaRPr sz="2400">
              <a:latin typeface="Candara"/>
              <a:cs typeface="Candara"/>
            </a:endParaRPr>
          </a:p>
          <a:p>
            <a:pPr marL="478155" indent="-452755" algn="just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78155" algn="l"/>
              </a:tabLst>
            </a:pPr>
            <a:r>
              <a:rPr sz="2000" dirty="0">
                <a:latin typeface="Candara"/>
                <a:cs typeface="Candara"/>
              </a:rPr>
              <a:t>Endnotes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are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written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same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way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as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footnotes.</a:t>
            </a:r>
            <a:endParaRPr sz="2000">
              <a:latin typeface="Candara"/>
              <a:cs typeface="Candara"/>
            </a:endParaRPr>
          </a:p>
          <a:p>
            <a:pPr marL="477520" marR="66675" indent="-452755" algn="just">
              <a:lnSpc>
                <a:spcPct val="150000"/>
              </a:lnSpc>
              <a:buFont typeface="Arial MT"/>
              <a:buChar char="•"/>
              <a:tabLst>
                <a:tab pos="481965" algn="l"/>
              </a:tabLst>
            </a:pPr>
            <a:r>
              <a:rPr sz="2000" dirty="0">
                <a:latin typeface="Candara"/>
                <a:cs typeface="Candara"/>
              </a:rPr>
              <a:t>The</a:t>
            </a:r>
            <a:r>
              <a:rPr sz="2000" spc="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main</a:t>
            </a:r>
            <a:r>
              <a:rPr sz="2000" spc="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difference</a:t>
            </a:r>
            <a:r>
              <a:rPr sz="2000" spc="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is</a:t>
            </a:r>
            <a:r>
              <a:rPr sz="2000" spc="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that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footnotes</a:t>
            </a:r>
            <a:r>
              <a:rPr sz="2000" spc="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are</a:t>
            </a:r>
            <a:r>
              <a:rPr sz="2000" spc="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placed</a:t>
            </a:r>
            <a:r>
              <a:rPr sz="2000" spc="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numerically</a:t>
            </a:r>
            <a:r>
              <a:rPr sz="2000" spc="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at</a:t>
            </a:r>
            <a:r>
              <a:rPr sz="2000" spc="45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the 	</a:t>
            </a:r>
            <a:r>
              <a:rPr sz="2000" dirty="0">
                <a:latin typeface="Candara"/>
                <a:cs typeface="Candara"/>
              </a:rPr>
              <a:t>foot</a:t>
            </a:r>
            <a:r>
              <a:rPr sz="2000" spc="43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4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4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very</a:t>
            </a:r>
            <a:r>
              <a:rPr sz="2000" spc="43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same</a:t>
            </a:r>
            <a:r>
              <a:rPr sz="2000" spc="4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page</a:t>
            </a:r>
            <a:r>
              <a:rPr sz="2000" spc="4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where</a:t>
            </a:r>
            <a:r>
              <a:rPr sz="2000" spc="43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direct</a:t>
            </a:r>
            <a:r>
              <a:rPr sz="2000" spc="43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references</a:t>
            </a:r>
            <a:r>
              <a:rPr sz="2000" spc="4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are</a:t>
            </a:r>
            <a:r>
              <a:rPr sz="2000" spc="44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made, 	</a:t>
            </a:r>
            <a:r>
              <a:rPr sz="2000" dirty="0">
                <a:latin typeface="Candara"/>
                <a:cs typeface="Candara"/>
              </a:rPr>
              <a:t>while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Endnotes</a:t>
            </a:r>
            <a:r>
              <a:rPr sz="2000" spc="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are</a:t>
            </a:r>
            <a:r>
              <a:rPr sz="2000" spc="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placed</a:t>
            </a:r>
            <a:r>
              <a:rPr sz="2000" spc="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numerically</a:t>
            </a:r>
            <a:r>
              <a:rPr sz="2000" spc="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at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end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essay</a:t>
            </a:r>
            <a:r>
              <a:rPr sz="2000" spc="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on</a:t>
            </a:r>
            <a:r>
              <a:rPr sz="2000" spc="45" dirty="0">
                <a:latin typeface="Candara"/>
                <a:cs typeface="Candara"/>
              </a:rPr>
              <a:t> </a:t>
            </a:r>
            <a:r>
              <a:rPr sz="2000" spc="-50" dirty="0">
                <a:latin typeface="Candara"/>
                <a:cs typeface="Candara"/>
              </a:rPr>
              <a:t>a</a:t>
            </a:r>
            <a:endParaRPr sz="2000">
              <a:latin typeface="Candara"/>
              <a:cs typeface="Candara"/>
            </a:endParaRPr>
          </a:p>
          <a:p>
            <a:pPr marL="481965" algn="just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andara"/>
                <a:cs typeface="Candara"/>
              </a:rPr>
              <a:t>separate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page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entitled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End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notes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notes.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Example:</a:t>
            </a:r>
            <a:endParaRPr sz="2000">
              <a:latin typeface="Candara"/>
              <a:cs typeface="Candara"/>
            </a:endParaRPr>
          </a:p>
          <a:p>
            <a:pPr marL="939165" marR="68580" lvl="1" indent="-457200" algn="just">
              <a:lnSpc>
                <a:spcPct val="150000"/>
              </a:lnSpc>
              <a:buFont typeface="Courier New"/>
              <a:buChar char="o"/>
              <a:tabLst>
                <a:tab pos="939165" algn="l"/>
              </a:tabLst>
            </a:pP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105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World</a:t>
            </a:r>
            <a:r>
              <a:rPr sz="2000" i="1" spc="114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Book</a:t>
            </a:r>
            <a:r>
              <a:rPr sz="2000" i="1" spc="114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Encyclopedia</a:t>
            </a:r>
            <a:r>
              <a:rPr sz="2000" i="1" spc="114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defines</a:t>
            </a:r>
            <a:r>
              <a:rPr sz="2000" i="1" spc="114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Taboo</a:t>
            </a:r>
            <a:r>
              <a:rPr sz="2000" i="1" spc="114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as</a:t>
            </a:r>
            <a:r>
              <a:rPr sz="2000" i="1" spc="114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“an</a:t>
            </a:r>
            <a:r>
              <a:rPr sz="2000" i="1" spc="110" dirty="0">
                <a:latin typeface="Candara"/>
                <a:cs typeface="Candara"/>
              </a:rPr>
              <a:t>  </a:t>
            </a:r>
            <a:r>
              <a:rPr sz="2000" i="1" spc="-10" dirty="0">
                <a:latin typeface="Candara"/>
                <a:cs typeface="Candara"/>
              </a:rPr>
              <a:t>action, </a:t>
            </a:r>
            <a:r>
              <a:rPr sz="2000" i="1" dirty="0">
                <a:latin typeface="Candara"/>
                <a:cs typeface="Candara"/>
              </a:rPr>
              <a:t>object,</a:t>
            </a:r>
            <a:r>
              <a:rPr sz="2000" i="1" spc="-4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person,</a:t>
            </a:r>
            <a:r>
              <a:rPr sz="2000" i="1" spc="-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or</a:t>
            </a:r>
            <a:r>
              <a:rPr sz="2000" i="1" spc="-3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place</a:t>
            </a:r>
            <a:r>
              <a:rPr sz="2000" i="1" spc="-1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forbidden</a:t>
            </a:r>
            <a:r>
              <a:rPr sz="2000" i="1" spc="-4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by</a:t>
            </a:r>
            <a:r>
              <a:rPr sz="2000" i="1" spc="-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law</a:t>
            </a:r>
            <a:r>
              <a:rPr sz="2000" i="1" spc="-3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or</a:t>
            </a:r>
            <a:r>
              <a:rPr sz="2000" i="1" spc="-25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culture.”</a:t>
            </a:r>
            <a:r>
              <a:rPr sz="1950" i="1" spc="-15" baseline="25641" dirty="0">
                <a:latin typeface="Candara"/>
                <a:cs typeface="Candara"/>
              </a:rPr>
              <a:t>1</a:t>
            </a:r>
            <a:endParaRPr sz="1950" baseline="25641">
              <a:latin typeface="Candara"/>
              <a:cs typeface="Candara"/>
            </a:endParaRPr>
          </a:p>
          <a:p>
            <a:pPr marL="937260" lvl="1" indent="-455295" algn="just">
              <a:lnSpc>
                <a:spcPct val="100000"/>
              </a:lnSpc>
              <a:spcBef>
                <a:spcPts val="1140"/>
              </a:spcBef>
              <a:buFont typeface="Courier New"/>
              <a:buChar char="o"/>
              <a:tabLst>
                <a:tab pos="937260" algn="l"/>
              </a:tabLst>
            </a:pPr>
            <a:r>
              <a:rPr sz="1800" dirty="0">
                <a:latin typeface="Candara"/>
                <a:cs typeface="Candara"/>
              </a:rPr>
              <a:t>[1]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Alan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Dundes,</a:t>
            </a:r>
            <a:r>
              <a:rPr sz="1800" spc="-40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"Taboo,"</a:t>
            </a:r>
            <a:r>
              <a:rPr sz="1800" spc="-5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World</a:t>
            </a:r>
            <a:r>
              <a:rPr sz="1800" spc="-5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Book</a:t>
            </a:r>
            <a:r>
              <a:rPr sz="1800" spc="-6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Encyclopedia.</a:t>
            </a:r>
            <a:r>
              <a:rPr sz="1800" spc="-6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2000</a:t>
            </a:r>
            <a:r>
              <a:rPr sz="1800" spc="-25" dirty="0">
                <a:latin typeface="Candara"/>
                <a:cs typeface="Candara"/>
              </a:rPr>
              <a:t> ed.</a:t>
            </a:r>
            <a:endParaRPr sz="18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90500" y="2133600"/>
            <a:ext cx="838200" cy="1114425"/>
            <a:chOff x="190500" y="2133600"/>
            <a:chExt cx="838200" cy="111442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598419"/>
              <a:ext cx="838200" cy="649604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5706745"/>
            <a:ext cx="838200" cy="649605"/>
          </a:xfrm>
          <a:prstGeom prst="rect">
            <a:avLst/>
          </a:prstGeom>
        </p:spPr>
      </p:pic>
      <p:sp>
        <p:nvSpPr>
          <p:cNvPr id="19" name="object 19"/>
          <p:cNvSpPr txBox="1"/>
          <p:nvPr/>
        </p:nvSpPr>
        <p:spPr>
          <a:xfrm>
            <a:off x="936142" y="5907764"/>
            <a:ext cx="114935" cy="3098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315"/>
              </a:lnSpc>
            </a:pPr>
            <a:r>
              <a:rPr sz="2000" spc="-50" dirty="0">
                <a:latin typeface="Arial MT"/>
                <a:cs typeface="Arial MT"/>
              </a:rPr>
              <a:t>•</a:t>
            </a:r>
            <a:endParaRPr sz="2000">
              <a:latin typeface="Arial MT"/>
              <a:cs typeface="Arial MT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393316" y="5953745"/>
            <a:ext cx="3750945" cy="2800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50"/>
              </a:lnSpc>
            </a:pPr>
            <a:r>
              <a:rPr sz="2000" dirty="0">
                <a:latin typeface="Candara"/>
                <a:cs typeface="Candara"/>
              </a:rPr>
              <a:t>In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work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cited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page,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write: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393316" y="6371521"/>
            <a:ext cx="163195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60"/>
              </a:lnSpc>
            </a:pPr>
            <a:r>
              <a:rPr sz="1800" spc="-50" dirty="0">
                <a:latin typeface="Courier New"/>
                <a:cs typeface="Courier New"/>
              </a:rPr>
              <a:t>o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0517" y="6396190"/>
            <a:ext cx="569849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4"/>
              </a:lnSpc>
            </a:pPr>
            <a:r>
              <a:rPr sz="1800" dirty="0">
                <a:latin typeface="Candara"/>
                <a:cs typeface="Candara"/>
              </a:rPr>
              <a:t>Dundes,</a:t>
            </a:r>
            <a:r>
              <a:rPr sz="1800" spc="-5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Alan.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"Taboo."</a:t>
            </a:r>
            <a:r>
              <a:rPr sz="1800" spc="-6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World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Book</a:t>
            </a:r>
            <a:r>
              <a:rPr sz="1800" spc="-6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Encyclopedia.</a:t>
            </a:r>
            <a:r>
              <a:rPr sz="1800" spc="-6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2000</a:t>
            </a:r>
            <a:r>
              <a:rPr sz="1800" spc="-25" dirty="0">
                <a:latin typeface="Candara"/>
                <a:cs typeface="Candara"/>
              </a:rPr>
              <a:t> ed.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11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4592955" cy="151638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Parenthetical</a:t>
            </a:r>
            <a:r>
              <a:rPr sz="2400" b="1" spc="-9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references</a:t>
            </a:r>
            <a:endParaRPr sz="24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It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is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simplest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way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cite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sources.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  <a:tab pos="1047115" algn="l"/>
                <a:tab pos="2120265" algn="l"/>
                <a:tab pos="2680970" algn="l"/>
                <a:tab pos="3463290" algn="l"/>
                <a:tab pos="4045585" algn="l"/>
              </a:tabLst>
            </a:pPr>
            <a:r>
              <a:rPr sz="2000" spc="-25" dirty="0">
                <a:latin typeface="Candara"/>
                <a:cs typeface="Candara"/>
              </a:rPr>
              <a:t>The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author's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last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name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and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page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684011" y="2728087"/>
            <a:ext cx="294195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321435" algn="l"/>
                <a:tab pos="1845945" algn="l"/>
                <a:tab pos="2736215" algn="l"/>
              </a:tabLst>
            </a:pPr>
            <a:r>
              <a:rPr sz="2000" spc="-10" dirty="0">
                <a:latin typeface="Candara"/>
                <a:cs typeface="Candara"/>
              </a:rPr>
              <a:t>number(s)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are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placed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in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6142" y="3033750"/>
            <a:ext cx="7692390" cy="27698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Candara"/>
                <a:cs typeface="Candara"/>
              </a:rPr>
              <a:t>parentheses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text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give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credit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sources.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Example:</a:t>
            </a:r>
            <a:endParaRPr sz="2000">
              <a:latin typeface="Candara"/>
              <a:cs typeface="Candara"/>
            </a:endParaRPr>
          </a:p>
          <a:p>
            <a:pPr marL="926465" indent="-457200" algn="just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i="1" dirty="0">
                <a:latin typeface="Candara"/>
                <a:cs typeface="Candara"/>
              </a:rPr>
              <a:t>In</a:t>
            </a:r>
            <a:r>
              <a:rPr sz="2000" i="1" spc="1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their</a:t>
            </a:r>
            <a:r>
              <a:rPr sz="2000" i="1" spc="12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Preface,</a:t>
            </a:r>
            <a:r>
              <a:rPr sz="2000" i="1" spc="114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114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authors</a:t>
            </a:r>
            <a:r>
              <a:rPr sz="2000" i="1" spc="13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point</a:t>
            </a:r>
            <a:r>
              <a:rPr sz="2000" i="1" spc="11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out</a:t>
            </a:r>
            <a:r>
              <a:rPr sz="2000" i="1" spc="11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that</a:t>
            </a:r>
            <a:r>
              <a:rPr sz="2000" i="1" spc="1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"Learning</a:t>
            </a:r>
            <a:r>
              <a:rPr sz="2000" i="1" spc="125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Hypertext</a:t>
            </a:r>
            <a:endParaRPr sz="2000">
              <a:latin typeface="Candara"/>
              <a:cs typeface="Candara"/>
            </a:endParaRPr>
          </a:p>
          <a:p>
            <a:pPr marL="926465" marR="5080" algn="just">
              <a:lnSpc>
                <a:spcPct val="150000"/>
              </a:lnSpc>
            </a:pPr>
            <a:r>
              <a:rPr sz="2000" i="1" dirty="0">
                <a:latin typeface="Candara"/>
                <a:cs typeface="Candara"/>
              </a:rPr>
              <a:t>Markup</a:t>
            </a:r>
            <a:r>
              <a:rPr sz="2000" i="1" spc="114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Language</a:t>
            </a:r>
            <a:r>
              <a:rPr sz="2000" i="1" spc="120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(HTML)</a:t>
            </a:r>
            <a:r>
              <a:rPr sz="2000" i="1" spc="125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and</a:t>
            </a:r>
            <a:r>
              <a:rPr sz="2000" i="1" spc="120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Extensible</a:t>
            </a:r>
            <a:r>
              <a:rPr sz="2000" i="1" spc="114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Hypertext</a:t>
            </a:r>
            <a:r>
              <a:rPr sz="2000" i="1" spc="114" dirty="0">
                <a:latin typeface="Candara"/>
                <a:cs typeface="Candara"/>
              </a:rPr>
              <a:t>  </a:t>
            </a:r>
            <a:r>
              <a:rPr sz="2000" i="1" spc="-10" dirty="0">
                <a:latin typeface="Candara"/>
                <a:cs typeface="Candara"/>
              </a:rPr>
              <a:t>Markup </a:t>
            </a:r>
            <a:r>
              <a:rPr sz="2000" i="1" dirty="0">
                <a:latin typeface="Candara"/>
                <a:cs typeface="Candara"/>
              </a:rPr>
              <a:t>Language</a:t>
            </a:r>
            <a:r>
              <a:rPr sz="2000" i="1" spc="16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(XHTML)</a:t>
            </a:r>
            <a:r>
              <a:rPr sz="2000" i="1" spc="17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is</a:t>
            </a:r>
            <a:r>
              <a:rPr sz="2000" i="1" spc="18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like</a:t>
            </a:r>
            <a:r>
              <a:rPr sz="2000" i="1" spc="18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learning</a:t>
            </a:r>
            <a:r>
              <a:rPr sz="2000" i="1" spc="17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any</a:t>
            </a:r>
            <a:r>
              <a:rPr sz="2000" i="1" spc="19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new</a:t>
            </a:r>
            <a:r>
              <a:rPr sz="2000" i="1" spc="18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language,</a:t>
            </a:r>
            <a:r>
              <a:rPr sz="2000" i="1" spc="180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computer </a:t>
            </a:r>
            <a:r>
              <a:rPr sz="2000" i="1" dirty="0">
                <a:latin typeface="Candara"/>
                <a:cs typeface="Candara"/>
              </a:rPr>
              <a:t>or</a:t>
            </a:r>
            <a:r>
              <a:rPr sz="2000" i="1" spc="-5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human"</a:t>
            </a:r>
            <a:r>
              <a:rPr sz="2000" i="1" spc="-3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(Musciano</a:t>
            </a:r>
            <a:r>
              <a:rPr sz="2000" i="1" spc="-2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and</a:t>
            </a:r>
            <a:r>
              <a:rPr sz="2000" i="1" spc="-3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Kennedy</a:t>
            </a:r>
            <a:r>
              <a:rPr sz="2000" i="1" spc="-30" dirty="0">
                <a:latin typeface="Candara"/>
                <a:cs typeface="Candara"/>
              </a:rPr>
              <a:t> </a:t>
            </a:r>
            <a:r>
              <a:rPr sz="2000" i="1" spc="-20" dirty="0">
                <a:latin typeface="Candara"/>
                <a:cs typeface="Candara"/>
              </a:rPr>
              <a:t>xi).</a:t>
            </a:r>
            <a:endParaRPr sz="20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dirty="0">
                <a:latin typeface="Candara"/>
                <a:cs typeface="Candara"/>
              </a:rPr>
              <a:t>In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bibliography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work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cited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page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write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190500" y="2133600"/>
            <a:ext cx="838200" cy="1114425"/>
            <a:chOff x="190500" y="2133600"/>
            <a:chExt cx="838200" cy="1114425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598419"/>
              <a:ext cx="838200" cy="649604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5334000"/>
            <a:ext cx="838200" cy="649605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1393316" y="5960042"/>
            <a:ext cx="163195" cy="28448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960"/>
              </a:lnSpc>
            </a:pPr>
            <a:r>
              <a:rPr sz="1800" spc="-50" dirty="0">
                <a:latin typeface="Courier New"/>
                <a:cs typeface="Courier New"/>
              </a:rPr>
              <a:t>o</a:t>
            </a:r>
            <a:endParaRPr sz="1800">
              <a:latin typeface="Courier New"/>
              <a:cs typeface="Courier New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850517" y="5984710"/>
            <a:ext cx="677735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4"/>
              </a:lnSpc>
            </a:pPr>
            <a:r>
              <a:rPr sz="1800" dirty="0">
                <a:latin typeface="Candara"/>
                <a:cs typeface="Candara"/>
              </a:rPr>
              <a:t>Musciano,</a:t>
            </a:r>
            <a:r>
              <a:rPr sz="1800" spc="10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Chuck,</a:t>
            </a:r>
            <a:r>
              <a:rPr sz="1800" spc="11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and</a:t>
            </a:r>
            <a:r>
              <a:rPr sz="1800" spc="10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Bill</a:t>
            </a:r>
            <a:r>
              <a:rPr sz="1800" spc="9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Kennedy.</a:t>
            </a:r>
            <a:r>
              <a:rPr sz="1800" spc="10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HTML</a:t>
            </a:r>
            <a:r>
              <a:rPr sz="1800" spc="10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and</a:t>
            </a:r>
            <a:r>
              <a:rPr sz="1800" spc="9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XHTML:</a:t>
            </a:r>
            <a:r>
              <a:rPr sz="1800" spc="114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110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Definitive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850517" y="6396190"/>
            <a:ext cx="4357370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1764"/>
              </a:lnSpc>
            </a:pPr>
            <a:r>
              <a:rPr sz="1800" dirty="0">
                <a:latin typeface="Candara"/>
                <a:cs typeface="Candara"/>
              </a:rPr>
              <a:t>Guide.</a:t>
            </a:r>
            <a:r>
              <a:rPr sz="1800" spc="-6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4th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ed.</a:t>
            </a:r>
            <a:r>
              <a:rPr sz="1800" spc="-4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Sebastopol,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CA: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O'Reilly,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2000.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12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2924175" cy="28886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Referencing</a:t>
            </a:r>
            <a:r>
              <a:rPr sz="2400" b="1" spc="-8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Styles</a:t>
            </a:r>
            <a:endParaRPr sz="24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spc="-25" dirty="0">
                <a:latin typeface="Candara"/>
                <a:cs typeface="Candara"/>
              </a:rPr>
              <a:t>APA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spc="-25" dirty="0">
                <a:latin typeface="Candara"/>
                <a:cs typeface="Candara"/>
              </a:rPr>
              <a:t>MLA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spc="-10" dirty="0">
                <a:latin typeface="Candara"/>
                <a:cs typeface="Candara"/>
              </a:rPr>
              <a:t>Oxford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spc="-10" dirty="0">
                <a:latin typeface="Candara"/>
                <a:cs typeface="Candara"/>
              </a:rPr>
              <a:t>Harvard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spc="-10" dirty="0">
                <a:latin typeface="Candara"/>
                <a:cs typeface="Candara"/>
              </a:rPr>
              <a:t>Chicago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90500" y="2133600"/>
            <a:ext cx="838200" cy="2453005"/>
            <a:chOff x="190500" y="2133600"/>
            <a:chExt cx="838200" cy="245300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598419"/>
              <a:ext cx="838200" cy="6496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046983"/>
              <a:ext cx="838200" cy="64960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488055"/>
              <a:ext cx="838200" cy="6496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936619"/>
              <a:ext cx="838200" cy="649605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dirty="0"/>
              <a:t>Modern</a:t>
            </a:r>
            <a:r>
              <a:rPr spc="-60" dirty="0"/>
              <a:t> </a:t>
            </a:r>
            <a:r>
              <a:rPr dirty="0"/>
              <a:t>Language</a:t>
            </a:r>
            <a:r>
              <a:rPr spc="-35" dirty="0"/>
              <a:t> </a:t>
            </a:r>
            <a:r>
              <a:rPr dirty="0"/>
              <a:t>Association</a:t>
            </a:r>
            <a:r>
              <a:rPr spc="-25" dirty="0"/>
              <a:t> </a:t>
            </a:r>
            <a:r>
              <a:rPr dirty="0"/>
              <a:t>(MLA)</a:t>
            </a:r>
            <a:r>
              <a:rPr spc="-40" dirty="0"/>
              <a:t> </a:t>
            </a:r>
            <a:r>
              <a:rPr spc="-10" dirty="0"/>
              <a:t>[1/4]</a:t>
            </a:r>
          </a:p>
          <a:p>
            <a:pPr marL="469265" marR="635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Direct</a:t>
            </a:r>
            <a:r>
              <a:rPr sz="2000" b="0" spc="45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Quotes:</a:t>
            </a:r>
            <a:r>
              <a:rPr sz="2000" b="0" spc="45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Less</a:t>
            </a:r>
            <a:r>
              <a:rPr sz="2000" b="0" spc="45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than</a:t>
            </a:r>
            <a:r>
              <a:rPr sz="2000" b="0" spc="44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4</a:t>
            </a:r>
            <a:r>
              <a:rPr sz="2000" b="0" spc="47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lines</a:t>
            </a:r>
            <a:r>
              <a:rPr sz="2000" b="0" spc="47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are</a:t>
            </a:r>
            <a:r>
              <a:rPr sz="2000" b="0" spc="459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placed</a:t>
            </a:r>
            <a:r>
              <a:rPr sz="2000" b="0" spc="47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within</a:t>
            </a:r>
            <a:r>
              <a:rPr sz="2000" b="0" spc="45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</a:t>
            </a:r>
            <a:r>
              <a:rPr sz="2000" b="0" spc="480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paragraph </a:t>
            </a:r>
            <a:r>
              <a:rPr sz="2000" b="0" dirty="0">
                <a:latin typeface="Candara"/>
                <a:cs typeface="Candara"/>
              </a:rPr>
              <a:t>enclosed</a:t>
            </a:r>
            <a:r>
              <a:rPr sz="2000" b="0" spc="-3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within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quotation</a:t>
            </a:r>
            <a:r>
              <a:rPr sz="2000" b="0" spc="-40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marks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Mention</a:t>
            </a:r>
            <a:r>
              <a:rPr sz="2000" b="0" spc="-4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author’s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last</a:t>
            </a:r>
            <a:r>
              <a:rPr sz="2000" b="0" spc="-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name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and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page</a:t>
            </a:r>
            <a:r>
              <a:rPr sz="2000" b="0" spc="-30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number</a:t>
            </a:r>
            <a:endParaRPr sz="2000">
              <a:latin typeface="Candara"/>
              <a:cs typeface="Candara"/>
            </a:endParaRPr>
          </a:p>
          <a:p>
            <a:pPr marL="469265" indent="-4572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i="1" dirty="0">
                <a:latin typeface="Candara"/>
                <a:cs typeface="Candara"/>
              </a:rPr>
              <a:t>Joseph</a:t>
            </a:r>
            <a:r>
              <a:rPr sz="2000" b="0" i="1" spc="7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Conrad</a:t>
            </a:r>
            <a:r>
              <a:rPr sz="2000" b="0" i="1" spc="8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writes</a:t>
            </a:r>
            <a:r>
              <a:rPr sz="2000" b="0" i="1" spc="6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of</a:t>
            </a:r>
            <a:r>
              <a:rPr sz="2000" b="0" i="1" spc="7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the</a:t>
            </a:r>
            <a:r>
              <a:rPr sz="2000" b="0" i="1" spc="7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company</a:t>
            </a:r>
            <a:r>
              <a:rPr sz="2000" b="0" i="1" spc="8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manager</a:t>
            </a:r>
            <a:r>
              <a:rPr sz="2000" b="0" i="1" spc="7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in</a:t>
            </a:r>
            <a:r>
              <a:rPr sz="2000" b="0" i="1" spc="6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Heart</a:t>
            </a:r>
            <a:r>
              <a:rPr sz="2000" b="0" i="1" spc="6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of</a:t>
            </a:r>
            <a:r>
              <a:rPr sz="2000" b="0" i="1" spc="75" dirty="0">
                <a:latin typeface="Candara"/>
                <a:cs typeface="Candara"/>
              </a:rPr>
              <a:t> </a:t>
            </a:r>
            <a:r>
              <a:rPr sz="2000" b="0" i="1" spc="-10" dirty="0">
                <a:latin typeface="Candara"/>
                <a:cs typeface="Candara"/>
              </a:rPr>
              <a:t>Darkness,</a:t>
            </a:r>
            <a:endParaRPr sz="2000">
              <a:latin typeface="Candara"/>
              <a:cs typeface="Candara"/>
            </a:endParaRPr>
          </a:p>
          <a:p>
            <a:pPr marL="469265" marR="5080">
              <a:lnSpc>
                <a:spcPct val="150000"/>
              </a:lnSpc>
              <a:spcBef>
                <a:spcPts val="5"/>
              </a:spcBef>
            </a:pPr>
            <a:r>
              <a:rPr sz="2000" b="0" i="1" dirty="0">
                <a:latin typeface="Candara"/>
                <a:cs typeface="Candara"/>
              </a:rPr>
              <a:t>“He</a:t>
            </a:r>
            <a:r>
              <a:rPr sz="2000" b="0" i="1" spc="45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was</a:t>
            </a:r>
            <a:r>
              <a:rPr sz="2000" b="0" i="1" spc="48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obeyed,</a:t>
            </a:r>
            <a:r>
              <a:rPr sz="2000" b="0" i="1" spc="459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yet</a:t>
            </a:r>
            <a:r>
              <a:rPr sz="2000" b="0" i="1" spc="459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he</a:t>
            </a:r>
            <a:r>
              <a:rPr sz="2000" b="0" i="1" spc="45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inspired</a:t>
            </a:r>
            <a:r>
              <a:rPr sz="2000" b="0" i="1" spc="47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neither</a:t>
            </a:r>
            <a:r>
              <a:rPr sz="2000" b="0" i="1" spc="46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love</a:t>
            </a:r>
            <a:r>
              <a:rPr sz="2000" b="0" i="1" spc="484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nor</a:t>
            </a:r>
            <a:r>
              <a:rPr sz="2000" b="0" i="1" spc="46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fear,</a:t>
            </a:r>
            <a:r>
              <a:rPr sz="2000" b="0" i="1" spc="48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nor</a:t>
            </a:r>
            <a:r>
              <a:rPr sz="2000" b="0" i="1" spc="475" dirty="0">
                <a:latin typeface="Candara"/>
                <a:cs typeface="Candara"/>
              </a:rPr>
              <a:t> </a:t>
            </a:r>
            <a:r>
              <a:rPr sz="2000" b="0" i="1" spc="-20" dirty="0">
                <a:latin typeface="Candara"/>
                <a:cs typeface="Candara"/>
              </a:rPr>
              <a:t>even </a:t>
            </a:r>
            <a:r>
              <a:rPr sz="2000" b="0" i="1" dirty="0">
                <a:latin typeface="Candara"/>
                <a:cs typeface="Candara"/>
              </a:rPr>
              <a:t>respect”</a:t>
            </a:r>
            <a:r>
              <a:rPr sz="2000" b="0" i="1" spc="-70" dirty="0">
                <a:latin typeface="Candara"/>
                <a:cs typeface="Candara"/>
              </a:rPr>
              <a:t> </a:t>
            </a:r>
            <a:r>
              <a:rPr sz="2000" b="0" i="1" spc="-20" dirty="0">
                <a:latin typeface="Candara"/>
                <a:cs typeface="Candara"/>
              </a:rPr>
              <a:t>(87)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i="1" dirty="0">
                <a:latin typeface="Candara"/>
                <a:cs typeface="Candara"/>
              </a:rPr>
              <a:t>“The</a:t>
            </a:r>
            <a:r>
              <a:rPr sz="2000" b="0" i="1" spc="5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red</a:t>
            </a:r>
            <a:r>
              <a:rPr sz="2000" b="0" i="1" spc="6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tree</a:t>
            </a:r>
            <a:r>
              <a:rPr sz="2000" b="0" i="1" spc="5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vole</a:t>
            </a:r>
            <a:r>
              <a:rPr sz="2000" b="0" i="1" spc="5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is</a:t>
            </a:r>
            <a:r>
              <a:rPr sz="2000" b="0" i="1" spc="6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a</a:t>
            </a:r>
            <a:r>
              <a:rPr sz="2000" b="0" i="1" spc="6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crucial</a:t>
            </a:r>
            <a:r>
              <a:rPr sz="2000" b="0" i="1" spc="5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part</a:t>
            </a:r>
            <a:r>
              <a:rPr sz="2000" b="0" i="1" spc="6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of</a:t>
            </a:r>
            <a:r>
              <a:rPr sz="2000" b="0" i="1" spc="5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the</a:t>
            </a:r>
            <a:r>
              <a:rPr sz="2000" b="0" i="1" spc="55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spotted</a:t>
            </a:r>
            <a:r>
              <a:rPr sz="2000" b="0" i="1" spc="6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owl's</a:t>
            </a:r>
            <a:r>
              <a:rPr sz="2000" b="0" i="1" spc="60" dirty="0">
                <a:latin typeface="Candara"/>
                <a:cs typeface="Candara"/>
              </a:rPr>
              <a:t> </a:t>
            </a:r>
            <a:r>
              <a:rPr sz="2000" b="0" i="1" dirty="0">
                <a:latin typeface="Candara"/>
                <a:cs typeface="Candara"/>
              </a:rPr>
              <a:t>diet”</a:t>
            </a:r>
            <a:r>
              <a:rPr sz="2000" b="0" i="1" spc="55" dirty="0">
                <a:latin typeface="Candara"/>
                <a:cs typeface="Candara"/>
              </a:rPr>
              <a:t> </a:t>
            </a:r>
            <a:r>
              <a:rPr sz="2000" b="0" i="1" spc="-10" dirty="0">
                <a:latin typeface="Candara"/>
                <a:cs typeface="Candara"/>
              </a:rPr>
              <a:t>(Moone</a:t>
            </a:r>
            <a:endParaRPr sz="2000">
              <a:latin typeface="Candara"/>
              <a:cs typeface="Candara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</a:pPr>
            <a:r>
              <a:rPr sz="2000" b="0" i="1" spc="-25" dirty="0">
                <a:latin typeface="Candara"/>
                <a:cs typeface="Candara"/>
              </a:rPr>
              <a:t>15)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13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190500" y="3046983"/>
            <a:ext cx="838200" cy="1090930"/>
            <a:chOff x="190500" y="3046983"/>
            <a:chExt cx="838200" cy="109093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046983"/>
              <a:ext cx="838200" cy="64960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488054"/>
              <a:ext cx="838200" cy="649604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4836795"/>
            <a:ext cx="838200" cy="6496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09609" y="6457289"/>
            <a:ext cx="13208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888888"/>
                </a:solidFill>
                <a:latin typeface="Calibri"/>
                <a:cs typeface="Calibri"/>
              </a:rPr>
              <a:t>14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5" name="object 5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36142" y="1542989"/>
            <a:ext cx="7693659" cy="47174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Modern</a:t>
            </a:r>
            <a:r>
              <a:rPr sz="2400" b="1" spc="-6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Language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Association</a:t>
            </a:r>
            <a:r>
              <a:rPr sz="2400" b="1" spc="-2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(MLA)</a:t>
            </a:r>
            <a:r>
              <a:rPr sz="2400" b="1" spc="-4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[2/4]</a:t>
            </a:r>
            <a:endParaRPr sz="24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dirty="0">
                <a:latin typeface="Candara"/>
                <a:cs typeface="Candara"/>
              </a:rPr>
              <a:t>Block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Quotes: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quotations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longer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than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4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lines</a:t>
            </a:r>
            <a:endParaRPr sz="20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dirty="0">
                <a:latin typeface="Candara"/>
                <a:cs typeface="Candara"/>
              </a:rPr>
              <a:t>Placed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separately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indented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by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1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inch</a:t>
            </a:r>
            <a:endParaRPr sz="2000">
              <a:latin typeface="Candara"/>
              <a:cs typeface="Candara"/>
            </a:endParaRPr>
          </a:p>
          <a:p>
            <a:pPr marL="464820" marR="6985" indent="-452755" algn="just">
              <a:lnSpc>
                <a:spcPct val="15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i="1" dirty="0">
                <a:latin typeface="Candara"/>
                <a:cs typeface="Candara"/>
              </a:rPr>
              <a:t>At</a:t>
            </a:r>
            <a:r>
              <a:rPr sz="2000" i="1" spc="434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434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conclusion</a:t>
            </a:r>
            <a:r>
              <a:rPr sz="2000" i="1" spc="44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4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Lord</a:t>
            </a:r>
            <a:r>
              <a:rPr sz="2000" i="1" spc="4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4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43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Flies,</a:t>
            </a:r>
            <a:r>
              <a:rPr sz="2000" i="1" spc="43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Ralph</a:t>
            </a:r>
            <a:r>
              <a:rPr sz="2000" i="1" spc="4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and</a:t>
            </a:r>
            <a:r>
              <a:rPr sz="2000" i="1" spc="4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43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other</a:t>
            </a:r>
            <a:r>
              <a:rPr sz="2000" i="1" spc="440" dirty="0">
                <a:latin typeface="Candara"/>
                <a:cs typeface="Candara"/>
              </a:rPr>
              <a:t> </a:t>
            </a:r>
            <a:r>
              <a:rPr sz="2000" i="1" spc="-20" dirty="0">
                <a:latin typeface="Candara"/>
                <a:cs typeface="Candara"/>
              </a:rPr>
              <a:t>boys 	</a:t>
            </a:r>
            <a:r>
              <a:rPr sz="2000" i="1" dirty="0">
                <a:latin typeface="Candara"/>
                <a:cs typeface="Candara"/>
              </a:rPr>
              <a:t>realize</a:t>
            </a:r>
            <a:r>
              <a:rPr sz="2000" i="1" spc="-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-1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horror</a:t>
            </a:r>
            <a:r>
              <a:rPr sz="2000" i="1" spc="-2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-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their</a:t>
            </a:r>
            <a:r>
              <a:rPr sz="2000" i="1" spc="-30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actions:</a:t>
            </a:r>
            <a:endParaRPr sz="2000">
              <a:latin typeface="Candara"/>
              <a:cs typeface="Candara"/>
            </a:endParaRPr>
          </a:p>
          <a:p>
            <a:pPr marL="926465" marR="5080" lvl="1" indent="-457200" algn="just">
              <a:lnSpc>
                <a:spcPct val="150000"/>
              </a:lnSpc>
              <a:spcBef>
                <a:spcPts val="5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5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tears</a:t>
            </a:r>
            <a:r>
              <a:rPr sz="2000" i="1" spc="7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began</a:t>
            </a:r>
            <a:r>
              <a:rPr sz="2000" i="1" spc="6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to</a:t>
            </a:r>
            <a:r>
              <a:rPr sz="2000" i="1" spc="6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flow</a:t>
            </a:r>
            <a:r>
              <a:rPr sz="2000" i="1" spc="7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and</a:t>
            </a:r>
            <a:r>
              <a:rPr sz="2000" i="1" spc="7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sobs</a:t>
            </a:r>
            <a:r>
              <a:rPr sz="2000" i="1" spc="8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shook</a:t>
            </a:r>
            <a:r>
              <a:rPr sz="2000" i="1" spc="6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him.</a:t>
            </a:r>
            <a:r>
              <a:rPr sz="2000" i="1" spc="6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He</a:t>
            </a:r>
            <a:r>
              <a:rPr sz="2000" i="1" spc="5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gave</a:t>
            </a:r>
            <a:r>
              <a:rPr sz="2000" i="1" spc="6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himself</a:t>
            </a:r>
            <a:r>
              <a:rPr sz="2000" i="1" spc="60" dirty="0">
                <a:latin typeface="Candara"/>
                <a:cs typeface="Candara"/>
              </a:rPr>
              <a:t> </a:t>
            </a:r>
            <a:r>
              <a:rPr sz="2000" i="1" spc="-25" dirty="0">
                <a:latin typeface="Candara"/>
                <a:cs typeface="Candara"/>
              </a:rPr>
              <a:t>up </a:t>
            </a:r>
            <a:r>
              <a:rPr sz="2000" i="1" dirty="0">
                <a:latin typeface="Candara"/>
                <a:cs typeface="Candara"/>
              </a:rPr>
              <a:t>to</a:t>
            </a:r>
            <a:r>
              <a:rPr sz="2000" i="1" spc="18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them</a:t>
            </a:r>
            <a:r>
              <a:rPr sz="2000" i="1" spc="18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now</a:t>
            </a:r>
            <a:r>
              <a:rPr sz="2000" i="1" spc="19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for</a:t>
            </a:r>
            <a:r>
              <a:rPr sz="2000" i="1" spc="1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18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first</a:t>
            </a:r>
            <a:r>
              <a:rPr sz="2000" i="1" spc="18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time</a:t>
            </a:r>
            <a:r>
              <a:rPr sz="2000" i="1" spc="19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on</a:t>
            </a:r>
            <a:r>
              <a:rPr sz="2000" i="1" spc="18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18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island;</a:t>
            </a:r>
            <a:r>
              <a:rPr sz="2000" i="1" spc="19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great,</a:t>
            </a:r>
            <a:r>
              <a:rPr sz="2000" i="1" spc="185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shuddering </a:t>
            </a:r>
            <a:r>
              <a:rPr sz="2000" i="1" dirty="0">
                <a:latin typeface="Candara"/>
                <a:cs typeface="Candara"/>
              </a:rPr>
              <a:t>spasms</a:t>
            </a:r>
            <a:r>
              <a:rPr sz="2000" i="1" spc="5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5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grief</a:t>
            </a:r>
            <a:r>
              <a:rPr sz="2000" i="1" spc="5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that</a:t>
            </a:r>
            <a:r>
              <a:rPr sz="2000" i="1" spc="4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seemed</a:t>
            </a:r>
            <a:r>
              <a:rPr sz="2000" i="1" spc="4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to</a:t>
            </a:r>
            <a:r>
              <a:rPr sz="2000" i="1" spc="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wrench</a:t>
            </a:r>
            <a:r>
              <a:rPr sz="2000" i="1" spc="4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his</a:t>
            </a:r>
            <a:r>
              <a:rPr sz="2000" i="1" spc="5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whole</a:t>
            </a:r>
            <a:r>
              <a:rPr sz="2000" i="1" spc="3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body.</a:t>
            </a:r>
            <a:r>
              <a:rPr sz="2000" i="1" spc="4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His</a:t>
            </a:r>
            <a:r>
              <a:rPr sz="2000" i="1" spc="45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voice </a:t>
            </a:r>
            <a:r>
              <a:rPr sz="2000" i="1" dirty="0">
                <a:latin typeface="Candara"/>
                <a:cs typeface="Candara"/>
              </a:rPr>
              <a:t>rose</a:t>
            </a:r>
            <a:r>
              <a:rPr sz="2000" i="1" spc="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under</a:t>
            </a:r>
            <a:r>
              <a:rPr sz="2000" i="1" spc="10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black</a:t>
            </a:r>
            <a:r>
              <a:rPr sz="2000" i="1" spc="11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smoke</a:t>
            </a:r>
            <a:r>
              <a:rPr sz="2000" i="1" spc="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before</a:t>
            </a:r>
            <a:r>
              <a:rPr sz="2000" i="1" spc="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burning</a:t>
            </a:r>
            <a:r>
              <a:rPr sz="2000" i="1" spc="10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wreckage</a:t>
            </a:r>
            <a:r>
              <a:rPr sz="2000" i="1" spc="9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105" dirty="0">
                <a:latin typeface="Candara"/>
                <a:cs typeface="Candara"/>
              </a:rPr>
              <a:t> </a:t>
            </a:r>
            <a:r>
              <a:rPr sz="2000" i="1" spc="-25" dirty="0">
                <a:latin typeface="Candara"/>
                <a:cs typeface="Candara"/>
              </a:rPr>
              <a:t>the </a:t>
            </a:r>
            <a:r>
              <a:rPr sz="2000" i="1" dirty="0">
                <a:latin typeface="Candara"/>
                <a:cs typeface="Candara"/>
              </a:rPr>
              <a:t>island;</a:t>
            </a:r>
            <a:r>
              <a:rPr sz="2000" i="1" spc="7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and</a:t>
            </a:r>
            <a:r>
              <a:rPr sz="2000" i="1" spc="8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infected</a:t>
            </a:r>
            <a:r>
              <a:rPr sz="2000" i="1" spc="8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by</a:t>
            </a:r>
            <a:r>
              <a:rPr sz="2000" i="1" spc="9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that</a:t>
            </a:r>
            <a:r>
              <a:rPr sz="2000" i="1" spc="8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emotion,</a:t>
            </a:r>
            <a:r>
              <a:rPr sz="2000" i="1" spc="7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8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other</a:t>
            </a:r>
            <a:r>
              <a:rPr sz="2000" i="1" spc="7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little</a:t>
            </a:r>
            <a:r>
              <a:rPr sz="2000" i="1" spc="7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boys</a:t>
            </a:r>
            <a:r>
              <a:rPr sz="2000" i="1" spc="85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began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850517" y="6386576"/>
            <a:ext cx="283972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i="1" dirty="0">
                <a:latin typeface="Candara"/>
                <a:cs typeface="Candara"/>
              </a:rPr>
              <a:t>to</a:t>
            </a:r>
            <a:r>
              <a:rPr sz="2000" i="1" spc="-4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shake</a:t>
            </a:r>
            <a:r>
              <a:rPr sz="2000" i="1" spc="-2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and</a:t>
            </a:r>
            <a:r>
              <a:rPr sz="2000" i="1" spc="-1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sob</a:t>
            </a:r>
            <a:r>
              <a:rPr sz="2000" i="1" spc="-1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too.</a:t>
            </a:r>
            <a:r>
              <a:rPr sz="2000" i="1" spc="-15" dirty="0">
                <a:latin typeface="Candara"/>
                <a:cs typeface="Candara"/>
              </a:rPr>
              <a:t> </a:t>
            </a:r>
            <a:r>
              <a:rPr sz="2000" i="1" spc="-20" dirty="0">
                <a:latin typeface="Candara"/>
                <a:cs typeface="Candara"/>
              </a:rPr>
              <a:t>(186)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190500" y="2133600"/>
            <a:ext cx="838200" cy="1563370"/>
            <a:chOff x="190500" y="2133600"/>
            <a:chExt cx="838200" cy="1563370"/>
          </a:xfrm>
        </p:grpSpPr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046983"/>
              <a:ext cx="838200" cy="64960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577337"/>
              <a:ext cx="838200" cy="649604"/>
            </a:xfrm>
            <a:prstGeom prst="rect">
              <a:avLst/>
            </a:prstGeom>
          </p:spPr>
        </p:pic>
      </p:grpSp>
      <p:pic>
        <p:nvPicPr>
          <p:cNvPr id="20" name="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15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89850" cy="33458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Modern</a:t>
            </a:r>
            <a:r>
              <a:rPr sz="2400" b="1" spc="-6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Language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Association</a:t>
            </a:r>
            <a:r>
              <a:rPr sz="2400" b="1" spc="-2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(MLA)</a:t>
            </a:r>
            <a:r>
              <a:rPr sz="2400" b="1" spc="-4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[3/4]</a:t>
            </a:r>
            <a:endParaRPr sz="24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Indirect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Quote: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First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suggestion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is that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try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cite</a:t>
            </a:r>
            <a:r>
              <a:rPr sz="2000" spc="-10" dirty="0">
                <a:latin typeface="Candara"/>
                <a:cs typeface="Candara"/>
              </a:rPr>
              <a:t> directly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Name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primary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source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original</a:t>
            </a:r>
            <a:r>
              <a:rPr sz="2000" spc="1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phrase</a:t>
            </a:r>
            <a:endParaRPr sz="2000">
              <a:latin typeface="Candara"/>
              <a:cs typeface="Candara"/>
            </a:endParaRPr>
          </a:p>
          <a:p>
            <a:pPr marL="469265" marR="5080" indent="-457200">
              <a:lnSpc>
                <a:spcPct val="15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Include</a:t>
            </a:r>
            <a:r>
              <a:rPr sz="2000" spc="2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secondary</a:t>
            </a:r>
            <a:r>
              <a:rPr sz="2000" spc="1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source</a:t>
            </a:r>
            <a:r>
              <a:rPr sz="2000" spc="2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1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parentheses</a:t>
            </a:r>
            <a:r>
              <a:rPr sz="2000" spc="1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with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qtd.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18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(quoted </a:t>
            </a:r>
            <a:r>
              <a:rPr sz="2000" spc="-25" dirty="0">
                <a:latin typeface="Candara"/>
                <a:cs typeface="Candara"/>
              </a:rPr>
              <a:t>in)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Include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indirect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source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work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cited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list.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For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example:</a:t>
            </a:r>
            <a:endParaRPr sz="2000">
              <a:latin typeface="Candara"/>
              <a:cs typeface="Candara"/>
            </a:endParaRPr>
          </a:p>
          <a:p>
            <a:pPr marL="926465" lvl="1" indent="-457200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i="1" dirty="0">
                <a:latin typeface="Candara"/>
                <a:cs typeface="Candara"/>
              </a:rPr>
              <a:t>Jackson</a:t>
            </a:r>
            <a:r>
              <a:rPr sz="2000" i="1" spc="-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stated</a:t>
            </a:r>
            <a:r>
              <a:rPr sz="2000" i="1" spc="-3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that...</a:t>
            </a:r>
            <a:r>
              <a:rPr sz="2000" i="1" spc="-6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(qtd.</a:t>
            </a:r>
            <a:r>
              <a:rPr sz="2000" i="1" spc="-6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in</a:t>
            </a:r>
            <a:r>
              <a:rPr sz="2000" i="1" spc="-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Johns</a:t>
            </a:r>
            <a:r>
              <a:rPr sz="2000" i="1" spc="-35" dirty="0">
                <a:latin typeface="Candara"/>
                <a:cs typeface="Candara"/>
              </a:rPr>
              <a:t> </a:t>
            </a:r>
            <a:r>
              <a:rPr sz="2000" i="1" spc="-25" dirty="0">
                <a:latin typeface="Candara"/>
                <a:cs typeface="Candara"/>
              </a:rPr>
              <a:t>14)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90500" y="2133600"/>
            <a:ext cx="838200" cy="1563370"/>
            <a:chOff x="190500" y="2133600"/>
            <a:chExt cx="838200" cy="156337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046983"/>
              <a:ext cx="838200" cy="6496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577337"/>
              <a:ext cx="838200" cy="649604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960495"/>
            <a:ext cx="838200" cy="649605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16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3025" cy="38030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Modern</a:t>
            </a:r>
            <a:r>
              <a:rPr sz="2400" b="1" spc="-6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Language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Association</a:t>
            </a:r>
            <a:r>
              <a:rPr sz="2400" b="1" spc="-2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(MLA)</a:t>
            </a:r>
            <a:r>
              <a:rPr sz="2400" b="1" spc="-4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[4/4]</a:t>
            </a:r>
            <a:endParaRPr sz="24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dirty="0">
                <a:latin typeface="Candara"/>
                <a:cs typeface="Candara"/>
              </a:rPr>
              <a:t>In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case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2-</a:t>
            </a:r>
            <a:r>
              <a:rPr sz="2000" dirty="0">
                <a:latin typeface="Candara"/>
                <a:cs typeface="Candara"/>
              </a:rPr>
              <a:t>3 </a:t>
            </a:r>
            <a:r>
              <a:rPr sz="2000" spc="-10" dirty="0">
                <a:latin typeface="Candara"/>
                <a:cs typeface="Candara"/>
              </a:rPr>
              <a:t>authors:</a:t>
            </a:r>
            <a:endParaRPr sz="2000">
              <a:latin typeface="Candara"/>
              <a:cs typeface="Candara"/>
            </a:endParaRPr>
          </a:p>
          <a:p>
            <a:pPr marL="926465" marR="5715" lvl="1" indent="-457200" algn="just">
              <a:lnSpc>
                <a:spcPct val="150000"/>
              </a:lnSpc>
              <a:buFont typeface="Courier New"/>
              <a:buChar char="o"/>
              <a:tabLst>
                <a:tab pos="926465" algn="l"/>
              </a:tabLst>
            </a:pPr>
            <a:r>
              <a:rPr sz="2000" i="1" dirty="0">
                <a:latin typeface="Candara"/>
                <a:cs typeface="Candara"/>
              </a:rPr>
              <a:t>Studies</a:t>
            </a:r>
            <a:r>
              <a:rPr sz="2000" i="1" spc="16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have</a:t>
            </a:r>
            <a:r>
              <a:rPr sz="2000" i="1" spc="17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shown</a:t>
            </a:r>
            <a:r>
              <a:rPr sz="2000" i="1" spc="17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that</a:t>
            </a:r>
            <a:r>
              <a:rPr sz="2000" i="1" spc="17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more</a:t>
            </a:r>
            <a:r>
              <a:rPr sz="2000" i="1" spc="16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and</a:t>
            </a:r>
            <a:r>
              <a:rPr sz="2000" i="1" spc="17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more</a:t>
            </a:r>
            <a:r>
              <a:rPr sz="2000" i="1" spc="16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teachers</a:t>
            </a:r>
            <a:r>
              <a:rPr sz="2000" i="1" spc="18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are</a:t>
            </a:r>
            <a:r>
              <a:rPr sz="2000" i="1" spc="175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changing </a:t>
            </a:r>
            <a:r>
              <a:rPr sz="2000" i="1" dirty="0">
                <a:latin typeface="Candara"/>
                <a:cs typeface="Candara"/>
              </a:rPr>
              <a:t>careers</a:t>
            </a:r>
            <a:r>
              <a:rPr sz="2000" i="1" spc="3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after</a:t>
            </a:r>
            <a:r>
              <a:rPr sz="2000" i="1" spc="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their</a:t>
            </a:r>
            <a:r>
              <a:rPr sz="2000" i="1" spc="3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first</a:t>
            </a:r>
            <a:r>
              <a:rPr sz="2000" i="1" spc="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year</a:t>
            </a:r>
            <a:r>
              <a:rPr sz="2000" i="1" spc="4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5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teaching.</a:t>
            </a:r>
            <a:r>
              <a:rPr sz="2000" i="1" spc="4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(Posamentier,</a:t>
            </a:r>
            <a:r>
              <a:rPr sz="2000" i="1" spc="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Jaye,</a:t>
            </a:r>
            <a:r>
              <a:rPr sz="2000" i="1" spc="45" dirty="0">
                <a:latin typeface="Candara"/>
                <a:cs typeface="Candara"/>
              </a:rPr>
              <a:t> </a:t>
            </a:r>
            <a:r>
              <a:rPr sz="2000" i="1" spc="-25" dirty="0">
                <a:latin typeface="Candara"/>
                <a:cs typeface="Candara"/>
              </a:rPr>
              <a:t>and </a:t>
            </a:r>
            <a:r>
              <a:rPr sz="2000" i="1" dirty="0">
                <a:latin typeface="Candara"/>
                <a:cs typeface="Candara"/>
              </a:rPr>
              <a:t>Krulik</a:t>
            </a:r>
            <a:r>
              <a:rPr sz="2000" i="1" spc="-25" dirty="0">
                <a:latin typeface="Candara"/>
                <a:cs typeface="Candara"/>
              </a:rPr>
              <a:t> 55)</a:t>
            </a:r>
            <a:endParaRPr sz="20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dirty="0">
                <a:latin typeface="Candara"/>
                <a:cs typeface="Candara"/>
              </a:rPr>
              <a:t>In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case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more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than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3</a:t>
            </a:r>
            <a:r>
              <a:rPr sz="2000" spc="-10" dirty="0">
                <a:latin typeface="Candara"/>
                <a:cs typeface="Candara"/>
              </a:rPr>
              <a:t> authors:</a:t>
            </a:r>
            <a:endParaRPr sz="2000">
              <a:latin typeface="Candara"/>
              <a:cs typeface="Candara"/>
            </a:endParaRPr>
          </a:p>
          <a:p>
            <a:pPr marL="926465" marR="5080" lvl="1" indent="-457200" algn="just">
              <a:lnSpc>
                <a:spcPct val="150000"/>
              </a:lnSpc>
              <a:buFont typeface="Courier New"/>
              <a:buChar char="o"/>
              <a:tabLst>
                <a:tab pos="926465" algn="l"/>
              </a:tabLst>
            </a:pPr>
            <a:r>
              <a:rPr sz="2000" i="1" dirty="0">
                <a:latin typeface="Candara"/>
                <a:cs typeface="Candara"/>
              </a:rPr>
              <a:t>Stutts</a:t>
            </a:r>
            <a:r>
              <a:rPr sz="2000" i="1" spc="1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et.</a:t>
            </a:r>
            <a:r>
              <a:rPr sz="2000" i="1" spc="12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al.</a:t>
            </a:r>
            <a:r>
              <a:rPr sz="2000" i="1" spc="12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argue</a:t>
            </a:r>
            <a:r>
              <a:rPr sz="2000" i="1" spc="12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that</a:t>
            </a:r>
            <a:r>
              <a:rPr sz="2000" i="1" spc="13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language</a:t>
            </a:r>
            <a:r>
              <a:rPr sz="2000" i="1" spc="1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development</a:t>
            </a:r>
            <a:r>
              <a:rPr sz="2000" i="1" spc="12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may</a:t>
            </a:r>
            <a:r>
              <a:rPr sz="2000" i="1" spc="13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also</a:t>
            </a:r>
            <a:r>
              <a:rPr sz="2000" i="1" spc="135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impact </a:t>
            </a:r>
            <a:r>
              <a:rPr sz="2000" i="1" dirty="0">
                <a:latin typeface="Candara"/>
                <a:cs typeface="Candara"/>
              </a:rPr>
              <a:t>development</a:t>
            </a:r>
            <a:r>
              <a:rPr sz="2000" i="1" spc="-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in</a:t>
            </a:r>
            <a:r>
              <a:rPr sz="2000" i="1" spc="-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related</a:t>
            </a:r>
            <a:r>
              <a:rPr sz="2000" i="1" spc="-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parts</a:t>
            </a:r>
            <a:r>
              <a:rPr sz="2000" i="1" spc="-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-1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-3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brain</a:t>
            </a:r>
            <a:r>
              <a:rPr sz="2000" i="1" spc="-20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(339)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960495"/>
            <a:ext cx="838200" cy="649605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17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4019550" cy="151638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Works</a:t>
            </a:r>
            <a:r>
              <a:rPr sz="2400" b="1" spc="-7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Cited</a:t>
            </a:r>
            <a:r>
              <a:rPr sz="2400" b="1" spc="-6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List</a:t>
            </a:r>
            <a:r>
              <a:rPr sz="2400" b="1" spc="-55" dirty="0">
                <a:latin typeface="Candara"/>
                <a:cs typeface="Candara"/>
              </a:rPr>
              <a:t> </a:t>
            </a:r>
            <a:r>
              <a:rPr sz="2400" b="1" spc="-20" dirty="0">
                <a:latin typeface="Candara"/>
                <a:cs typeface="Candara"/>
              </a:rPr>
              <a:t>[1/2]</a:t>
            </a:r>
            <a:endParaRPr sz="2400">
              <a:latin typeface="Candara"/>
              <a:cs typeface="Candara"/>
            </a:endParaRPr>
          </a:p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  <a:tab pos="829310" algn="l"/>
                <a:tab pos="1459230" algn="l"/>
                <a:tab pos="1840230" algn="l"/>
                <a:tab pos="2118995" algn="l"/>
                <a:tab pos="2893060" algn="l"/>
              </a:tabLst>
            </a:pPr>
            <a:r>
              <a:rPr sz="2000" spc="-25" dirty="0">
                <a:latin typeface="Candara"/>
                <a:cs typeface="Candara"/>
              </a:rPr>
              <a:t>In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case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of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50" dirty="0">
                <a:latin typeface="Candara"/>
                <a:cs typeface="Candara"/>
              </a:rPr>
              <a:t>a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Book: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Lastname, </a:t>
            </a:r>
            <a:r>
              <a:rPr sz="2000" dirty="0">
                <a:latin typeface="Candara"/>
                <a:cs typeface="Candara"/>
              </a:rPr>
              <a:t>Publisher,</a:t>
            </a:r>
            <a:r>
              <a:rPr sz="2000" spc="-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Year.</a:t>
            </a:r>
            <a:r>
              <a:rPr sz="2000" spc="-7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Format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082032" y="2270887"/>
            <a:ext cx="354711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296035" algn="l"/>
                <a:tab pos="1913255" algn="l"/>
                <a:tab pos="2292350" algn="l"/>
                <a:tab pos="3065780" algn="l"/>
              </a:tabLst>
            </a:pPr>
            <a:r>
              <a:rPr sz="2000" spc="-10" dirty="0">
                <a:latin typeface="Candara"/>
                <a:cs typeface="Candara"/>
              </a:rPr>
              <a:t>Firstname.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Title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of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Book.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City: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6142" y="3046247"/>
            <a:ext cx="7689850" cy="3305810"/>
          </a:xfrm>
          <a:prstGeom prst="rect">
            <a:avLst/>
          </a:prstGeom>
        </p:spPr>
        <p:txBody>
          <a:bodyPr vert="horz" wrap="square" lIns="0" tIns="134620" rIns="0" bIns="0" rtlCol="0">
            <a:spAutoFit/>
          </a:bodyPr>
          <a:lstStyle/>
          <a:p>
            <a:pPr marL="926465" indent="-457200">
              <a:lnSpc>
                <a:spcPct val="100000"/>
              </a:lnSpc>
              <a:spcBef>
                <a:spcPts val="1060"/>
              </a:spcBef>
              <a:buFont typeface="Courier New"/>
              <a:buChar char="o"/>
              <a:tabLst>
                <a:tab pos="926465" algn="l"/>
              </a:tabLst>
            </a:pPr>
            <a:r>
              <a:rPr sz="1600" i="1" dirty="0">
                <a:latin typeface="Candara"/>
                <a:cs typeface="Candara"/>
              </a:rPr>
              <a:t>Picoult,</a:t>
            </a:r>
            <a:r>
              <a:rPr sz="1600" i="1" spc="-5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Jodi.</a:t>
            </a:r>
            <a:r>
              <a:rPr sz="1600" i="1" spc="-35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The</a:t>
            </a:r>
            <a:r>
              <a:rPr sz="1600" i="1" spc="-4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Storyteller:</a:t>
            </a:r>
            <a:r>
              <a:rPr sz="1600" i="1" spc="-5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A</a:t>
            </a:r>
            <a:r>
              <a:rPr sz="1600" i="1" spc="-5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Novel.</a:t>
            </a:r>
            <a:r>
              <a:rPr sz="1600" i="1" spc="-35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New</a:t>
            </a:r>
            <a:r>
              <a:rPr sz="1600" i="1" spc="-35" dirty="0">
                <a:latin typeface="Candara"/>
                <a:cs typeface="Candara"/>
              </a:rPr>
              <a:t> </a:t>
            </a:r>
            <a:r>
              <a:rPr sz="1600" i="1" spc="-10" dirty="0">
                <a:latin typeface="Candara"/>
                <a:cs typeface="Candara"/>
              </a:rPr>
              <a:t>York:</a:t>
            </a:r>
            <a:r>
              <a:rPr sz="1600" i="1" spc="-35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Emily</a:t>
            </a:r>
            <a:r>
              <a:rPr sz="1600" i="1" spc="-40" dirty="0">
                <a:latin typeface="Candara"/>
                <a:cs typeface="Candara"/>
              </a:rPr>
              <a:t> </a:t>
            </a:r>
            <a:r>
              <a:rPr sz="1600" i="1" spc="-10" dirty="0">
                <a:latin typeface="Candara"/>
                <a:cs typeface="Candara"/>
              </a:rPr>
              <a:t>Bestler,</a:t>
            </a:r>
            <a:r>
              <a:rPr sz="1600" i="1" spc="-25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2013.</a:t>
            </a:r>
            <a:r>
              <a:rPr sz="1600" i="1" spc="-45" dirty="0">
                <a:latin typeface="Candara"/>
                <a:cs typeface="Candara"/>
              </a:rPr>
              <a:t> </a:t>
            </a:r>
            <a:r>
              <a:rPr sz="1600" i="1" spc="-10" dirty="0">
                <a:latin typeface="Candara"/>
                <a:cs typeface="Candara"/>
              </a:rPr>
              <a:t>Print</a:t>
            </a:r>
            <a:endParaRPr sz="1600">
              <a:latin typeface="Candara"/>
              <a:cs typeface="Candara"/>
            </a:endParaRPr>
          </a:p>
          <a:p>
            <a:pPr marL="926465" marR="5080" indent="-457200">
              <a:lnSpc>
                <a:spcPct val="150000"/>
              </a:lnSpc>
              <a:buFont typeface="Courier New"/>
              <a:buChar char="o"/>
              <a:tabLst>
                <a:tab pos="926465" algn="l"/>
              </a:tabLst>
            </a:pPr>
            <a:r>
              <a:rPr sz="1600" i="1" spc="-10" dirty="0">
                <a:latin typeface="Candara"/>
                <a:cs typeface="Candara"/>
              </a:rPr>
              <a:t>Posamentier,</a:t>
            </a:r>
            <a:r>
              <a:rPr sz="1600" i="1" spc="10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Alfred</a:t>
            </a:r>
            <a:r>
              <a:rPr sz="1600" i="1" spc="11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S.,</a:t>
            </a:r>
            <a:r>
              <a:rPr sz="1600" i="1" spc="105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Daniel</a:t>
            </a:r>
            <a:r>
              <a:rPr sz="1600" i="1" spc="11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Jaye,</a:t>
            </a:r>
            <a:r>
              <a:rPr sz="1600" i="1" spc="9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and</a:t>
            </a:r>
            <a:r>
              <a:rPr sz="1600" i="1" spc="105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Stephen</a:t>
            </a:r>
            <a:r>
              <a:rPr sz="1600" i="1" spc="10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Krulik.</a:t>
            </a:r>
            <a:r>
              <a:rPr sz="1600" i="1" spc="105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Exemplary</a:t>
            </a:r>
            <a:r>
              <a:rPr sz="1600" i="1" spc="10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Practices</a:t>
            </a:r>
            <a:r>
              <a:rPr sz="1600" i="1" spc="105" dirty="0">
                <a:latin typeface="Candara"/>
                <a:cs typeface="Candara"/>
              </a:rPr>
              <a:t> </a:t>
            </a:r>
            <a:r>
              <a:rPr sz="1600" i="1" spc="-25" dirty="0">
                <a:latin typeface="Candara"/>
                <a:cs typeface="Candara"/>
              </a:rPr>
              <a:t>for </a:t>
            </a:r>
            <a:r>
              <a:rPr sz="1600" i="1" spc="-10" dirty="0">
                <a:latin typeface="Candara"/>
                <a:cs typeface="Candara"/>
              </a:rPr>
              <a:t>Secondary</a:t>
            </a:r>
            <a:r>
              <a:rPr sz="1600" i="1" spc="-15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Math</a:t>
            </a:r>
            <a:r>
              <a:rPr sz="1600" i="1" spc="-20" dirty="0">
                <a:latin typeface="Candara"/>
                <a:cs typeface="Candara"/>
              </a:rPr>
              <a:t> </a:t>
            </a:r>
            <a:r>
              <a:rPr sz="1600" i="1" spc="-10" dirty="0">
                <a:latin typeface="Candara"/>
                <a:cs typeface="Candara"/>
              </a:rPr>
              <a:t>Teachers.</a:t>
            </a:r>
            <a:endParaRPr sz="1600">
              <a:latin typeface="Candara"/>
              <a:cs typeface="Candara"/>
            </a:endParaRPr>
          </a:p>
          <a:p>
            <a:pPr marL="926465" indent="-457200">
              <a:lnSpc>
                <a:spcPct val="100000"/>
              </a:lnSpc>
              <a:spcBef>
                <a:spcPts val="960"/>
              </a:spcBef>
              <a:buFont typeface="Courier New"/>
              <a:buChar char="o"/>
              <a:tabLst>
                <a:tab pos="926465" algn="l"/>
              </a:tabLst>
            </a:pPr>
            <a:r>
              <a:rPr sz="1600" i="1" dirty="0">
                <a:latin typeface="Candara"/>
                <a:cs typeface="Candara"/>
              </a:rPr>
              <a:t>Alexandria:</a:t>
            </a:r>
            <a:r>
              <a:rPr sz="1600" i="1" spc="-8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Assn.</a:t>
            </a:r>
            <a:r>
              <a:rPr sz="1600" i="1" spc="-75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for</a:t>
            </a:r>
            <a:r>
              <a:rPr sz="1600" i="1" spc="-4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Supervision</a:t>
            </a:r>
            <a:r>
              <a:rPr sz="1600" i="1" spc="-25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and</a:t>
            </a:r>
            <a:r>
              <a:rPr sz="1600" i="1" spc="-7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Curriculum</a:t>
            </a:r>
            <a:r>
              <a:rPr sz="1600" i="1" spc="-50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Development,</a:t>
            </a:r>
            <a:r>
              <a:rPr sz="1600" i="1" spc="-25" dirty="0">
                <a:latin typeface="Candara"/>
                <a:cs typeface="Candara"/>
              </a:rPr>
              <a:t> </a:t>
            </a:r>
            <a:r>
              <a:rPr sz="1600" i="1" dirty="0">
                <a:latin typeface="Candara"/>
                <a:cs typeface="Candara"/>
              </a:rPr>
              <a:t>2007.</a:t>
            </a:r>
            <a:r>
              <a:rPr sz="1600" i="1" spc="-70" dirty="0">
                <a:latin typeface="Candara"/>
                <a:cs typeface="Candara"/>
              </a:rPr>
              <a:t> </a:t>
            </a:r>
            <a:r>
              <a:rPr sz="1600" i="1" spc="-10" dirty="0">
                <a:latin typeface="Candara"/>
                <a:cs typeface="Candara"/>
              </a:rPr>
              <a:t>Print.</a:t>
            </a:r>
            <a:endParaRPr sz="1600">
              <a:latin typeface="Candara"/>
              <a:cs typeface="Candara"/>
            </a:endParaRPr>
          </a:p>
          <a:p>
            <a:pPr marL="469265" marR="6350" indent="-457200">
              <a:lnSpc>
                <a:spcPts val="3600"/>
              </a:lnSpc>
              <a:spcBef>
                <a:spcPts val="22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Article in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Reference Book: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Brown,</a:t>
            </a:r>
            <a:r>
              <a:rPr sz="2000" i="1" spc="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William</a:t>
            </a:r>
            <a:r>
              <a:rPr sz="2000" i="1" spc="1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F.</a:t>
            </a:r>
            <a:r>
              <a:rPr sz="2000" i="1" spc="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“Collie.”</a:t>
            </a:r>
            <a:r>
              <a:rPr sz="2000" i="1" spc="20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Encyclopedia </a:t>
            </a:r>
            <a:r>
              <a:rPr sz="2000" i="1" dirty="0">
                <a:latin typeface="Candara"/>
                <a:cs typeface="Candara"/>
              </a:rPr>
              <a:t>Americana.</a:t>
            </a:r>
            <a:r>
              <a:rPr sz="2000" i="1" spc="-5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Deluxe</a:t>
            </a:r>
            <a:r>
              <a:rPr sz="2000" i="1" spc="-3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Library</a:t>
            </a:r>
            <a:r>
              <a:rPr sz="2000" i="1" spc="-3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ed.</a:t>
            </a:r>
            <a:r>
              <a:rPr sz="2000" i="1" spc="-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1997.</a:t>
            </a:r>
            <a:r>
              <a:rPr sz="2000" i="1" spc="-50" dirty="0">
                <a:latin typeface="Candara"/>
                <a:cs typeface="Candara"/>
              </a:rPr>
              <a:t> </a:t>
            </a:r>
            <a:r>
              <a:rPr sz="2000" i="1" spc="-10" dirty="0">
                <a:latin typeface="Candara"/>
                <a:cs typeface="Candara"/>
              </a:rPr>
              <a:t>Print.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469265" algn="l"/>
                <a:tab pos="818515" algn="l"/>
                <a:tab pos="1437640" algn="l"/>
                <a:tab pos="1807845" algn="l"/>
                <a:tab pos="2213610" algn="l"/>
                <a:tab pos="3171825" algn="l"/>
                <a:tab pos="4121785" algn="l"/>
                <a:tab pos="4886960" algn="l"/>
                <a:tab pos="5866765" algn="l"/>
                <a:tab pos="6400165" algn="l"/>
                <a:tab pos="7391400" algn="l"/>
              </a:tabLst>
            </a:pPr>
            <a:r>
              <a:rPr sz="2000" spc="-25" dirty="0">
                <a:latin typeface="Candara"/>
                <a:cs typeface="Candara"/>
              </a:rPr>
              <a:t>In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case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of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an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E-</a:t>
            </a:r>
            <a:r>
              <a:rPr sz="2000" spc="-20" dirty="0">
                <a:latin typeface="Candara"/>
                <a:cs typeface="Candara"/>
              </a:rPr>
              <a:t>Book: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i="1" spc="-10" dirty="0">
                <a:latin typeface="Candara"/>
                <a:cs typeface="Candara"/>
              </a:rPr>
              <a:t>Rowley,</a:t>
            </a:r>
            <a:r>
              <a:rPr sz="2000" i="1" dirty="0">
                <a:latin typeface="Candara"/>
                <a:cs typeface="Candara"/>
              </a:rPr>
              <a:t>	</a:t>
            </a:r>
            <a:r>
              <a:rPr sz="2000" i="1" spc="-10" dirty="0">
                <a:latin typeface="Candara"/>
                <a:cs typeface="Candara"/>
              </a:rPr>
              <a:t>Hazel.</a:t>
            </a:r>
            <a:r>
              <a:rPr sz="2000" i="1" dirty="0">
                <a:latin typeface="Candara"/>
                <a:cs typeface="Candara"/>
              </a:rPr>
              <a:t>	</a:t>
            </a:r>
            <a:r>
              <a:rPr sz="2000" i="1" spc="-10" dirty="0">
                <a:latin typeface="Candara"/>
                <a:cs typeface="Candara"/>
              </a:rPr>
              <a:t>Franklin</a:t>
            </a:r>
            <a:r>
              <a:rPr sz="2000" i="1" dirty="0">
                <a:latin typeface="Candara"/>
                <a:cs typeface="Candara"/>
              </a:rPr>
              <a:t>	</a:t>
            </a:r>
            <a:r>
              <a:rPr sz="2000" i="1" spc="-25" dirty="0">
                <a:latin typeface="Candara"/>
                <a:cs typeface="Candara"/>
              </a:rPr>
              <a:t>and</a:t>
            </a:r>
            <a:r>
              <a:rPr sz="2000" i="1" dirty="0">
                <a:latin typeface="Candara"/>
                <a:cs typeface="Candara"/>
              </a:rPr>
              <a:t>	</a:t>
            </a:r>
            <a:r>
              <a:rPr sz="2000" i="1" spc="-10" dirty="0">
                <a:latin typeface="Candara"/>
                <a:cs typeface="Candara"/>
              </a:rPr>
              <a:t>Eleanor:</a:t>
            </a:r>
            <a:r>
              <a:rPr sz="2000" i="1" dirty="0">
                <a:latin typeface="Candara"/>
                <a:cs typeface="Candara"/>
              </a:rPr>
              <a:t>	</a:t>
            </a:r>
            <a:r>
              <a:rPr sz="2000" i="1" spc="-25" dirty="0">
                <a:latin typeface="Candara"/>
                <a:cs typeface="Candara"/>
              </a:rPr>
              <a:t>An</a:t>
            </a:r>
            <a:endParaRPr sz="2000">
              <a:latin typeface="Candara"/>
              <a:cs typeface="Candara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</a:pPr>
            <a:r>
              <a:rPr sz="2000" i="1" dirty="0">
                <a:latin typeface="Candara"/>
                <a:cs typeface="Candara"/>
              </a:rPr>
              <a:t>Extraordinary</a:t>
            </a:r>
            <a:r>
              <a:rPr sz="2000" i="1" spc="-6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Marriage.</a:t>
            </a:r>
            <a:r>
              <a:rPr sz="2000" i="1" spc="-5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New</a:t>
            </a:r>
            <a:r>
              <a:rPr sz="2000" i="1" spc="-5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York:</a:t>
            </a:r>
            <a:r>
              <a:rPr sz="2000" i="1" spc="-40" dirty="0">
                <a:latin typeface="Candara"/>
                <a:cs typeface="Candara"/>
              </a:rPr>
              <a:t> </a:t>
            </a:r>
            <a:r>
              <a:rPr sz="2000" i="1" spc="-20" dirty="0">
                <a:latin typeface="Candara"/>
                <a:cs typeface="Candara"/>
              </a:rPr>
              <a:t>Farrar,</a:t>
            </a:r>
            <a:r>
              <a:rPr sz="2000" i="1" spc="-5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2010.</a:t>
            </a:r>
            <a:r>
              <a:rPr sz="2000" i="1" spc="-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Kindle</a:t>
            </a:r>
            <a:r>
              <a:rPr sz="2000" i="1" spc="-55" dirty="0">
                <a:latin typeface="Candara"/>
                <a:cs typeface="Candara"/>
              </a:rPr>
              <a:t> </a:t>
            </a:r>
            <a:r>
              <a:rPr sz="2000" i="1" spc="-20" dirty="0">
                <a:latin typeface="Candara"/>
                <a:cs typeface="Candara"/>
              </a:rPr>
              <a:t>file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4495800"/>
            <a:ext cx="838200" cy="64960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5398592"/>
            <a:ext cx="838200" cy="649605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09609" y="6457289"/>
            <a:ext cx="13208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888888"/>
                </a:solidFill>
                <a:latin typeface="Calibri"/>
                <a:cs typeface="Calibri"/>
              </a:rPr>
              <a:t>18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5" name="object 5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36142" y="1530806"/>
            <a:ext cx="7693025" cy="4736465"/>
          </a:xfrm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175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Works</a:t>
            </a:r>
            <a:r>
              <a:rPr sz="2400" b="1" spc="-7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Cited</a:t>
            </a:r>
            <a:r>
              <a:rPr sz="2400" b="1" spc="-6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List</a:t>
            </a:r>
            <a:r>
              <a:rPr sz="2400" b="1" spc="-55" dirty="0">
                <a:latin typeface="Candara"/>
                <a:cs typeface="Candara"/>
              </a:rPr>
              <a:t> </a:t>
            </a:r>
            <a:r>
              <a:rPr sz="2400" b="1" spc="-20" dirty="0">
                <a:latin typeface="Candara"/>
                <a:cs typeface="Candara"/>
              </a:rPr>
              <a:t>[2/2]</a:t>
            </a:r>
            <a:endParaRPr sz="2400">
              <a:latin typeface="Candara"/>
              <a:cs typeface="Candara"/>
            </a:endParaRPr>
          </a:p>
          <a:p>
            <a:pPr marL="469265" marR="5080" indent="-457200" algn="just">
              <a:lnSpc>
                <a:spcPct val="150000"/>
              </a:lnSpc>
              <a:spcBef>
                <a:spcPts val="155"/>
              </a:spcBef>
              <a:buFont typeface="Arial MT"/>
              <a:buChar char="•"/>
              <a:tabLst>
                <a:tab pos="469265" algn="l"/>
              </a:tabLst>
            </a:pPr>
            <a:r>
              <a:rPr sz="1800" dirty="0">
                <a:latin typeface="Candara"/>
                <a:cs typeface="Candara"/>
              </a:rPr>
              <a:t>Lastname,</a:t>
            </a:r>
            <a:r>
              <a:rPr sz="1800" spc="38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Firstname.</a:t>
            </a:r>
            <a:r>
              <a:rPr sz="1800" spc="38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“Article</a:t>
            </a:r>
            <a:r>
              <a:rPr sz="1800" spc="37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Title.”</a:t>
            </a:r>
            <a:r>
              <a:rPr sz="1800" spc="38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Journal</a:t>
            </a:r>
            <a:r>
              <a:rPr sz="1800" spc="37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Title</a:t>
            </a:r>
            <a:r>
              <a:rPr sz="1800" spc="37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volume.</a:t>
            </a:r>
            <a:r>
              <a:rPr sz="1800" spc="36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issue</a:t>
            </a:r>
            <a:r>
              <a:rPr sz="1800" spc="37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(year): </a:t>
            </a:r>
            <a:r>
              <a:rPr sz="1800" dirty="0">
                <a:latin typeface="Candara"/>
                <a:cs typeface="Candara"/>
              </a:rPr>
              <a:t>page</a:t>
            </a:r>
            <a:r>
              <a:rPr sz="1800" spc="145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numbers.</a:t>
            </a:r>
            <a:r>
              <a:rPr sz="1800" spc="14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Database</a:t>
            </a:r>
            <a:r>
              <a:rPr sz="1800" spc="15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name</a:t>
            </a:r>
            <a:r>
              <a:rPr sz="1800" spc="14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if</a:t>
            </a:r>
            <a:r>
              <a:rPr sz="1800" spc="145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applicable.</a:t>
            </a:r>
            <a:r>
              <a:rPr sz="1800" spc="15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Web.</a:t>
            </a:r>
            <a:r>
              <a:rPr sz="1800" spc="14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Day</a:t>
            </a:r>
            <a:r>
              <a:rPr sz="1800" spc="14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month</a:t>
            </a:r>
            <a:r>
              <a:rPr sz="1800" spc="145" dirty="0">
                <a:latin typeface="Candara"/>
                <a:cs typeface="Candara"/>
              </a:rPr>
              <a:t>  </a:t>
            </a:r>
            <a:r>
              <a:rPr sz="1800" spc="-20" dirty="0">
                <a:latin typeface="Candara"/>
                <a:cs typeface="Candara"/>
              </a:rPr>
              <a:t>year </a:t>
            </a:r>
            <a:r>
              <a:rPr sz="1800" spc="-10" dirty="0">
                <a:latin typeface="Candara"/>
                <a:cs typeface="Candara"/>
              </a:rPr>
              <a:t>accessed</a:t>
            </a:r>
            <a:endParaRPr sz="1800">
              <a:latin typeface="Candara"/>
              <a:cs typeface="Candara"/>
            </a:endParaRPr>
          </a:p>
          <a:p>
            <a:pPr marL="469265" marR="5715" indent="-457200" algn="just">
              <a:lnSpc>
                <a:spcPct val="150000"/>
              </a:lnSpc>
              <a:buFont typeface="Arial MT"/>
              <a:buChar char="•"/>
              <a:tabLst>
                <a:tab pos="469265" algn="l"/>
              </a:tabLst>
            </a:pPr>
            <a:r>
              <a:rPr sz="1800" dirty="0">
                <a:latin typeface="Candara"/>
                <a:cs typeface="Candara"/>
              </a:rPr>
              <a:t>In</a:t>
            </a:r>
            <a:r>
              <a:rPr sz="1800" spc="24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case</a:t>
            </a:r>
            <a:r>
              <a:rPr sz="1800" spc="2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of</a:t>
            </a:r>
            <a:r>
              <a:rPr sz="1800" spc="254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Online</a:t>
            </a:r>
            <a:r>
              <a:rPr sz="1800" spc="25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Magazine</a:t>
            </a:r>
            <a:r>
              <a:rPr sz="1800" spc="254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Article:</a:t>
            </a:r>
            <a:r>
              <a:rPr sz="1800" spc="24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Duplet,</a:t>
            </a:r>
            <a:r>
              <a:rPr sz="1800" i="1" spc="27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Franc.</a:t>
            </a:r>
            <a:r>
              <a:rPr sz="1800" i="1" spc="27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“How</a:t>
            </a:r>
            <a:r>
              <a:rPr sz="1800" i="1" spc="26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to</a:t>
            </a:r>
            <a:r>
              <a:rPr sz="1800" i="1" spc="27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Duplicate</a:t>
            </a:r>
            <a:r>
              <a:rPr sz="1800" i="1" spc="270" dirty="0">
                <a:latin typeface="Candara"/>
                <a:cs typeface="Candara"/>
              </a:rPr>
              <a:t> </a:t>
            </a:r>
            <a:r>
              <a:rPr sz="1800" i="1" spc="-25" dirty="0">
                <a:latin typeface="Candara"/>
                <a:cs typeface="Candara"/>
              </a:rPr>
              <a:t>the </a:t>
            </a:r>
            <a:r>
              <a:rPr sz="1800" i="1" dirty="0">
                <a:latin typeface="Candara"/>
                <a:cs typeface="Candara"/>
              </a:rPr>
              <a:t>Success</a:t>
            </a:r>
            <a:r>
              <a:rPr sz="1800" i="1" spc="-2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of</a:t>
            </a:r>
            <a:r>
              <a:rPr sz="1800" i="1" spc="-1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a</a:t>
            </a:r>
            <a:r>
              <a:rPr sz="1800" i="1" spc="-1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Business.”</a:t>
            </a:r>
            <a:r>
              <a:rPr sz="1800" i="1" spc="-1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Successful</a:t>
            </a:r>
            <a:r>
              <a:rPr sz="1800" i="1" spc="-2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Jobs</a:t>
            </a:r>
            <a:r>
              <a:rPr sz="1800" i="1" spc="-1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Oct.</a:t>
            </a:r>
            <a:r>
              <a:rPr sz="1800" i="1" spc="-1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2003:</a:t>
            </a:r>
            <a:r>
              <a:rPr sz="1800" i="1" spc="-3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55-58.</a:t>
            </a:r>
            <a:r>
              <a:rPr sz="1800" i="1" spc="-1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General</a:t>
            </a:r>
            <a:r>
              <a:rPr sz="1800" i="1" spc="-2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Business</a:t>
            </a:r>
            <a:r>
              <a:rPr sz="1800" i="1" spc="-15" dirty="0">
                <a:latin typeface="Candara"/>
                <a:cs typeface="Candara"/>
              </a:rPr>
              <a:t> </a:t>
            </a:r>
            <a:r>
              <a:rPr sz="1800" i="1" spc="-10" dirty="0">
                <a:latin typeface="Candara"/>
                <a:cs typeface="Candara"/>
              </a:rPr>
              <a:t>File.</a:t>
            </a:r>
            <a:endParaRPr sz="1800">
              <a:latin typeface="Candara"/>
              <a:cs typeface="Candara"/>
            </a:endParaRPr>
          </a:p>
          <a:p>
            <a:pPr marL="469265" algn="just">
              <a:lnSpc>
                <a:spcPct val="100000"/>
              </a:lnSpc>
              <a:spcBef>
                <a:spcPts val="1085"/>
              </a:spcBef>
            </a:pPr>
            <a:r>
              <a:rPr sz="1800" i="1" spc="-10" dirty="0">
                <a:latin typeface="Candara"/>
                <a:cs typeface="Candara"/>
              </a:rPr>
              <a:t>Web.</a:t>
            </a:r>
            <a:r>
              <a:rPr sz="1800" i="1" spc="-3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28</a:t>
            </a:r>
            <a:r>
              <a:rPr sz="1800" i="1" spc="-2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Dec.</a:t>
            </a:r>
            <a:r>
              <a:rPr sz="1800" i="1" spc="-20" dirty="0">
                <a:latin typeface="Candara"/>
                <a:cs typeface="Candara"/>
              </a:rPr>
              <a:t> 2008</a:t>
            </a:r>
            <a:endParaRPr sz="1800">
              <a:latin typeface="Candara"/>
              <a:cs typeface="Candara"/>
            </a:endParaRPr>
          </a:p>
          <a:p>
            <a:pPr marL="469265" marR="6350" indent="-457200" algn="just">
              <a:lnSpc>
                <a:spcPct val="150000"/>
              </a:lnSpc>
              <a:buFont typeface="Arial MT"/>
              <a:buChar char="•"/>
              <a:tabLst>
                <a:tab pos="469265" algn="l"/>
              </a:tabLst>
            </a:pPr>
            <a:r>
              <a:rPr sz="1800" dirty="0">
                <a:latin typeface="Candara"/>
                <a:cs typeface="Candara"/>
              </a:rPr>
              <a:t>In</a:t>
            </a:r>
            <a:r>
              <a:rPr sz="1800" spc="8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case</a:t>
            </a:r>
            <a:r>
              <a:rPr sz="1800" spc="7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of</a:t>
            </a:r>
            <a:r>
              <a:rPr sz="1800" spc="9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Online</a:t>
            </a:r>
            <a:r>
              <a:rPr sz="1800" spc="8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Journal</a:t>
            </a:r>
            <a:r>
              <a:rPr sz="1800" spc="8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Article:</a:t>
            </a:r>
            <a:r>
              <a:rPr sz="1800" spc="8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Liller,</a:t>
            </a:r>
            <a:r>
              <a:rPr sz="1800" i="1" spc="10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Karen</a:t>
            </a:r>
            <a:r>
              <a:rPr sz="1800" i="1" spc="9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D.</a:t>
            </a:r>
            <a:r>
              <a:rPr sz="1800" i="1" spc="9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“Let's</a:t>
            </a:r>
            <a:r>
              <a:rPr sz="1800" i="1" spc="10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Sell</a:t>
            </a:r>
            <a:r>
              <a:rPr sz="1800" i="1" spc="8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Health.”</a:t>
            </a:r>
            <a:r>
              <a:rPr sz="1800" i="1" spc="95" dirty="0">
                <a:latin typeface="Candara"/>
                <a:cs typeface="Candara"/>
              </a:rPr>
              <a:t> </a:t>
            </a:r>
            <a:r>
              <a:rPr sz="1800" i="1" spc="-10" dirty="0">
                <a:latin typeface="Candara"/>
                <a:cs typeface="Candara"/>
              </a:rPr>
              <a:t>Journal </a:t>
            </a:r>
            <a:r>
              <a:rPr sz="1800" i="1" dirty="0">
                <a:latin typeface="Candara"/>
                <a:cs typeface="Candara"/>
              </a:rPr>
              <a:t>of</a:t>
            </a:r>
            <a:r>
              <a:rPr sz="1800" i="1" spc="-4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School</a:t>
            </a:r>
            <a:r>
              <a:rPr sz="1800" i="1" spc="-1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Health</a:t>
            </a:r>
            <a:r>
              <a:rPr sz="1800" i="1" spc="-3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75.5</a:t>
            </a:r>
            <a:r>
              <a:rPr sz="1800" i="1" spc="-4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(2005):</a:t>
            </a:r>
            <a:r>
              <a:rPr sz="1800" i="1" spc="-30" dirty="0">
                <a:latin typeface="Candara"/>
                <a:cs typeface="Candara"/>
              </a:rPr>
              <a:t> </a:t>
            </a:r>
            <a:r>
              <a:rPr sz="1800" i="1" spc="-10" dirty="0">
                <a:latin typeface="Candara"/>
                <a:cs typeface="Candara"/>
              </a:rPr>
              <a:t>187-</a:t>
            </a:r>
            <a:r>
              <a:rPr sz="1800" i="1" dirty="0">
                <a:latin typeface="Candara"/>
                <a:cs typeface="Candara"/>
              </a:rPr>
              <a:t>188.</a:t>
            </a:r>
            <a:r>
              <a:rPr sz="1800" i="1" spc="-3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Academic</a:t>
            </a:r>
            <a:r>
              <a:rPr sz="1800" i="1" spc="-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Search</a:t>
            </a:r>
            <a:r>
              <a:rPr sz="1800" i="1" spc="-45" dirty="0">
                <a:latin typeface="Candara"/>
                <a:cs typeface="Candara"/>
              </a:rPr>
              <a:t> </a:t>
            </a:r>
            <a:r>
              <a:rPr sz="1800" i="1" spc="-10" dirty="0">
                <a:latin typeface="Candara"/>
                <a:cs typeface="Candara"/>
              </a:rPr>
              <a:t>Premier.</a:t>
            </a:r>
            <a:r>
              <a:rPr sz="1800" i="1" spc="-4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Web.</a:t>
            </a:r>
            <a:r>
              <a:rPr sz="1800" i="1" spc="-30" dirty="0">
                <a:latin typeface="Candara"/>
                <a:cs typeface="Candara"/>
              </a:rPr>
              <a:t> </a:t>
            </a:r>
            <a:r>
              <a:rPr sz="1800" i="1" spc="-20" dirty="0">
                <a:latin typeface="Candara"/>
                <a:cs typeface="Candara"/>
              </a:rPr>
              <a:t>2009</a:t>
            </a:r>
            <a:endParaRPr sz="1800">
              <a:latin typeface="Candara"/>
              <a:cs typeface="Candara"/>
            </a:endParaRPr>
          </a:p>
          <a:p>
            <a:pPr marL="469265" indent="-456565" algn="just">
              <a:lnSpc>
                <a:spcPct val="100000"/>
              </a:lnSpc>
              <a:spcBef>
                <a:spcPts val="1080"/>
              </a:spcBef>
              <a:buFont typeface="Arial MT"/>
              <a:buChar char="•"/>
              <a:tabLst>
                <a:tab pos="469265" algn="l"/>
              </a:tabLst>
            </a:pPr>
            <a:r>
              <a:rPr sz="1800" dirty="0">
                <a:latin typeface="Candara"/>
                <a:cs typeface="Candara"/>
              </a:rPr>
              <a:t>In</a:t>
            </a:r>
            <a:r>
              <a:rPr sz="1800" spc="10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case</a:t>
            </a:r>
            <a:r>
              <a:rPr sz="1800" spc="10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of</a:t>
            </a:r>
            <a:r>
              <a:rPr sz="1800" spc="10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Online</a:t>
            </a:r>
            <a:r>
              <a:rPr sz="1800" spc="10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Newspaper</a:t>
            </a:r>
            <a:r>
              <a:rPr sz="1800" spc="9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Article:</a:t>
            </a:r>
            <a:r>
              <a:rPr sz="1800" spc="10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Robs,</a:t>
            </a:r>
            <a:r>
              <a:rPr sz="1800" i="1" spc="114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Jake.</a:t>
            </a:r>
            <a:r>
              <a:rPr sz="1800" i="1" spc="114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“10</a:t>
            </a:r>
            <a:r>
              <a:rPr sz="1800" i="1" spc="11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Tips</a:t>
            </a:r>
            <a:r>
              <a:rPr sz="1800" i="1" spc="114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for</a:t>
            </a:r>
            <a:r>
              <a:rPr sz="1800" i="1" spc="114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Negotiating</a:t>
            </a:r>
            <a:r>
              <a:rPr sz="1800" i="1" spc="120" dirty="0">
                <a:latin typeface="Candara"/>
                <a:cs typeface="Candara"/>
              </a:rPr>
              <a:t> </a:t>
            </a:r>
            <a:r>
              <a:rPr sz="1800" i="1" spc="-50" dirty="0">
                <a:latin typeface="Candara"/>
                <a:cs typeface="Candara"/>
              </a:rPr>
              <a:t>a</a:t>
            </a:r>
            <a:endParaRPr sz="1800">
              <a:latin typeface="Candara"/>
              <a:cs typeface="Candara"/>
            </a:endParaRPr>
          </a:p>
          <a:p>
            <a:pPr marL="469265" algn="just">
              <a:lnSpc>
                <a:spcPct val="100000"/>
              </a:lnSpc>
              <a:spcBef>
                <a:spcPts val="1080"/>
              </a:spcBef>
            </a:pPr>
            <a:r>
              <a:rPr sz="1800" i="1" dirty="0">
                <a:latin typeface="Candara"/>
                <a:cs typeface="Candara"/>
              </a:rPr>
              <a:t>House</a:t>
            </a:r>
            <a:r>
              <a:rPr sz="1800" i="1" spc="-15" dirty="0">
                <a:latin typeface="Candara"/>
                <a:cs typeface="Candara"/>
              </a:rPr>
              <a:t> </a:t>
            </a:r>
            <a:r>
              <a:rPr sz="1800" i="1" spc="-10" dirty="0">
                <a:latin typeface="Candara"/>
                <a:cs typeface="Candara"/>
              </a:rPr>
              <a:t>Offer.”</a:t>
            </a:r>
            <a:r>
              <a:rPr sz="1800" i="1" spc="-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Miami</a:t>
            </a:r>
            <a:r>
              <a:rPr sz="1800" i="1" spc="-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Herald</a:t>
            </a:r>
            <a:r>
              <a:rPr sz="1800" i="1" spc="-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14</a:t>
            </a:r>
            <a:r>
              <a:rPr sz="1800" i="1" spc="-5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June</a:t>
            </a:r>
            <a:r>
              <a:rPr sz="1800" i="1" spc="-1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2008:</a:t>
            </a:r>
            <a:r>
              <a:rPr sz="1800" i="1" spc="-1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C1+.</a:t>
            </a:r>
            <a:r>
              <a:rPr sz="1800" i="1" spc="-1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America's Newspapers.</a:t>
            </a:r>
            <a:r>
              <a:rPr sz="1800" i="1" spc="-10" dirty="0">
                <a:latin typeface="Candara"/>
                <a:cs typeface="Candara"/>
              </a:rPr>
              <a:t> </a:t>
            </a:r>
            <a:r>
              <a:rPr sz="1800" i="1" dirty="0">
                <a:latin typeface="Candara"/>
                <a:cs typeface="Candara"/>
              </a:rPr>
              <a:t>Web.</a:t>
            </a:r>
            <a:r>
              <a:rPr sz="1800" i="1" spc="-10" dirty="0">
                <a:latin typeface="Candara"/>
                <a:cs typeface="Candara"/>
              </a:rPr>
              <a:t> </a:t>
            </a:r>
            <a:r>
              <a:rPr sz="1800" i="1" spc="-50" dirty="0">
                <a:latin typeface="Candara"/>
                <a:cs typeface="Candara"/>
              </a:rPr>
              <a:t>9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3316" y="6378955"/>
            <a:ext cx="94805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i="1" spc="-20" dirty="0">
                <a:latin typeface="Candara"/>
                <a:cs typeface="Candara"/>
              </a:rPr>
              <a:t>Nov.</a:t>
            </a:r>
            <a:r>
              <a:rPr sz="1800" i="1" spc="-60" dirty="0">
                <a:latin typeface="Candara"/>
                <a:cs typeface="Candara"/>
              </a:rPr>
              <a:t> </a:t>
            </a:r>
            <a:r>
              <a:rPr sz="1800" i="1" spc="-20" dirty="0">
                <a:latin typeface="Candara"/>
                <a:cs typeface="Candara"/>
              </a:rPr>
              <a:t>2008</a:t>
            </a:r>
            <a:endParaRPr sz="1800">
              <a:latin typeface="Candara"/>
              <a:cs typeface="Candar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4572000"/>
            <a:ext cx="838200" cy="649605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5398592"/>
            <a:ext cx="838200" cy="649605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316604"/>
            <a:ext cx="838200" cy="64960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2225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750"/>
              </a:spcBef>
              <a:buFont typeface="Wingdings"/>
              <a:buChar char=""/>
              <a:tabLst>
                <a:tab pos="469265" algn="l"/>
              </a:tabLst>
            </a:pPr>
            <a:r>
              <a:rPr dirty="0"/>
              <a:t>What</a:t>
            </a:r>
            <a:r>
              <a:rPr spc="-40" dirty="0"/>
              <a:t> </a:t>
            </a:r>
            <a:r>
              <a:rPr dirty="0"/>
              <a:t>is</a:t>
            </a:r>
            <a:r>
              <a:rPr spc="-25" dirty="0"/>
              <a:t> </a:t>
            </a:r>
            <a:r>
              <a:rPr spc="-20" dirty="0"/>
              <a:t>APA?</a:t>
            </a:r>
          </a:p>
          <a:p>
            <a:pPr marL="469265" marR="5080" indent="-457200">
              <a:lnSpc>
                <a:spcPct val="150000"/>
              </a:lnSpc>
              <a:spcBef>
                <a:spcPts val="155"/>
              </a:spcBef>
              <a:buFont typeface="Arial MT"/>
              <a:buChar char="•"/>
              <a:tabLst>
                <a:tab pos="469265" algn="l"/>
              </a:tabLst>
            </a:pPr>
            <a:r>
              <a:rPr sz="1800" b="0" dirty="0">
                <a:latin typeface="Candara"/>
                <a:cs typeface="Candara"/>
              </a:rPr>
              <a:t>The</a:t>
            </a:r>
            <a:r>
              <a:rPr sz="1800" b="0" spc="285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American</a:t>
            </a:r>
            <a:r>
              <a:rPr sz="1800" b="0" spc="275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Psychological</a:t>
            </a:r>
            <a:r>
              <a:rPr sz="1800" b="0" spc="275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Association</a:t>
            </a:r>
            <a:r>
              <a:rPr sz="1800" b="0" spc="280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(APA)</a:t>
            </a:r>
            <a:r>
              <a:rPr sz="1800" b="0" spc="285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citation</a:t>
            </a:r>
            <a:r>
              <a:rPr sz="1800" b="0" spc="270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style</a:t>
            </a:r>
            <a:r>
              <a:rPr sz="1800" b="0" spc="265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is</a:t>
            </a:r>
            <a:r>
              <a:rPr sz="1800" b="0" spc="270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the</a:t>
            </a:r>
            <a:r>
              <a:rPr sz="1800" b="0" spc="290" dirty="0">
                <a:latin typeface="Candara"/>
                <a:cs typeface="Candara"/>
              </a:rPr>
              <a:t> </a:t>
            </a:r>
            <a:r>
              <a:rPr sz="1800" b="0" spc="-20" dirty="0">
                <a:latin typeface="Candara"/>
                <a:cs typeface="Candara"/>
              </a:rPr>
              <a:t>most </a:t>
            </a:r>
            <a:r>
              <a:rPr sz="1800" b="0" dirty="0">
                <a:latin typeface="Candara"/>
                <a:cs typeface="Candara"/>
              </a:rPr>
              <a:t>commonly</a:t>
            </a:r>
            <a:r>
              <a:rPr sz="1800" b="0" spc="-45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used</a:t>
            </a:r>
            <a:r>
              <a:rPr sz="1800" b="0" spc="-30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format</a:t>
            </a:r>
            <a:r>
              <a:rPr sz="1800" b="0" spc="-20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for</a:t>
            </a:r>
            <a:r>
              <a:rPr sz="1800" b="0" spc="-30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manuscripts</a:t>
            </a:r>
            <a:r>
              <a:rPr sz="1800" b="0" spc="-25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in</a:t>
            </a:r>
            <a:r>
              <a:rPr sz="1800" b="0" spc="-25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the</a:t>
            </a:r>
            <a:r>
              <a:rPr sz="1800" b="0" spc="-15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social</a:t>
            </a:r>
            <a:r>
              <a:rPr sz="1800" b="0" spc="-45" dirty="0">
                <a:latin typeface="Candara"/>
                <a:cs typeface="Candara"/>
              </a:rPr>
              <a:t> </a:t>
            </a:r>
            <a:r>
              <a:rPr sz="1800" b="0" spc="-10" dirty="0">
                <a:latin typeface="Candara"/>
                <a:cs typeface="Candara"/>
              </a:rPr>
              <a:t>sciences.</a:t>
            </a:r>
            <a:endParaRPr sz="18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085"/>
              </a:spcBef>
              <a:buFont typeface="Arial MT"/>
              <a:buChar char="•"/>
              <a:tabLst>
                <a:tab pos="469265" algn="l"/>
              </a:tabLst>
            </a:pPr>
            <a:r>
              <a:rPr sz="1800" b="0" spc="-10" dirty="0">
                <a:latin typeface="Candara"/>
                <a:cs typeface="Candara"/>
              </a:rPr>
              <a:t>Author-</a:t>
            </a:r>
            <a:r>
              <a:rPr sz="1800" b="0" dirty="0">
                <a:latin typeface="Candara"/>
                <a:cs typeface="Candara"/>
              </a:rPr>
              <a:t>Date</a:t>
            </a:r>
            <a:r>
              <a:rPr sz="1800" b="0" spc="-15" dirty="0">
                <a:latin typeface="Candara"/>
                <a:cs typeface="Candara"/>
              </a:rPr>
              <a:t> </a:t>
            </a:r>
            <a:r>
              <a:rPr sz="1800" b="0" dirty="0">
                <a:latin typeface="Candara"/>
                <a:cs typeface="Candara"/>
              </a:rPr>
              <a:t>Citation</a:t>
            </a:r>
            <a:r>
              <a:rPr sz="1800" b="0" spc="-45" dirty="0">
                <a:latin typeface="Candara"/>
                <a:cs typeface="Candara"/>
              </a:rPr>
              <a:t> </a:t>
            </a:r>
            <a:r>
              <a:rPr sz="1800" b="0" spc="-10" dirty="0">
                <a:latin typeface="Candara"/>
                <a:cs typeface="Candara"/>
              </a:rPr>
              <a:t>System</a:t>
            </a:r>
            <a:endParaRPr sz="1800">
              <a:latin typeface="Candara"/>
              <a:cs typeface="Candar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19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925698"/>
            <a:ext cx="838200" cy="6496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781550" y="3473551"/>
            <a:ext cx="2172716" cy="3092323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20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1755" cy="42602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Manuscript</a:t>
            </a:r>
            <a:r>
              <a:rPr sz="2400" b="1" spc="-4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format</a:t>
            </a:r>
            <a:r>
              <a:rPr sz="2400" b="1" spc="-55" dirty="0">
                <a:latin typeface="Candara"/>
                <a:cs typeface="Candara"/>
              </a:rPr>
              <a:t> </a:t>
            </a:r>
            <a:r>
              <a:rPr sz="2400" b="1" spc="-20" dirty="0">
                <a:latin typeface="Candara"/>
                <a:cs typeface="Candara"/>
              </a:rPr>
              <a:t>[1/2]</a:t>
            </a:r>
            <a:endParaRPr sz="24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You</a:t>
            </a:r>
            <a:r>
              <a:rPr sz="2000" spc="-7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should:</a:t>
            </a:r>
            <a:endParaRPr sz="2000">
              <a:latin typeface="Candara"/>
              <a:cs typeface="Candara"/>
            </a:endParaRPr>
          </a:p>
          <a:p>
            <a:pPr marL="926465" marR="5715" lvl="1" indent="-457200">
              <a:lnSpc>
                <a:spcPts val="3600"/>
              </a:lnSpc>
              <a:spcBef>
                <a:spcPts val="32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Use</a:t>
            </a:r>
            <a:r>
              <a:rPr sz="2000" spc="1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serif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typeface,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as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New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Times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Roman,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for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text.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Use</a:t>
            </a:r>
            <a:r>
              <a:rPr sz="2000" spc="110" dirty="0">
                <a:latin typeface="Candara"/>
                <a:cs typeface="Candara"/>
              </a:rPr>
              <a:t> </a:t>
            </a:r>
            <a:r>
              <a:rPr sz="2000" spc="-50" dirty="0">
                <a:latin typeface="Candara"/>
                <a:cs typeface="Candara"/>
              </a:rPr>
              <a:t>a </a:t>
            </a:r>
            <a:r>
              <a:rPr sz="2000" dirty="0">
                <a:latin typeface="Candara"/>
                <a:cs typeface="Candara"/>
              </a:rPr>
              <a:t>sans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serif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typeface,</a:t>
            </a:r>
            <a:r>
              <a:rPr sz="2000" spc="-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as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Ariel,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for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figure</a:t>
            </a:r>
            <a:r>
              <a:rPr sz="2000" spc="-10" dirty="0">
                <a:latin typeface="Candara"/>
                <a:cs typeface="Candara"/>
              </a:rPr>
              <a:t> labels.</a:t>
            </a:r>
            <a:endParaRPr sz="2000">
              <a:latin typeface="Candara"/>
              <a:cs typeface="Candara"/>
            </a:endParaRPr>
          </a:p>
          <a:p>
            <a:pPr marL="926465" marR="5080" lvl="1" indent="-457200">
              <a:lnSpc>
                <a:spcPts val="3600"/>
              </a:lnSpc>
              <a:buFont typeface="Courier New"/>
              <a:buChar char="o"/>
              <a:tabLst>
                <a:tab pos="926465" algn="l"/>
              </a:tabLst>
            </a:pPr>
            <a:r>
              <a:rPr sz="2000" spc="-10" dirty="0">
                <a:latin typeface="Candara"/>
                <a:cs typeface="Candara"/>
              </a:rPr>
              <a:t>Double-</a:t>
            </a:r>
            <a:r>
              <a:rPr sz="2000" dirty="0">
                <a:latin typeface="Candara"/>
                <a:cs typeface="Candara"/>
              </a:rPr>
              <a:t>space</a:t>
            </a:r>
            <a:r>
              <a:rPr sz="2000" spc="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entire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manuscript,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between</a:t>
            </a:r>
            <a:r>
              <a:rPr sz="2000" spc="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body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text,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titles, </a:t>
            </a:r>
            <a:r>
              <a:rPr sz="2000" dirty="0">
                <a:latin typeface="Candara"/>
                <a:cs typeface="Candara"/>
              </a:rPr>
              <a:t>headings,</a:t>
            </a:r>
            <a:r>
              <a:rPr sz="2000" spc="3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block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quotations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,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reference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list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figure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captions.</a:t>
            </a:r>
            <a:endParaRPr sz="2000">
              <a:latin typeface="Candara"/>
              <a:cs typeface="Candara"/>
            </a:endParaRPr>
          </a:p>
          <a:p>
            <a:pPr marL="926465" lvl="1" indent="-457200">
              <a:lnSpc>
                <a:spcPct val="100000"/>
              </a:lnSpc>
              <a:spcBef>
                <a:spcPts val="885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Indent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first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line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every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para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one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-</a:t>
            </a:r>
            <a:r>
              <a:rPr sz="2000" dirty="0">
                <a:latin typeface="Candara"/>
                <a:cs typeface="Candara"/>
              </a:rPr>
              <a:t>half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inch.</a:t>
            </a:r>
            <a:endParaRPr sz="2000">
              <a:latin typeface="Candara"/>
              <a:cs typeface="Candara"/>
            </a:endParaRPr>
          </a:p>
          <a:p>
            <a:pPr marL="926465" lvl="1" indent="-457200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  <a:tab pos="1600835" algn="l"/>
                <a:tab pos="2170430" algn="l"/>
                <a:tab pos="3629660" algn="l"/>
                <a:tab pos="4575810" algn="l"/>
                <a:tab pos="5470525" algn="l"/>
                <a:tab pos="5723890" algn="l"/>
                <a:tab pos="6496050" algn="l"/>
                <a:tab pos="7136765" algn="l"/>
              </a:tabLst>
            </a:pPr>
            <a:r>
              <a:rPr sz="2000" spc="-10" dirty="0">
                <a:latin typeface="Candara"/>
                <a:cs typeface="Candara"/>
              </a:rPr>
              <a:t>Align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text</a:t>
            </a:r>
            <a:r>
              <a:rPr sz="2000" dirty="0">
                <a:latin typeface="Candara"/>
                <a:cs typeface="Candara"/>
              </a:rPr>
              <a:t>	to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left-</a:t>
            </a:r>
            <a:r>
              <a:rPr sz="2000" spc="-20" dirty="0">
                <a:latin typeface="Candara"/>
                <a:cs typeface="Candara"/>
              </a:rPr>
              <a:t>hand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margin,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leaving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50" dirty="0">
                <a:latin typeface="Candara"/>
                <a:cs typeface="Candara"/>
              </a:rPr>
              <a:t>a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rough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right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hand</a:t>
            </a:r>
            <a:endParaRPr sz="2000">
              <a:latin typeface="Candara"/>
              <a:cs typeface="Candara"/>
            </a:endParaRPr>
          </a:p>
          <a:p>
            <a:pPr marL="926465">
              <a:lnSpc>
                <a:spcPct val="100000"/>
              </a:lnSpc>
              <a:spcBef>
                <a:spcPts val="1200"/>
              </a:spcBef>
            </a:pPr>
            <a:r>
              <a:rPr sz="2000" spc="-10" dirty="0">
                <a:latin typeface="Candara"/>
                <a:cs typeface="Candara"/>
              </a:rPr>
              <a:t>margin.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21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1755" cy="489585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Manuscript</a:t>
            </a:r>
            <a:r>
              <a:rPr sz="2400" b="1" spc="-4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format</a:t>
            </a:r>
            <a:r>
              <a:rPr sz="2400" b="1" spc="-55" dirty="0">
                <a:latin typeface="Candara"/>
                <a:cs typeface="Candara"/>
              </a:rPr>
              <a:t> </a:t>
            </a:r>
            <a:r>
              <a:rPr sz="2400" b="1" spc="-20" dirty="0">
                <a:latin typeface="Candara"/>
                <a:cs typeface="Candara"/>
              </a:rPr>
              <a:t>[2/2]</a:t>
            </a:r>
            <a:endParaRPr sz="24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You</a:t>
            </a:r>
            <a:r>
              <a:rPr sz="2000" spc="-7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should:</a:t>
            </a:r>
            <a:endParaRPr sz="2000">
              <a:latin typeface="Candara"/>
              <a:cs typeface="Candara"/>
            </a:endParaRPr>
          </a:p>
          <a:p>
            <a:pPr marL="925830" lvl="1" indent="-456565" algn="just">
              <a:lnSpc>
                <a:spcPct val="100000"/>
              </a:lnSpc>
              <a:spcBef>
                <a:spcPts val="2195"/>
              </a:spcBef>
              <a:buFont typeface="Courier New"/>
              <a:buChar char="o"/>
              <a:tabLst>
                <a:tab pos="925830" algn="l"/>
              </a:tabLst>
            </a:pPr>
            <a:r>
              <a:rPr sz="2000" dirty="0">
                <a:latin typeface="Candara"/>
                <a:cs typeface="Candara"/>
              </a:rPr>
              <a:t>Print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on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standard-</a:t>
            </a:r>
            <a:r>
              <a:rPr sz="2000" dirty="0">
                <a:latin typeface="Candara"/>
                <a:cs typeface="Candara"/>
              </a:rPr>
              <a:t>sized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paper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(8.5”x11”)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(Letter)</a:t>
            </a:r>
            <a:endParaRPr sz="2000">
              <a:latin typeface="Candara"/>
              <a:cs typeface="Candara"/>
            </a:endParaRPr>
          </a:p>
          <a:p>
            <a:pPr marL="925830" lvl="1" indent="-456565" algn="just">
              <a:lnSpc>
                <a:spcPct val="100000"/>
              </a:lnSpc>
              <a:spcBef>
                <a:spcPts val="2210"/>
              </a:spcBef>
              <a:buFont typeface="Courier New"/>
              <a:buChar char="o"/>
              <a:tabLst>
                <a:tab pos="925830" algn="l"/>
              </a:tabLst>
            </a:pPr>
            <a:r>
              <a:rPr sz="2000" dirty="0">
                <a:latin typeface="Candara"/>
                <a:cs typeface="Candara"/>
              </a:rPr>
              <a:t>Use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1”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margins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on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all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sides</a:t>
            </a:r>
            <a:endParaRPr sz="2000">
              <a:latin typeface="Candara"/>
              <a:cs typeface="Candara"/>
            </a:endParaRPr>
          </a:p>
          <a:p>
            <a:pPr marL="925830" lvl="1" indent="-456565" algn="just">
              <a:lnSpc>
                <a:spcPct val="100000"/>
              </a:lnSpc>
              <a:spcBef>
                <a:spcPts val="2195"/>
              </a:spcBef>
              <a:buFont typeface="Courier New"/>
              <a:buChar char="o"/>
              <a:tabLst>
                <a:tab pos="925830" algn="l"/>
              </a:tabLst>
            </a:pPr>
            <a:r>
              <a:rPr sz="2000" dirty="0">
                <a:latin typeface="Candara"/>
                <a:cs typeface="Candara"/>
              </a:rPr>
              <a:t>Use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12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pt.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Times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New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Roman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 similar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font</a:t>
            </a:r>
            <a:endParaRPr sz="2000">
              <a:latin typeface="Candara"/>
              <a:cs typeface="Candara"/>
            </a:endParaRPr>
          </a:p>
          <a:p>
            <a:pPr marL="926465" marR="5080" lvl="1" indent="-457200" algn="just">
              <a:lnSpc>
                <a:spcPct val="150000"/>
              </a:lnSpc>
              <a:spcBef>
                <a:spcPts val="10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Include</a:t>
            </a:r>
            <a:r>
              <a:rPr sz="2000" spc="4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page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header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(running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head)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upper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left-</a:t>
            </a:r>
            <a:r>
              <a:rPr sz="2000" dirty="0">
                <a:latin typeface="Candara"/>
                <a:cs typeface="Candara"/>
              </a:rPr>
              <a:t>hand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spc="-35" dirty="0">
                <a:latin typeface="Candara"/>
                <a:cs typeface="Candara"/>
              </a:rPr>
              <a:t>of </a:t>
            </a:r>
            <a:r>
              <a:rPr sz="2000" dirty="0">
                <a:latin typeface="Candara"/>
                <a:cs typeface="Candara"/>
              </a:rPr>
              <a:t>every</a:t>
            </a:r>
            <a:r>
              <a:rPr sz="2000" spc="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page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page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number</a:t>
            </a:r>
            <a:r>
              <a:rPr sz="2000" spc="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upper</a:t>
            </a:r>
            <a:r>
              <a:rPr sz="2000" spc="7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right-</a:t>
            </a:r>
            <a:r>
              <a:rPr sz="2000" dirty="0">
                <a:latin typeface="Candara"/>
                <a:cs typeface="Candara"/>
              </a:rPr>
              <a:t>hand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side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of </a:t>
            </a:r>
            <a:r>
              <a:rPr sz="2000" dirty="0">
                <a:latin typeface="Candara"/>
                <a:cs typeface="Candara"/>
              </a:rPr>
              <a:t>every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page</a:t>
            </a:r>
            <a:endParaRPr sz="2000">
              <a:latin typeface="Candara"/>
              <a:cs typeface="Candara"/>
            </a:endParaRPr>
          </a:p>
          <a:p>
            <a:pPr marL="925830" lvl="1" indent="-456565" algn="just">
              <a:lnSpc>
                <a:spcPct val="100000"/>
              </a:lnSpc>
              <a:spcBef>
                <a:spcPts val="2210"/>
              </a:spcBef>
              <a:buFont typeface="Courier New"/>
              <a:buChar char="o"/>
              <a:tabLst>
                <a:tab pos="925830" algn="l"/>
              </a:tabLst>
            </a:pPr>
            <a:r>
              <a:rPr sz="2000" dirty="0">
                <a:latin typeface="Candara"/>
                <a:cs typeface="Candara"/>
              </a:rPr>
              <a:t>Running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head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be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less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than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50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characters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dirty="0"/>
              <a:t>Page</a:t>
            </a:r>
            <a:r>
              <a:rPr spc="-30" dirty="0"/>
              <a:t> </a:t>
            </a:r>
            <a:r>
              <a:rPr dirty="0"/>
              <a:t>1:</a:t>
            </a:r>
            <a:r>
              <a:rPr spc="-35" dirty="0"/>
              <a:t> </a:t>
            </a:r>
            <a:r>
              <a:rPr dirty="0"/>
              <a:t>Title</a:t>
            </a:r>
            <a:r>
              <a:rPr spc="-20" dirty="0"/>
              <a:t> Page</a:t>
            </a: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Running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head:</a:t>
            </a:r>
            <a:r>
              <a:rPr sz="2000" b="0" spc="-3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capitalized,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top</a:t>
            </a:r>
            <a:r>
              <a:rPr sz="2000" b="0" spc="-5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left</a:t>
            </a:r>
            <a:r>
              <a:rPr sz="2000" b="0" spc="-4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hand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corner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Page</a:t>
            </a:r>
            <a:r>
              <a:rPr sz="2000" b="0" spc="-4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number: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top</a:t>
            </a:r>
            <a:r>
              <a:rPr sz="2000" b="0" spc="-40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right-</a:t>
            </a:r>
            <a:r>
              <a:rPr sz="2000" b="0" dirty="0">
                <a:latin typeface="Candara"/>
                <a:cs typeface="Candara"/>
              </a:rPr>
              <a:t>hand </a:t>
            </a:r>
            <a:r>
              <a:rPr sz="2000" b="0" spc="-10" dirty="0">
                <a:latin typeface="Candara"/>
                <a:cs typeface="Candara"/>
              </a:rPr>
              <a:t>corner</a:t>
            </a:r>
            <a:endParaRPr sz="2000">
              <a:latin typeface="Candara"/>
              <a:cs typeface="Candara"/>
            </a:endParaRPr>
          </a:p>
          <a:p>
            <a:pPr marL="469265" marR="5080" indent="-457200">
              <a:lnSpc>
                <a:spcPct val="15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Full</a:t>
            </a:r>
            <a:r>
              <a:rPr sz="2000" b="0" spc="48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title</a:t>
            </a:r>
            <a:r>
              <a:rPr sz="2000" b="0" spc="49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of</a:t>
            </a:r>
            <a:r>
              <a:rPr sz="2000" b="0" spc="484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paper:</a:t>
            </a:r>
            <a:r>
              <a:rPr sz="2000" b="0" spc="48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centered,</a:t>
            </a:r>
            <a:r>
              <a:rPr sz="2000" b="0" spc="48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upper</a:t>
            </a:r>
            <a:r>
              <a:rPr sz="2000" b="0" spc="48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and</a:t>
            </a:r>
            <a:r>
              <a:rPr sz="2000" b="0" spc="484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lower</a:t>
            </a:r>
            <a:r>
              <a:rPr sz="2000" b="0" spc="49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case</a:t>
            </a:r>
            <a:r>
              <a:rPr sz="2000" b="0" spc="49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letters</a:t>
            </a:r>
            <a:r>
              <a:rPr sz="2000" b="0" spc="484" dirty="0">
                <a:latin typeface="Candara"/>
                <a:cs typeface="Candara"/>
              </a:rPr>
              <a:t> </a:t>
            </a:r>
            <a:r>
              <a:rPr sz="2000" b="0" spc="-20" dirty="0">
                <a:latin typeface="Candara"/>
                <a:cs typeface="Candara"/>
              </a:rPr>
              <a:t>(&lt;12 </a:t>
            </a:r>
            <a:r>
              <a:rPr sz="2000" b="0" spc="-10" dirty="0">
                <a:latin typeface="Candara"/>
                <a:cs typeface="Candara"/>
              </a:rPr>
              <a:t>words)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Name</a:t>
            </a:r>
            <a:r>
              <a:rPr sz="2000" b="0" spc="-4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of</a:t>
            </a:r>
            <a:r>
              <a:rPr sz="2000" b="0" spc="-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author: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centered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Author’s</a:t>
            </a:r>
            <a:r>
              <a:rPr sz="2000" b="0" spc="-3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affiliation: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centered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Author’s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note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with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more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info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about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affiliation:</a:t>
            </a:r>
            <a:r>
              <a:rPr sz="2000" b="0" spc="-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bottom</a:t>
            </a:r>
            <a:r>
              <a:rPr sz="2000" b="0" spc="-4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of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spc="-20" dirty="0">
                <a:latin typeface="Candara"/>
                <a:cs typeface="Candara"/>
              </a:rPr>
              <a:t>page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Double</a:t>
            </a:r>
            <a:r>
              <a:rPr sz="2000" b="0" spc="-35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spaced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24" name="object 24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22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90500" y="2133600"/>
            <a:ext cx="838200" cy="1550670"/>
            <a:chOff x="190500" y="2133600"/>
            <a:chExt cx="838200" cy="155067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584069"/>
              <a:ext cx="838200" cy="6496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034664"/>
              <a:ext cx="838200" cy="649605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90500" y="3946525"/>
            <a:ext cx="838200" cy="2064385"/>
            <a:chOff x="190500" y="3946525"/>
            <a:chExt cx="838200" cy="2064385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946525"/>
              <a:ext cx="838200" cy="64960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4397120"/>
              <a:ext cx="838200" cy="64960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4847589"/>
              <a:ext cx="838200" cy="649605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5361025"/>
              <a:ext cx="838200" cy="6496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22309" y="6496278"/>
            <a:ext cx="106680" cy="105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80"/>
              </a:lnSpc>
            </a:pPr>
            <a:r>
              <a:rPr sz="800" spc="-25" dirty="0">
                <a:solidFill>
                  <a:srgbClr val="888888"/>
                </a:solidFill>
                <a:latin typeface="Calibri"/>
                <a:cs typeface="Calibri"/>
              </a:rPr>
              <a:t>23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5" name="object 5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48842" y="1783768"/>
            <a:ext cx="27241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40"/>
              </a:lnSpc>
            </a:pPr>
            <a:r>
              <a:rPr sz="2400" spc="-50" dirty="0">
                <a:latin typeface="Wingdings"/>
                <a:cs typeface="Wingdings"/>
              </a:rPr>
              <a:t></a:t>
            </a:r>
            <a:endParaRPr sz="2400">
              <a:latin typeface="Wingdings"/>
              <a:cs typeface="Wingding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1080452" y="2247925"/>
            <a:ext cx="7665720" cy="4346575"/>
            <a:chOff x="1080452" y="2247925"/>
            <a:chExt cx="7665720" cy="4346575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360035" y="2247925"/>
              <a:ext cx="3385820" cy="434657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86357" y="2401315"/>
              <a:ext cx="4698745" cy="1499362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080452" y="3645496"/>
              <a:ext cx="5502084" cy="2349500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1244295" y="1740230"/>
            <a:ext cx="3455670" cy="41065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6129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ndara"/>
                <a:cs typeface="Candara"/>
              </a:rPr>
              <a:t>Page</a:t>
            </a:r>
            <a:r>
              <a:rPr sz="2400" b="1" spc="-2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1: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Title</a:t>
            </a:r>
            <a:r>
              <a:rPr sz="2400" b="1" spc="-1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Page</a:t>
            </a:r>
            <a:r>
              <a:rPr sz="2400" b="1" spc="-10" dirty="0">
                <a:latin typeface="Candara"/>
                <a:cs typeface="Candara"/>
              </a:rPr>
              <a:t> Sample</a:t>
            </a:r>
            <a:endParaRPr sz="24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150"/>
              </a:spcBef>
            </a:pPr>
            <a:endParaRPr sz="2400">
              <a:latin typeface="Candara"/>
              <a:cs typeface="Candara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ndara"/>
                <a:cs typeface="Candara"/>
              </a:rPr>
              <a:t>Page</a:t>
            </a:r>
            <a:r>
              <a:rPr sz="2000" b="1" spc="-35" dirty="0">
                <a:latin typeface="Candara"/>
                <a:cs typeface="Candara"/>
              </a:rPr>
              <a:t> </a:t>
            </a:r>
            <a:r>
              <a:rPr sz="2000" b="1" spc="-10" dirty="0">
                <a:latin typeface="Candara"/>
                <a:cs typeface="Candara"/>
              </a:rPr>
              <a:t>header:</a:t>
            </a:r>
            <a:endParaRPr sz="2000">
              <a:latin typeface="Candara"/>
              <a:cs typeface="Candara"/>
            </a:endParaRPr>
          </a:p>
          <a:p>
            <a:pPr marL="12700" marR="336550">
              <a:lnSpc>
                <a:spcPct val="100000"/>
              </a:lnSpc>
              <a:spcBef>
                <a:spcPts val="5"/>
              </a:spcBef>
            </a:pPr>
            <a:r>
              <a:rPr sz="2000" dirty="0">
                <a:latin typeface="Candara"/>
                <a:cs typeface="Candara"/>
              </a:rPr>
              <a:t>(use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Insert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Page</a:t>
            </a:r>
            <a:r>
              <a:rPr sz="2000" spc="-10" dirty="0">
                <a:latin typeface="Candara"/>
                <a:cs typeface="Candara"/>
              </a:rPr>
              <a:t> Header)</a:t>
            </a:r>
            <a:r>
              <a:rPr sz="2000" spc="5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title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flush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left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+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page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number </a:t>
            </a:r>
            <a:r>
              <a:rPr sz="2000" dirty="0">
                <a:latin typeface="Candara"/>
                <a:cs typeface="Candara"/>
              </a:rPr>
              <a:t>flush</a:t>
            </a:r>
            <a:r>
              <a:rPr sz="2000" spc="-5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right.</a:t>
            </a:r>
            <a:endParaRPr sz="20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2120"/>
              </a:spcBef>
            </a:pPr>
            <a:endParaRPr sz="2000">
              <a:latin typeface="Candara"/>
              <a:cs typeface="Candara"/>
            </a:endParaRPr>
          </a:p>
          <a:p>
            <a:pPr marL="21590">
              <a:lnSpc>
                <a:spcPct val="100000"/>
              </a:lnSpc>
              <a:spcBef>
                <a:spcPts val="5"/>
              </a:spcBef>
            </a:pPr>
            <a:r>
              <a:rPr sz="2000" b="1" spc="-10" dirty="0">
                <a:latin typeface="Candara"/>
                <a:cs typeface="Candara"/>
              </a:rPr>
              <a:t>Title:</a:t>
            </a:r>
            <a:endParaRPr sz="2000">
              <a:latin typeface="Candara"/>
              <a:cs typeface="Candara"/>
            </a:endParaRPr>
          </a:p>
          <a:p>
            <a:pPr marL="21590" marR="872490">
              <a:lnSpc>
                <a:spcPct val="100000"/>
              </a:lnSpc>
            </a:pPr>
            <a:r>
              <a:rPr sz="2000" dirty="0">
                <a:latin typeface="Candara"/>
                <a:cs typeface="Candara"/>
              </a:rPr>
              <a:t>(in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upper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half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the </a:t>
            </a:r>
            <a:r>
              <a:rPr sz="2000" dirty="0">
                <a:latin typeface="Candara"/>
                <a:cs typeface="Candara"/>
              </a:rPr>
              <a:t>page,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centered)</a:t>
            </a:r>
            <a:endParaRPr sz="2000">
              <a:latin typeface="Candara"/>
              <a:cs typeface="Candara"/>
            </a:endParaRPr>
          </a:p>
          <a:p>
            <a:pPr marL="21590">
              <a:lnSpc>
                <a:spcPct val="100000"/>
              </a:lnSpc>
            </a:pPr>
            <a:r>
              <a:rPr sz="2000" dirty="0">
                <a:latin typeface="Candara"/>
                <a:cs typeface="Candara"/>
              </a:rPr>
              <a:t>name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(no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title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degree)</a:t>
            </a:r>
            <a:r>
              <a:rPr sz="2000" spc="-50" dirty="0">
                <a:latin typeface="Candara"/>
                <a:cs typeface="Candara"/>
              </a:rPr>
              <a:t> +</a:t>
            </a:r>
            <a:endParaRPr sz="2000">
              <a:latin typeface="Candara"/>
              <a:cs typeface="Candara"/>
            </a:endParaRPr>
          </a:p>
          <a:p>
            <a:pPr marL="21590">
              <a:lnSpc>
                <a:spcPct val="100000"/>
              </a:lnSpc>
            </a:pPr>
            <a:r>
              <a:rPr sz="2000" dirty="0">
                <a:latin typeface="Candara"/>
                <a:cs typeface="Candara"/>
              </a:rPr>
              <a:t>affiliation</a:t>
            </a:r>
            <a:r>
              <a:rPr sz="2000" spc="-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(university,</a:t>
            </a:r>
            <a:r>
              <a:rPr sz="2000" spc="-65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etc.)</a:t>
            </a:r>
            <a:endParaRPr sz="20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09609" y="6457289"/>
            <a:ext cx="13208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888888"/>
                </a:solidFill>
                <a:latin typeface="Calibri"/>
                <a:cs typeface="Calibri"/>
              </a:rPr>
              <a:t>24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5" name="object 5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36142" y="1542989"/>
            <a:ext cx="5099050" cy="197358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Page</a:t>
            </a:r>
            <a:r>
              <a:rPr sz="2400" b="1" spc="-1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2:</a:t>
            </a:r>
            <a:r>
              <a:rPr sz="2400" b="1" spc="-15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Abstract</a:t>
            </a:r>
            <a:endParaRPr sz="24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Left</a:t>
            </a:r>
            <a:r>
              <a:rPr sz="2000" spc="-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aligned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-10" dirty="0">
                <a:latin typeface="Candara"/>
                <a:cs typeface="Candara"/>
              </a:rPr>
              <a:t> justified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spc="-20" dirty="0">
                <a:latin typeface="Candara"/>
                <a:cs typeface="Candara"/>
              </a:rPr>
              <a:t>150-</a:t>
            </a:r>
            <a:r>
              <a:rPr sz="2000" dirty="0">
                <a:latin typeface="Candara"/>
                <a:cs typeface="Candara"/>
              </a:rPr>
              <a:t>250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words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For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keywords,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first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indent and then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italicize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grpSp>
        <p:nvGrpSpPr>
          <p:cNvPr id="15" name="object 15"/>
          <p:cNvGrpSpPr/>
          <p:nvPr/>
        </p:nvGrpSpPr>
        <p:grpSpPr>
          <a:xfrm>
            <a:off x="190500" y="2133600"/>
            <a:ext cx="838200" cy="1550670"/>
            <a:chOff x="190500" y="2133600"/>
            <a:chExt cx="838200" cy="1550670"/>
          </a:xfrm>
        </p:grpSpPr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584069"/>
              <a:ext cx="838200" cy="649604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034664"/>
              <a:ext cx="838200" cy="649605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22309" y="6496278"/>
            <a:ext cx="106680" cy="10541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80"/>
              </a:lnSpc>
            </a:pPr>
            <a:r>
              <a:rPr sz="800" spc="-25" dirty="0">
                <a:solidFill>
                  <a:srgbClr val="888888"/>
                </a:solidFill>
                <a:latin typeface="Calibri"/>
                <a:cs typeface="Calibri"/>
              </a:rPr>
              <a:t>25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5" name="object 5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48842" y="1783768"/>
            <a:ext cx="27241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40"/>
              </a:lnSpc>
            </a:pPr>
            <a:r>
              <a:rPr sz="2400" spc="-50" dirty="0">
                <a:latin typeface="Wingdings"/>
                <a:cs typeface="Wingdings"/>
              </a:rPr>
              <a:t></a:t>
            </a:r>
            <a:endParaRPr sz="2400">
              <a:latin typeface="Wingdings"/>
              <a:cs typeface="Wingdings"/>
            </a:endParaRPr>
          </a:p>
        </p:txBody>
      </p:sp>
      <p:pic>
        <p:nvPicPr>
          <p:cNvPr id="14" name="object 1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grpSp>
        <p:nvGrpSpPr>
          <p:cNvPr id="16" name="object 16"/>
          <p:cNvGrpSpPr/>
          <p:nvPr/>
        </p:nvGrpSpPr>
        <p:grpSpPr>
          <a:xfrm>
            <a:off x="617918" y="2204351"/>
            <a:ext cx="8043545" cy="4521200"/>
            <a:chOff x="617918" y="2204351"/>
            <a:chExt cx="8043545" cy="4521200"/>
          </a:xfrm>
        </p:grpSpPr>
        <p:pic>
          <p:nvPicPr>
            <p:cNvPr id="17" name="object 17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155819" y="2204351"/>
              <a:ext cx="3505200" cy="452120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617918" y="2424175"/>
              <a:ext cx="4922329" cy="1765300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617918" y="3943857"/>
              <a:ext cx="4865941" cy="2158492"/>
            </a:xfrm>
            <a:prstGeom prst="rect">
              <a:avLst/>
            </a:prstGeom>
          </p:spPr>
        </p:pic>
      </p:grpSp>
      <p:sp>
        <p:nvSpPr>
          <p:cNvPr id="20" name="object 20"/>
          <p:cNvSpPr txBox="1"/>
          <p:nvPr/>
        </p:nvSpPr>
        <p:spPr>
          <a:xfrm>
            <a:off x="782827" y="1740230"/>
            <a:ext cx="3784600" cy="40678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22935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latin typeface="Candara"/>
                <a:cs typeface="Candara"/>
              </a:rPr>
              <a:t>Page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2:</a:t>
            </a:r>
            <a:r>
              <a:rPr sz="2400" b="1" spc="-4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Abstract</a:t>
            </a:r>
            <a:r>
              <a:rPr sz="2400" b="1" spc="-2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Sample</a:t>
            </a:r>
            <a:endParaRPr sz="24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355"/>
              </a:spcBef>
            </a:pPr>
            <a:endParaRPr sz="2400">
              <a:latin typeface="Candara"/>
              <a:cs typeface="Candara"/>
            </a:endParaRPr>
          </a:p>
          <a:p>
            <a:pPr marL="18415" marR="1125855">
              <a:lnSpc>
                <a:spcPct val="101499"/>
              </a:lnSpc>
              <a:spcBef>
                <a:spcPts val="5"/>
              </a:spcBef>
            </a:pPr>
            <a:r>
              <a:rPr sz="2000" dirty="0">
                <a:latin typeface="Candara"/>
                <a:cs typeface="Candara"/>
              </a:rPr>
              <a:t>Page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header: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do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NOT </a:t>
            </a:r>
            <a:r>
              <a:rPr sz="2000" dirty="0">
                <a:latin typeface="Candara"/>
                <a:cs typeface="Candara"/>
              </a:rPr>
              <a:t>include</a:t>
            </a:r>
            <a:r>
              <a:rPr sz="2000" spc="-65" dirty="0">
                <a:latin typeface="Candara"/>
                <a:cs typeface="Candara"/>
              </a:rPr>
              <a:t> </a:t>
            </a:r>
            <a:r>
              <a:rPr sz="2000" dirty="0">
                <a:latin typeface="MS PGothic"/>
                <a:cs typeface="MS PGothic"/>
              </a:rPr>
              <a:t>“</a:t>
            </a:r>
            <a:r>
              <a:rPr sz="2000" dirty="0">
                <a:latin typeface="Candara"/>
                <a:cs typeface="Candara"/>
              </a:rPr>
              <a:t>Running</a:t>
            </a:r>
            <a:r>
              <a:rPr sz="2000" spc="-6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head:</a:t>
            </a:r>
            <a:r>
              <a:rPr sz="2000" spc="-10" dirty="0">
                <a:latin typeface="MS PGothic"/>
                <a:cs typeface="MS PGothic"/>
              </a:rPr>
              <a:t>”</a:t>
            </a:r>
            <a:endParaRPr sz="2000">
              <a:latin typeface="MS PGothic"/>
              <a:cs typeface="MS PGothic"/>
            </a:endParaRPr>
          </a:p>
          <a:p>
            <a:pPr marL="18415">
              <a:lnSpc>
                <a:spcPct val="100000"/>
              </a:lnSpc>
              <a:spcBef>
                <a:spcPts val="2365"/>
              </a:spcBef>
            </a:pPr>
            <a:r>
              <a:rPr sz="2000" dirty="0">
                <a:latin typeface="Candara"/>
                <a:cs typeface="Candara"/>
              </a:rPr>
              <a:t>Abstract: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Left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aligned,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at</a:t>
            </a:r>
            <a:endParaRPr sz="2000">
              <a:latin typeface="Candara"/>
              <a:cs typeface="Candara"/>
            </a:endParaRPr>
          </a:p>
          <a:p>
            <a:pPr marL="18415">
              <a:lnSpc>
                <a:spcPct val="100000"/>
              </a:lnSpc>
            </a:pPr>
            <a:r>
              <a:rPr sz="2000" dirty="0">
                <a:latin typeface="Candara"/>
                <a:cs typeface="Candara"/>
              </a:rPr>
              <a:t>the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top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page</a:t>
            </a:r>
            <a:endParaRPr sz="2000">
              <a:latin typeface="Candara"/>
              <a:cs typeface="Candara"/>
            </a:endParaRPr>
          </a:p>
          <a:p>
            <a:pPr>
              <a:lnSpc>
                <a:spcPct val="100000"/>
              </a:lnSpc>
              <a:spcBef>
                <a:spcPts val="1575"/>
              </a:spcBef>
            </a:pPr>
            <a:endParaRPr sz="2000">
              <a:latin typeface="Candara"/>
              <a:cs typeface="Candara"/>
            </a:endParaRPr>
          </a:p>
          <a:p>
            <a:pPr marL="12700" marR="1016000">
              <a:lnSpc>
                <a:spcPct val="100000"/>
              </a:lnSpc>
            </a:pPr>
            <a:r>
              <a:rPr sz="2000" dirty="0">
                <a:latin typeface="Candara"/>
                <a:cs typeface="Candara"/>
              </a:rPr>
              <a:t>Write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150-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250-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word </a:t>
            </a:r>
            <a:r>
              <a:rPr sz="2000" dirty="0">
                <a:latin typeface="Candara"/>
                <a:cs typeface="Candara"/>
              </a:rPr>
              <a:t>summary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your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paper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in </a:t>
            </a:r>
            <a:r>
              <a:rPr sz="2000" dirty="0">
                <a:latin typeface="Candara"/>
                <a:cs typeface="Candara"/>
              </a:rPr>
              <a:t>an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accurate,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concise,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and </a:t>
            </a:r>
            <a:r>
              <a:rPr sz="2000" dirty="0">
                <a:latin typeface="Candara"/>
                <a:cs typeface="Candara"/>
              </a:rPr>
              <a:t>specific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manner.</a:t>
            </a:r>
            <a:endParaRPr sz="20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dirty="0"/>
              <a:t>Page</a:t>
            </a:r>
            <a:r>
              <a:rPr spc="-25" dirty="0"/>
              <a:t> </a:t>
            </a:r>
            <a:r>
              <a:rPr dirty="0"/>
              <a:t>2:</a:t>
            </a:r>
            <a:r>
              <a:rPr spc="-30" dirty="0"/>
              <a:t> </a:t>
            </a:r>
            <a:r>
              <a:rPr dirty="0"/>
              <a:t>Main</a:t>
            </a:r>
            <a:r>
              <a:rPr spc="-20" dirty="0"/>
              <a:t> </a:t>
            </a:r>
            <a:r>
              <a:rPr dirty="0"/>
              <a:t>Body</a:t>
            </a:r>
            <a:r>
              <a:rPr spc="-10" dirty="0"/>
              <a:t> (Text)</a:t>
            </a: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Title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of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paper</a:t>
            </a:r>
            <a:r>
              <a:rPr sz="2000" b="0" spc="-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at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-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top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of</a:t>
            </a:r>
            <a:r>
              <a:rPr sz="2000" b="0" spc="-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spc="-20" dirty="0">
                <a:latin typeface="Candara"/>
                <a:cs typeface="Candara"/>
              </a:rPr>
              <a:t>page</a:t>
            </a:r>
            <a:endParaRPr sz="2000">
              <a:latin typeface="Candara"/>
              <a:cs typeface="Candara"/>
            </a:endParaRPr>
          </a:p>
          <a:p>
            <a:pPr marL="469265" marR="6350" indent="-457200">
              <a:lnSpc>
                <a:spcPts val="3600"/>
              </a:lnSpc>
              <a:spcBef>
                <a:spcPts val="32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spc="-10" dirty="0">
                <a:latin typeface="Candara"/>
                <a:cs typeface="Candara"/>
              </a:rPr>
              <a:t>Double-</a:t>
            </a:r>
            <a:r>
              <a:rPr sz="2000" b="0" dirty="0">
                <a:latin typeface="Candara"/>
                <a:cs typeface="Candara"/>
              </a:rPr>
              <a:t>spacing</a:t>
            </a:r>
            <a:r>
              <a:rPr sz="2000" b="0" spc="409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with</a:t>
            </a:r>
            <a:r>
              <a:rPr sz="2000" b="0" spc="39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all</a:t>
            </a:r>
            <a:r>
              <a:rPr sz="2000" b="0" spc="409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sections</a:t>
            </a:r>
            <a:r>
              <a:rPr sz="2000" b="0" spc="40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following</a:t>
            </a:r>
            <a:r>
              <a:rPr sz="2000" b="0" spc="409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each</a:t>
            </a:r>
            <a:r>
              <a:rPr sz="2000" b="0" spc="40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other</a:t>
            </a:r>
            <a:r>
              <a:rPr sz="2000" b="0" spc="409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without</a:t>
            </a:r>
            <a:r>
              <a:rPr sz="2000" b="0" spc="409" dirty="0">
                <a:latin typeface="Candara"/>
                <a:cs typeface="Candara"/>
              </a:rPr>
              <a:t> </a:t>
            </a:r>
            <a:r>
              <a:rPr sz="2000" b="0" spc="-50" dirty="0">
                <a:latin typeface="Candara"/>
                <a:cs typeface="Candara"/>
              </a:rPr>
              <a:t>a </a:t>
            </a:r>
            <a:r>
              <a:rPr sz="2000" b="0" spc="-10" dirty="0">
                <a:latin typeface="Candara"/>
                <a:cs typeface="Candara"/>
              </a:rPr>
              <a:t>break</a:t>
            </a:r>
            <a:endParaRPr sz="2000">
              <a:latin typeface="Candara"/>
              <a:cs typeface="Candara"/>
            </a:endParaRPr>
          </a:p>
          <a:p>
            <a:pPr marL="469265" marR="5080" indent="-457200">
              <a:lnSpc>
                <a:spcPts val="36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Identify</a:t>
            </a:r>
            <a:r>
              <a:rPr sz="2000" b="0" spc="27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26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sources</a:t>
            </a:r>
            <a:r>
              <a:rPr sz="2000" b="0" spc="27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you</a:t>
            </a:r>
            <a:r>
              <a:rPr sz="2000" b="0" spc="26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use</a:t>
            </a:r>
            <a:r>
              <a:rPr sz="2000" b="0" spc="27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in</a:t>
            </a:r>
            <a:r>
              <a:rPr sz="2000" b="0" spc="27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26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paper</a:t>
            </a:r>
            <a:r>
              <a:rPr sz="2000" b="0" spc="28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in</a:t>
            </a:r>
            <a:r>
              <a:rPr sz="2000" b="0" spc="27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parenthetical</a:t>
            </a:r>
            <a:r>
              <a:rPr sz="2000" b="0" spc="295" dirty="0">
                <a:latin typeface="Candara"/>
                <a:cs typeface="Candara"/>
              </a:rPr>
              <a:t> </a:t>
            </a:r>
            <a:r>
              <a:rPr sz="2000" b="0" spc="-20" dirty="0">
                <a:latin typeface="Candara"/>
                <a:cs typeface="Candara"/>
              </a:rPr>
              <a:t>in-text </a:t>
            </a:r>
            <a:r>
              <a:rPr sz="2000" b="0" spc="-10" dirty="0">
                <a:latin typeface="Candara"/>
                <a:cs typeface="Candara"/>
              </a:rPr>
              <a:t>citations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26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90500" y="2133600"/>
            <a:ext cx="838200" cy="1100455"/>
            <a:chOff x="190500" y="2133600"/>
            <a:chExt cx="838200" cy="110045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584069"/>
              <a:ext cx="838200" cy="649604"/>
            </a:xfrm>
            <a:prstGeom prst="rect">
              <a:avLst/>
            </a:prstGeom>
          </p:spPr>
        </p:pic>
      </p:grpSp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484879"/>
            <a:ext cx="838200" cy="649604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27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2390" cy="42602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latin typeface="Candara"/>
                <a:cs typeface="Candara"/>
              </a:rPr>
              <a:t>In-</a:t>
            </a:r>
            <a:r>
              <a:rPr sz="2400" b="1" dirty="0">
                <a:latin typeface="Candara"/>
                <a:cs typeface="Candara"/>
              </a:rPr>
              <a:t>text</a:t>
            </a:r>
            <a:r>
              <a:rPr sz="2400" b="1" spc="-7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Citations:</a:t>
            </a:r>
            <a:r>
              <a:rPr sz="2400" b="1" spc="-6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Basics</a:t>
            </a:r>
            <a:endParaRPr sz="2400">
              <a:latin typeface="Candara"/>
              <a:cs typeface="Candara"/>
            </a:endParaRPr>
          </a:p>
          <a:p>
            <a:pPr marL="469265" marR="6985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This</a:t>
            </a:r>
            <a:r>
              <a:rPr sz="2000" spc="6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means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that</a:t>
            </a:r>
            <a:r>
              <a:rPr sz="2000" spc="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author's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last</a:t>
            </a:r>
            <a:r>
              <a:rPr sz="2000" spc="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name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6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year</a:t>
            </a:r>
            <a:r>
              <a:rPr sz="2000" spc="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6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publication </a:t>
            </a:r>
            <a:r>
              <a:rPr sz="2000" dirty="0">
                <a:latin typeface="Candara"/>
                <a:cs typeface="Candara"/>
              </a:rPr>
              <a:t>for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source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should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appear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b="1" dirty="0">
                <a:latin typeface="Candara"/>
                <a:cs typeface="Candara"/>
              </a:rPr>
              <a:t>text</a:t>
            </a:r>
            <a:r>
              <a:rPr sz="2000" dirty="0">
                <a:latin typeface="Candara"/>
                <a:cs typeface="Candara"/>
              </a:rPr>
              <a:t>,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e.g.,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(Ahmad,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2016).</a:t>
            </a:r>
            <a:endParaRPr sz="2000">
              <a:latin typeface="Candara"/>
              <a:cs typeface="Candara"/>
            </a:endParaRPr>
          </a:p>
          <a:p>
            <a:pPr marL="469265" marR="6350" indent="-457200">
              <a:lnSpc>
                <a:spcPct val="150000"/>
              </a:lnSpc>
              <a:buFont typeface="Arial MT"/>
              <a:buChar char="•"/>
              <a:tabLst>
                <a:tab pos="469265" algn="l"/>
                <a:tab pos="1346200" algn="l"/>
                <a:tab pos="2426970" algn="l"/>
                <a:tab pos="3057525" algn="l"/>
                <a:tab pos="4036060" algn="l"/>
                <a:tab pos="4860925" algn="l"/>
                <a:tab pos="5383530" algn="l"/>
                <a:tab pos="6078855" algn="l"/>
                <a:tab pos="6960870" algn="l"/>
                <a:tab pos="7318375" algn="l"/>
              </a:tabLst>
            </a:pPr>
            <a:r>
              <a:rPr sz="2000" spc="-10" dirty="0">
                <a:latin typeface="Candara"/>
                <a:cs typeface="Candara"/>
              </a:rPr>
              <a:t>In-</a:t>
            </a:r>
            <a:r>
              <a:rPr sz="2000" spc="-20" dirty="0">
                <a:latin typeface="Candara"/>
                <a:cs typeface="Candara"/>
              </a:rPr>
              <a:t>text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citations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help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readers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locate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the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cited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source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in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the </a:t>
            </a:r>
            <a:r>
              <a:rPr sz="2000" dirty="0">
                <a:latin typeface="Candara"/>
                <a:cs typeface="Candara"/>
              </a:rPr>
              <a:t>References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section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10" dirty="0">
                <a:latin typeface="Candara"/>
                <a:cs typeface="Candara"/>
              </a:rPr>
              <a:t> paper.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Whenever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you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use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source,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provide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parenthesis:</a:t>
            </a:r>
            <a:endParaRPr sz="2000">
              <a:latin typeface="Candara"/>
              <a:cs typeface="Candara"/>
            </a:endParaRPr>
          </a:p>
          <a:p>
            <a:pPr marL="926465" lvl="1" indent="-457200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the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author</a:t>
            </a:r>
            <a:r>
              <a:rPr sz="2000" dirty="0">
                <a:latin typeface="MS PGothic"/>
                <a:cs typeface="MS PGothic"/>
              </a:rPr>
              <a:t>’</a:t>
            </a:r>
            <a:r>
              <a:rPr sz="2000" dirty="0">
                <a:latin typeface="Candara"/>
                <a:cs typeface="Candara"/>
              </a:rPr>
              <a:t>s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name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date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publication</a:t>
            </a:r>
            <a:endParaRPr sz="2000">
              <a:latin typeface="Candara"/>
              <a:cs typeface="Candara"/>
            </a:endParaRPr>
          </a:p>
          <a:p>
            <a:pPr marL="926465" lvl="1" indent="-457200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for</a:t>
            </a:r>
            <a:r>
              <a:rPr sz="2000" spc="4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quotations</a:t>
            </a:r>
            <a:r>
              <a:rPr sz="2000" spc="4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4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close</a:t>
            </a:r>
            <a:r>
              <a:rPr sz="2000" spc="4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paraphrases,</a:t>
            </a:r>
            <a:r>
              <a:rPr sz="2000" spc="4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provide</a:t>
            </a:r>
            <a:r>
              <a:rPr sz="2000" spc="43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4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author</a:t>
            </a:r>
            <a:r>
              <a:rPr sz="2000" spc="-10" dirty="0">
                <a:latin typeface="MS PGothic"/>
                <a:cs typeface="MS PGothic"/>
              </a:rPr>
              <a:t>’</a:t>
            </a:r>
            <a:r>
              <a:rPr sz="2000" spc="-10" dirty="0">
                <a:latin typeface="Candara"/>
                <a:cs typeface="Candara"/>
              </a:rPr>
              <a:t>s</a:t>
            </a:r>
            <a:endParaRPr sz="2000">
              <a:latin typeface="Candara"/>
              <a:cs typeface="Candara"/>
            </a:endParaRPr>
          </a:p>
          <a:p>
            <a:pPr marL="9264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andara"/>
                <a:cs typeface="Candara"/>
              </a:rPr>
              <a:t>name,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date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publication,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page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number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035426"/>
            <a:ext cx="838200" cy="649605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937127"/>
            <a:ext cx="838200" cy="649605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28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2390" cy="490728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latin typeface="Candara"/>
                <a:cs typeface="Candara"/>
              </a:rPr>
              <a:t>In-</a:t>
            </a:r>
            <a:r>
              <a:rPr sz="2400" b="1" dirty="0">
                <a:latin typeface="Candara"/>
                <a:cs typeface="Candara"/>
              </a:rPr>
              <a:t>text</a:t>
            </a:r>
            <a:r>
              <a:rPr sz="2400" b="1" spc="-8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Citations:</a:t>
            </a:r>
            <a:r>
              <a:rPr sz="2400" b="1" spc="-6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Formatting</a:t>
            </a:r>
            <a:r>
              <a:rPr sz="2400" b="1" spc="-7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Quotations</a:t>
            </a:r>
            <a:endParaRPr sz="2400">
              <a:latin typeface="Candara"/>
              <a:cs typeface="Candara"/>
            </a:endParaRPr>
          </a:p>
          <a:p>
            <a:pPr marL="464820" marR="5080" indent="-45275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quoting,</a:t>
            </a:r>
            <a:r>
              <a:rPr sz="2000" spc="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introduce</a:t>
            </a:r>
            <a:r>
              <a:rPr sz="2000" spc="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quotation</a:t>
            </a:r>
            <a:r>
              <a:rPr sz="2000" spc="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with</a:t>
            </a:r>
            <a:r>
              <a:rPr sz="2000" spc="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signal</a:t>
            </a:r>
            <a:r>
              <a:rPr sz="2000" spc="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phrase.</a:t>
            </a:r>
            <a:r>
              <a:rPr sz="2000" spc="55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Make 	</a:t>
            </a:r>
            <a:r>
              <a:rPr sz="2000" dirty="0">
                <a:latin typeface="Candara"/>
                <a:cs typeface="Candara"/>
              </a:rPr>
              <a:t>sure</a:t>
            </a:r>
            <a:r>
              <a:rPr sz="2000" spc="3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3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include</a:t>
            </a:r>
            <a:r>
              <a:rPr sz="2000" spc="3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3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author</a:t>
            </a:r>
            <a:r>
              <a:rPr sz="2000" dirty="0">
                <a:latin typeface="MS PGothic"/>
                <a:cs typeface="MS PGothic"/>
              </a:rPr>
              <a:t>’</a:t>
            </a:r>
            <a:r>
              <a:rPr sz="2000" dirty="0">
                <a:latin typeface="Candara"/>
                <a:cs typeface="Candara"/>
              </a:rPr>
              <a:t>s</a:t>
            </a:r>
            <a:r>
              <a:rPr sz="2000" spc="3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name,</a:t>
            </a:r>
            <a:r>
              <a:rPr sz="2000" spc="3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3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year</a:t>
            </a:r>
            <a:r>
              <a:rPr sz="2000" spc="3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3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publication,</a:t>
            </a:r>
            <a:r>
              <a:rPr sz="2000" spc="39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the 	</a:t>
            </a:r>
            <a:r>
              <a:rPr sz="2000" dirty="0">
                <a:latin typeface="Candara"/>
                <a:cs typeface="Candara"/>
              </a:rPr>
              <a:t>page</a:t>
            </a:r>
            <a:r>
              <a:rPr sz="2000" spc="3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number,</a:t>
            </a:r>
            <a:r>
              <a:rPr sz="2000" spc="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but</a:t>
            </a:r>
            <a:r>
              <a:rPr sz="2000" spc="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keep</a:t>
            </a:r>
            <a:r>
              <a:rPr sz="2000" spc="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citation</a:t>
            </a:r>
            <a:r>
              <a:rPr sz="2000" spc="3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brief</a:t>
            </a:r>
            <a:r>
              <a:rPr sz="2000" spc="4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–</a:t>
            </a:r>
            <a:r>
              <a:rPr sz="2000" spc="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do</a:t>
            </a:r>
            <a:r>
              <a:rPr sz="2000" spc="3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not</a:t>
            </a:r>
            <a:r>
              <a:rPr sz="2000" spc="3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repeat</a:t>
            </a:r>
            <a:r>
              <a:rPr sz="2000" spc="45" dirty="0">
                <a:latin typeface="Candara"/>
                <a:cs typeface="Candara"/>
              </a:rPr>
              <a:t>  </a:t>
            </a:r>
            <a:r>
              <a:rPr sz="2000" spc="-25" dirty="0">
                <a:latin typeface="Candara"/>
                <a:cs typeface="Candara"/>
              </a:rPr>
              <a:t>the 	</a:t>
            </a:r>
            <a:r>
              <a:rPr sz="2000" dirty="0">
                <a:latin typeface="Candara"/>
                <a:cs typeface="Candara"/>
              </a:rPr>
              <a:t>information.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For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example:</a:t>
            </a:r>
            <a:endParaRPr sz="2000">
              <a:latin typeface="Candara"/>
              <a:cs typeface="Candara"/>
            </a:endParaRPr>
          </a:p>
          <a:p>
            <a:pPr marL="924560" marR="5080" lvl="1" indent="-455295" algn="just">
              <a:lnSpc>
                <a:spcPct val="150100"/>
              </a:lnSpc>
              <a:spcBef>
                <a:spcPts val="55"/>
              </a:spcBef>
              <a:buFont typeface="Courier New"/>
              <a:buChar char="o"/>
              <a:tabLst>
                <a:tab pos="926465" algn="l"/>
              </a:tabLst>
            </a:pPr>
            <a:r>
              <a:rPr sz="1800" dirty="0">
                <a:latin typeface="Candara"/>
                <a:cs typeface="Candara"/>
              </a:rPr>
              <a:t>Caruth</a:t>
            </a:r>
            <a:r>
              <a:rPr sz="1800" spc="27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(1996)</a:t>
            </a:r>
            <a:r>
              <a:rPr sz="1800" spc="28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states</a:t>
            </a:r>
            <a:r>
              <a:rPr sz="1800" spc="28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that</a:t>
            </a:r>
            <a:r>
              <a:rPr sz="1800" spc="28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</a:t>
            </a:r>
            <a:r>
              <a:rPr sz="1800" spc="27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traumatic</a:t>
            </a:r>
            <a:r>
              <a:rPr sz="1800" spc="27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response</a:t>
            </a:r>
            <a:r>
              <a:rPr sz="1800" spc="28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frequently</a:t>
            </a:r>
            <a:r>
              <a:rPr sz="1800" spc="27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entails</a:t>
            </a:r>
            <a:r>
              <a:rPr sz="1800" spc="280" dirty="0">
                <a:latin typeface="Candara"/>
                <a:cs typeface="Candara"/>
              </a:rPr>
              <a:t> </a:t>
            </a:r>
            <a:r>
              <a:rPr sz="1800" spc="-50" dirty="0">
                <a:latin typeface="Candara"/>
                <a:cs typeface="Candara"/>
              </a:rPr>
              <a:t>a 	</a:t>
            </a:r>
            <a:r>
              <a:rPr sz="1800" dirty="0">
                <a:latin typeface="Candara"/>
                <a:cs typeface="Candara"/>
              </a:rPr>
              <a:t>“delayed,</a:t>
            </a:r>
            <a:r>
              <a:rPr sz="1800" spc="36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uncontrolled</a:t>
            </a:r>
            <a:r>
              <a:rPr sz="1800" spc="37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repetitive</a:t>
            </a:r>
            <a:r>
              <a:rPr sz="1800" spc="36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appearance</a:t>
            </a:r>
            <a:r>
              <a:rPr sz="1800" spc="35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of</a:t>
            </a:r>
            <a:r>
              <a:rPr sz="1800" spc="35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hallucinations</a:t>
            </a:r>
            <a:r>
              <a:rPr sz="1800" spc="365" dirty="0">
                <a:latin typeface="Candara"/>
                <a:cs typeface="Candara"/>
              </a:rPr>
              <a:t> </a:t>
            </a:r>
            <a:r>
              <a:rPr sz="1800" spc="-25" dirty="0">
                <a:latin typeface="Candara"/>
                <a:cs typeface="Candara"/>
              </a:rPr>
              <a:t>and 	</a:t>
            </a:r>
            <a:r>
              <a:rPr sz="1800" dirty="0">
                <a:latin typeface="Candara"/>
                <a:cs typeface="Candara"/>
              </a:rPr>
              <a:t>other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intrusive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phenomena”</a:t>
            </a:r>
            <a:r>
              <a:rPr sz="1800" spc="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(p.11).</a:t>
            </a:r>
            <a:endParaRPr sz="1800">
              <a:latin typeface="Candara"/>
              <a:cs typeface="Candara"/>
            </a:endParaRPr>
          </a:p>
          <a:p>
            <a:pPr marL="926465" marR="5715" lvl="1" indent="-457200" algn="just">
              <a:lnSpc>
                <a:spcPct val="150000"/>
              </a:lnSpc>
              <a:buFont typeface="Courier New"/>
              <a:buChar char="o"/>
              <a:tabLst>
                <a:tab pos="926465" algn="l"/>
                <a:tab pos="974725" algn="l"/>
              </a:tabLst>
            </a:pPr>
            <a:r>
              <a:rPr sz="1800" dirty="0">
                <a:latin typeface="Candara"/>
                <a:cs typeface="Candara"/>
              </a:rPr>
              <a:t>	A</a:t>
            </a:r>
            <a:r>
              <a:rPr sz="1800" spc="47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traumatic</a:t>
            </a:r>
            <a:r>
              <a:rPr sz="1800" spc="49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response</a:t>
            </a:r>
            <a:r>
              <a:rPr sz="1800" spc="484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frequently</a:t>
            </a:r>
            <a:r>
              <a:rPr sz="1800" spc="47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entails</a:t>
            </a:r>
            <a:r>
              <a:rPr sz="1800" spc="48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</a:t>
            </a:r>
            <a:r>
              <a:rPr sz="1800" spc="484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“delayed,</a:t>
            </a:r>
            <a:r>
              <a:rPr sz="1800" spc="484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uncontrolled </a:t>
            </a:r>
            <a:r>
              <a:rPr sz="1800" dirty="0">
                <a:latin typeface="Candara"/>
                <a:cs typeface="Candara"/>
              </a:rPr>
              <a:t>repetitive</a:t>
            </a:r>
            <a:r>
              <a:rPr sz="1800" spc="29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appearance</a:t>
            </a:r>
            <a:r>
              <a:rPr sz="1800" spc="29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of</a:t>
            </a:r>
            <a:r>
              <a:rPr sz="1800" spc="29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hallucinations</a:t>
            </a:r>
            <a:r>
              <a:rPr sz="1800" spc="285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and</a:t>
            </a:r>
            <a:r>
              <a:rPr sz="1800" spc="290" dirty="0">
                <a:latin typeface="Candara"/>
                <a:cs typeface="Candara"/>
              </a:rPr>
              <a:t>    </a:t>
            </a:r>
            <a:r>
              <a:rPr sz="1800" dirty="0">
                <a:latin typeface="Candara"/>
                <a:cs typeface="Candara"/>
              </a:rPr>
              <a:t>other</a:t>
            </a:r>
            <a:r>
              <a:rPr sz="1800" spc="285" dirty="0">
                <a:latin typeface="Candara"/>
                <a:cs typeface="Candara"/>
              </a:rPr>
              <a:t>    </a:t>
            </a:r>
            <a:r>
              <a:rPr sz="1800" spc="-10" dirty="0">
                <a:latin typeface="Candara"/>
                <a:cs typeface="Candara"/>
              </a:rPr>
              <a:t>intrusive </a:t>
            </a:r>
            <a:r>
              <a:rPr sz="1800" spc="-20" dirty="0">
                <a:latin typeface="Candara"/>
                <a:cs typeface="Candara"/>
              </a:rPr>
              <a:t>phenomena</a:t>
            </a:r>
            <a:r>
              <a:rPr sz="1800" spc="-20" dirty="0">
                <a:latin typeface="MS PGothic"/>
                <a:cs typeface="MS PGothic"/>
              </a:rPr>
              <a:t>”</a:t>
            </a:r>
            <a:r>
              <a:rPr sz="1800" spc="-160" dirty="0">
                <a:latin typeface="MS PGothic"/>
                <a:cs typeface="MS PGothic"/>
              </a:rPr>
              <a:t> </a:t>
            </a:r>
            <a:r>
              <a:rPr sz="1800" dirty="0">
                <a:latin typeface="Candara"/>
                <a:cs typeface="Candara"/>
              </a:rPr>
              <a:t>(Caruth,</a:t>
            </a:r>
            <a:r>
              <a:rPr sz="1800" spc="1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1996,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p.11).</a:t>
            </a:r>
            <a:endParaRPr sz="18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pc="-20" dirty="0"/>
              <a:t>In-</a:t>
            </a:r>
            <a:r>
              <a:rPr dirty="0"/>
              <a:t>text</a:t>
            </a:r>
            <a:r>
              <a:rPr spc="-50" dirty="0"/>
              <a:t> </a:t>
            </a:r>
            <a:r>
              <a:rPr dirty="0"/>
              <a:t>Citations:</a:t>
            </a:r>
            <a:r>
              <a:rPr spc="-35" dirty="0"/>
              <a:t> </a:t>
            </a:r>
            <a:r>
              <a:rPr dirty="0"/>
              <a:t>Formatting</a:t>
            </a:r>
            <a:r>
              <a:rPr spc="-35" dirty="0"/>
              <a:t> </a:t>
            </a:r>
            <a:r>
              <a:rPr dirty="0"/>
              <a:t>a</a:t>
            </a:r>
            <a:r>
              <a:rPr spc="-45" dirty="0"/>
              <a:t> </a:t>
            </a:r>
            <a:r>
              <a:rPr dirty="0"/>
              <a:t>Summary</a:t>
            </a:r>
            <a:r>
              <a:rPr spc="-40" dirty="0"/>
              <a:t> </a:t>
            </a:r>
            <a:r>
              <a:rPr dirty="0"/>
              <a:t>or</a:t>
            </a:r>
            <a:r>
              <a:rPr spc="-40" dirty="0"/>
              <a:t> </a:t>
            </a:r>
            <a:r>
              <a:rPr spc="-10" dirty="0"/>
              <a:t>Paraphrase</a:t>
            </a:r>
          </a:p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Provide</a:t>
            </a:r>
            <a:r>
              <a:rPr sz="2000" b="0" spc="47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470" dirty="0">
                <a:latin typeface="Candara"/>
                <a:cs typeface="Candara"/>
              </a:rPr>
              <a:t> </a:t>
            </a:r>
            <a:r>
              <a:rPr sz="2000" spc="50" dirty="0"/>
              <a:t>author</a:t>
            </a:r>
            <a:r>
              <a:rPr sz="2000" spc="50" dirty="0">
                <a:latin typeface="Arial"/>
                <a:cs typeface="Arial"/>
              </a:rPr>
              <a:t>’</a:t>
            </a:r>
            <a:r>
              <a:rPr sz="2000" spc="50" dirty="0"/>
              <a:t>s</a:t>
            </a:r>
            <a:r>
              <a:rPr sz="2000" spc="470" dirty="0"/>
              <a:t> </a:t>
            </a:r>
            <a:r>
              <a:rPr sz="2000" dirty="0"/>
              <a:t>last</a:t>
            </a:r>
            <a:r>
              <a:rPr sz="2000" spc="470" dirty="0"/>
              <a:t> </a:t>
            </a:r>
            <a:r>
              <a:rPr sz="2000" dirty="0"/>
              <a:t>name</a:t>
            </a:r>
            <a:r>
              <a:rPr sz="2000" spc="480" dirty="0"/>
              <a:t> </a:t>
            </a:r>
            <a:r>
              <a:rPr sz="2000" b="0" dirty="0">
                <a:latin typeface="Candara"/>
                <a:cs typeface="Candara"/>
              </a:rPr>
              <a:t>and</a:t>
            </a:r>
            <a:r>
              <a:rPr sz="2000" b="0" spc="47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475" dirty="0">
                <a:latin typeface="Candara"/>
                <a:cs typeface="Candara"/>
              </a:rPr>
              <a:t> </a:t>
            </a:r>
            <a:r>
              <a:rPr sz="2000" dirty="0"/>
              <a:t>year</a:t>
            </a:r>
            <a:r>
              <a:rPr sz="2000" spc="470" dirty="0"/>
              <a:t> </a:t>
            </a:r>
            <a:r>
              <a:rPr sz="2000" dirty="0"/>
              <a:t>of</a:t>
            </a:r>
            <a:r>
              <a:rPr sz="2000" spc="465" dirty="0"/>
              <a:t> </a:t>
            </a:r>
            <a:r>
              <a:rPr sz="2000" dirty="0"/>
              <a:t>publication</a:t>
            </a:r>
            <a:r>
              <a:rPr sz="2000" spc="484" dirty="0"/>
              <a:t> </a:t>
            </a:r>
            <a:r>
              <a:rPr sz="2000" b="0" spc="-25" dirty="0">
                <a:latin typeface="Candara"/>
                <a:cs typeface="Candara"/>
              </a:rPr>
              <a:t>in </a:t>
            </a:r>
            <a:r>
              <a:rPr sz="2000" b="0" dirty="0">
                <a:latin typeface="Candara"/>
                <a:cs typeface="Candara"/>
              </a:rPr>
              <a:t>parenthesis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after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summary</a:t>
            </a:r>
            <a:r>
              <a:rPr sz="2000" b="0" spc="-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or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 </a:t>
            </a:r>
            <a:r>
              <a:rPr sz="2000" b="0" spc="-10" dirty="0">
                <a:latin typeface="Candara"/>
                <a:cs typeface="Candara"/>
              </a:rPr>
              <a:t>paraphrase.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For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example:</a:t>
            </a:r>
            <a:endParaRPr sz="2000">
              <a:latin typeface="Candara"/>
              <a:cs typeface="Candara"/>
            </a:endParaRPr>
          </a:p>
          <a:p>
            <a:pPr marL="926465" lvl="1" indent="-457200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Though</a:t>
            </a:r>
            <a:r>
              <a:rPr sz="2000" spc="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feminist</a:t>
            </a:r>
            <a:r>
              <a:rPr sz="2000" spc="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studies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focus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solely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on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women’s</a:t>
            </a:r>
            <a:r>
              <a:rPr sz="2000" spc="7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experiences,</a:t>
            </a:r>
            <a:endParaRPr sz="2000">
              <a:latin typeface="Candara"/>
              <a:cs typeface="Candara"/>
            </a:endParaRPr>
          </a:p>
          <a:p>
            <a:pPr marL="926465" marR="6985">
              <a:lnSpc>
                <a:spcPct val="150000"/>
              </a:lnSpc>
              <a:spcBef>
                <a:spcPts val="5"/>
              </a:spcBef>
            </a:pPr>
            <a:r>
              <a:rPr sz="2000" b="0" dirty="0">
                <a:latin typeface="Candara"/>
                <a:cs typeface="Candara"/>
              </a:rPr>
              <a:t>they</a:t>
            </a:r>
            <a:r>
              <a:rPr sz="2000" b="0" spc="39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err</a:t>
            </a:r>
            <a:r>
              <a:rPr sz="2000" b="0" spc="38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by</a:t>
            </a:r>
            <a:r>
              <a:rPr sz="2000" b="0" spc="39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collectively</a:t>
            </a:r>
            <a:r>
              <a:rPr sz="2000" b="0" spc="39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perpetuating</a:t>
            </a:r>
            <a:r>
              <a:rPr sz="2000" b="0" spc="39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385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masculine-centered </a:t>
            </a:r>
            <a:r>
              <a:rPr sz="2000" b="0" dirty="0">
                <a:latin typeface="Candara"/>
                <a:cs typeface="Candara"/>
              </a:rPr>
              <a:t>impressions</a:t>
            </a:r>
            <a:r>
              <a:rPr sz="2000" b="0" spc="-3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(Fussell,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1975).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29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014598"/>
            <a:ext cx="838200" cy="649605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30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3659" cy="38030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latin typeface="Candara"/>
                <a:cs typeface="Candara"/>
              </a:rPr>
              <a:t>In-</a:t>
            </a:r>
            <a:r>
              <a:rPr sz="2400" b="1" dirty="0">
                <a:latin typeface="Candara"/>
                <a:cs typeface="Candara"/>
              </a:rPr>
              <a:t>text</a:t>
            </a:r>
            <a:r>
              <a:rPr sz="2400" b="1" spc="-5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Citations: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Formatting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a</a:t>
            </a:r>
            <a:r>
              <a:rPr sz="2400" b="1" spc="-4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Summary</a:t>
            </a:r>
            <a:r>
              <a:rPr sz="2400" b="1" spc="-4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or</a:t>
            </a:r>
            <a:r>
              <a:rPr sz="2400" b="1" spc="-4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Paraphrase</a:t>
            </a:r>
            <a:endParaRPr sz="2400">
              <a:latin typeface="Candara"/>
              <a:cs typeface="Candara"/>
            </a:endParaRPr>
          </a:p>
          <a:p>
            <a:pPr marL="469265" marR="9525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Several</a:t>
            </a:r>
            <a:r>
              <a:rPr sz="2000" spc="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authors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with</a:t>
            </a:r>
            <a:r>
              <a:rPr sz="2000" spc="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different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dates:</a:t>
            </a:r>
            <a:r>
              <a:rPr sz="2000" spc="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Include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authors</a:t>
            </a:r>
            <a:r>
              <a:rPr sz="2000" spc="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name</a:t>
            </a:r>
            <a:r>
              <a:rPr sz="2000" spc="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20" dirty="0">
                <a:latin typeface="Candara"/>
                <a:cs typeface="Candara"/>
              </a:rPr>
              <a:t> </a:t>
            </a:r>
            <a:r>
              <a:rPr sz="2000" spc="-50" dirty="0">
                <a:latin typeface="Candara"/>
                <a:cs typeface="Candara"/>
              </a:rPr>
              <a:t>a </a:t>
            </a:r>
            <a:r>
              <a:rPr sz="2000" dirty="0">
                <a:latin typeface="Candara"/>
                <a:cs typeface="Candara"/>
              </a:rPr>
              <a:t>signal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phrase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followed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by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year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publication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parenthesis.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For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example:</a:t>
            </a:r>
            <a:endParaRPr sz="2000">
              <a:latin typeface="Candara"/>
              <a:cs typeface="Candara"/>
            </a:endParaRPr>
          </a:p>
          <a:p>
            <a:pPr marL="926465" lvl="1" indent="-457200" algn="just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Recently,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history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warfare</a:t>
            </a:r>
            <a:r>
              <a:rPr sz="2000" spc="1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has</a:t>
            </a:r>
            <a:r>
              <a:rPr sz="2000" spc="1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been</a:t>
            </a:r>
            <a:r>
              <a:rPr sz="2000" spc="1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significantly</a:t>
            </a:r>
            <a:r>
              <a:rPr sz="2000" spc="14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revised</a:t>
            </a:r>
            <a:endParaRPr sz="2000">
              <a:latin typeface="Candara"/>
              <a:cs typeface="Candara"/>
            </a:endParaRPr>
          </a:p>
          <a:p>
            <a:pPr marL="926465" marR="5080" algn="just">
              <a:lnSpc>
                <a:spcPct val="150000"/>
              </a:lnSpc>
              <a:spcBef>
                <a:spcPts val="5"/>
              </a:spcBef>
            </a:pPr>
            <a:r>
              <a:rPr sz="2000" dirty="0">
                <a:latin typeface="Candara"/>
                <a:cs typeface="Candara"/>
              </a:rPr>
              <a:t>by</a:t>
            </a:r>
            <a:r>
              <a:rPr sz="2000" spc="3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Higonnet</a:t>
            </a:r>
            <a:r>
              <a:rPr sz="2000" spc="2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et</a:t>
            </a:r>
            <a:r>
              <a:rPr sz="2000" spc="3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al.</a:t>
            </a:r>
            <a:r>
              <a:rPr sz="2000" spc="3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(1987),</a:t>
            </a:r>
            <a:r>
              <a:rPr sz="2000" spc="2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Marcus</a:t>
            </a:r>
            <a:r>
              <a:rPr sz="2000" spc="3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(1989),</a:t>
            </a:r>
            <a:r>
              <a:rPr sz="2000" spc="3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3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Raitt</a:t>
            </a:r>
            <a:r>
              <a:rPr sz="2000" spc="3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305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Tate </a:t>
            </a:r>
            <a:r>
              <a:rPr sz="2000" dirty="0">
                <a:latin typeface="Candara"/>
                <a:cs typeface="Candara"/>
              </a:rPr>
              <a:t>(1997)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include</a:t>
            </a:r>
            <a:r>
              <a:rPr sz="2000" spc="1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women</a:t>
            </a:r>
            <a:r>
              <a:rPr sz="2000" dirty="0">
                <a:latin typeface="MS PGothic"/>
                <a:cs typeface="MS PGothic"/>
              </a:rPr>
              <a:t>’</a:t>
            </a:r>
            <a:r>
              <a:rPr sz="2000" dirty="0">
                <a:latin typeface="Candara"/>
                <a:cs typeface="Candara"/>
              </a:rPr>
              <a:t>s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personal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cultural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responses</a:t>
            </a:r>
            <a:r>
              <a:rPr sz="2000" spc="95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to </a:t>
            </a:r>
            <a:r>
              <a:rPr sz="2000" dirty="0">
                <a:latin typeface="Candara"/>
                <a:cs typeface="Candara"/>
              </a:rPr>
              <a:t>battle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its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resultant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traumatic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effects.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014598"/>
            <a:ext cx="838200" cy="649605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pc="-20" dirty="0"/>
              <a:t>In-</a:t>
            </a:r>
            <a:r>
              <a:rPr dirty="0"/>
              <a:t>text</a:t>
            </a:r>
            <a:r>
              <a:rPr spc="-75" dirty="0"/>
              <a:t> </a:t>
            </a:r>
            <a:r>
              <a:rPr dirty="0"/>
              <a:t>Citations:</a:t>
            </a:r>
            <a:r>
              <a:rPr spc="-55" dirty="0"/>
              <a:t> </a:t>
            </a:r>
            <a:r>
              <a:rPr dirty="0"/>
              <a:t>Signal</a:t>
            </a:r>
            <a:r>
              <a:rPr spc="-75" dirty="0"/>
              <a:t> </a:t>
            </a:r>
            <a:r>
              <a:rPr spc="-10" dirty="0"/>
              <a:t>Words/Phrases</a:t>
            </a: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Introduce</a:t>
            </a:r>
            <a:r>
              <a:rPr sz="2000" b="0" spc="-4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quotations</a:t>
            </a:r>
            <a:r>
              <a:rPr sz="2000" b="0" spc="-3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with</a:t>
            </a:r>
            <a:r>
              <a:rPr sz="2000" b="0" spc="-3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signal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phrases,</a:t>
            </a:r>
            <a:r>
              <a:rPr sz="2000" b="0" spc="-30" dirty="0">
                <a:latin typeface="Candara"/>
                <a:cs typeface="Candara"/>
              </a:rPr>
              <a:t> </a:t>
            </a:r>
            <a:r>
              <a:rPr sz="2000" b="0" spc="-20" dirty="0">
                <a:latin typeface="Candara"/>
                <a:cs typeface="Candara"/>
              </a:rPr>
              <a:t>e.g.</a:t>
            </a:r>
            <a:endParaRPr sz="2000">
              <a:latin typeface="Candara"/>
              <a:cs typeface="Candara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  <a:tabLst>
                <a:tab pos="926465" algn="l"/>
              </a:tabLst>
            </a:pPr>
            <a:r>
              <a:rPr sz="2000" b="0" spc="-50" dirty="0">
                <a:latin typeface="Courier New"/>
                <a:cs typeface="Courier New"/>
              </a:rPr>
              <a:t>o</a:t>
            </a:r>
            <a:r>
              <a:rPr sz="2000" b="0" dirty="0">
                <a:latin typeface="Courier New"/>
                <a:cs typeface="Courier New"/>
              </a:rPr>
              <a:t>	</a:t>
            </a:r>
            <a:r>
              <a:rPr sz="2000" b="0" dirty="0">
                <a:latin typeface="Candara"/>
                <a:cs typeface="Candara"/>
              </a:rPr>
              <a:t>According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to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X.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(2008),</a:t>
            </a:r>
            <a:r>
              <a:rPr sz="2000" b="0" spc="-4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“…”</a:t>
            </a:r>
            <a:r>
              <a:rPr sz="2000" b="0" spc="-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(p.</a:t>
            </a:r>
            <a:r>
              <a:rPr sz="2000" b="0" spc="-30" dirty="0">
                <a:latin typeface="Candara"/>
                <a:cs typeface="Candara"/>
              </a:rPr>
              <a:t> </a:t>
            </a:r>
            <a:r>
              <a:rPr sz="2000" b="0" spc="-25" dirty="0">
                <a:latin typeface="Candara"/>
                <a:cs typeface="Candara"/>
              </a:rPr>
              <a:t>3).</a:t>
            </a:r>
            <a:endParaRPr sz="2000">
              <a:latin typeface="Candara"/>
              <a:cs typeface="Candara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  <a:tabLst>
                <a:tab pos="926465" algn="l"/>
              </a:tabLst>
            </a:pPr>
            <a:r>
              <a:rPr sz="2000" b="0" spc="-50" dirty="0">
                <a:latin typeface="Courier New"/>
                <a:cs typeface="Courier New"/>
              </a:rPr>
              <a:t>o</a:t>
            </a:r>
            <a:r>
              <a:rPr sz="2000" b="0" dirty="0">
                <a:latin typeface="Courier New"/>
                <a:cs typeface="Courier New"/>
              </a:rPr>
              <a:t>	</a:t>
            </a:r>
            <a:r>
              <a:rPr sz="2000" b="0" dirty="0">
                <a:latin typeface="Candara"/>
                <a:cs typeface="Candara"/>
              </a:rPr>
              <a:t>X.</a:t>
            </a:r>
            <a:r>
              <a:rPr sz="2000" b="0" spc="-3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(2008)</a:t>
            </a:r>
            <a:r>
              <a:rPr sz="2000" b="0" spc="-4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argued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that</a:t>
            </a:r>
            <a:r>
              <a:rPr sz="2000" b="0" spc="-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“…”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(p.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spc="-25" dirty="0">
                <a:latin typeface="Candara"/>
                <a:cs typeface="Candara"/>
              </a:rPr>
              <a:t>3).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Use</a:t>
            </a:r>
            <a:r>
              <a:rPr sz="2000" b="0" spc="-4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such signal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verbs</a:t>
            </a:r>
            <a:r>
              <a:rPr sz="2000" b="0" spc="-25" dirty="0">
                <a:latin typeface="Candara"/>
                <a:cs typeface="Candara"/>
              </a:rPr>
              <a:t> as:</a:t>
            </a:r>
            <a:endParaRPr sz="2000">
              <a:latin typeface="Candara"/>
              <a:cs typeface="Candara"/>
            </a:endParaRPr>
          </a:p>
          <a:p>
            <a:pPr marL="926465" marR="5080" lvl="1" indent="-457200">
              <a:lnSpc>
                <a:spcPct val="150000"/>
              </a:lnSpc>
              <a:spcBef>
                <a:spcPts val="5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acknowledged,</a:t>
            </a:r>
            <a:r>
              <a:rPr sz="2000" spc="2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contended,</a:t>
            </a:r>
            <a:r>
              <a:rPr sz="2000" spc="2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maintained,</a:t>
            </a:r>
            <a:r>
              <a:rPr sz="2000" spc="26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responded,</a:t>
            </a:r>
            <a:r>
              <a:rPr sz="2000" spc="26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reported, </a:t>
            </a:r>
            <a:r>
              <a:rPr sz="2000" dirty="0">
                <a:latin typeface="Candara"/>
                <a:cs typeface="Candara"/>
              </a:rPr>
              <a:t>argued,</a:t>
            </a:r>
            <a:r>
              <a:rPr sz="2000" spc="-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concluded,</a:t>
            </a:r>
            <a:r>
              <a:rPr sz="2000" spc="-65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etc.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Use</a:t>
            </a:r>
            <a:r>
              <a:rPr sz="2000" b="0" spc="15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17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past</a:t>
            </a:r>
            <a:r>
              <a:rPr sz="2000" b="0" spc="17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tense</a:t>
            </a:r>
            <a:r>
              <a:rPr sz="2000" b="0" spc="15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or</a:t>
            </a:r>
            <a:r>
              <a:rPr sz="2000" b="0" spc="16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16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present</a:t>
            </a:r>
            <a:r>
              <a:rPr sz="2000" b="0" spc="16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perfect</a:t>
            </a:r>
            <a:r>
              <a:rPr sz="2000" b="0" spc="16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tense</a:t>
            </a:r>
            <a:r>
              <a:rPr sz="2000" b="0" spc="17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of</a:t>
            </a:r>
            <a:r>
              <a:rPr sz="2000" b="0" spc="17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verbs</a:t>
            </a:r>
            <a:r>
              <a:rPr sz="2000" b="0" spc="17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in</a:t>
            </a:r>
            <a:r>
              <a:rPr sz="2000" b="0" spc="155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signal</a:t>
            </a:r>
            <a:endParaRPr sz="2000">
              <a:latin typeface="Candara"/>
              <a:cs typeface="Candara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</a:pPr>
            <a:r>
              <a:rPr sz="2000" b="0" spc="-10" dirty="0">
                <a:latin typeface="Candara"/>
                <a:cs typeface="Candara"/>
              </a:rPr>
              <a:t>phrases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31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465829"/>
            <a:ext cx="838200" cy="6496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4843779"/>
            <a:ext cx="838200" cy="649604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32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3025" cy="47174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latin typeface="Candara"/>
                <a:cs typeface="Candara"/>
              </a:rPr>
              <a:t>In-</a:t>
            </a:r>
            <a:r>
              <a:rPr sz="2400" b="1" dirty="0">
                <a:latin typeface="Candara"/>
                <a:cs typeface="Candara"/>
              </a:rPr>
              <a:t>text</a:t>
            </a:r>
            <a:r>
              <a:rPr sz="2400" b="1" spc="-7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Citations:</a:t>
            </a:r>
            <a:r>
              <a:rPr sz="2400" b="1" spc="-5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A</a:t>
            </a:r>
            <a:r>
              <a:rPr sz="2400" b="1" spc="-7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Work</a:t>
            </a:r>
            <a:r>
              <a:rPr sz="2400" b="1" spc="-6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with</a:t>
            </a:r>
            <a:r>
              <a:rPr sz="2400" b="1" spc="-5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Two</a:t>
            </a:r>
            <a:r>
              <a:rPr sz="2400" b="1" spc="-7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Authors</a:t>
            </a:r>
            <a:endParaRPr sz="2400">
              <a:latin typeface="Candara"/>
              <a:cs typeface="Candara"/>
            </a:endParaRPr>
          </a:p>
          <a:p>
            <a:pPr marL="464820" marR="5080" indent="-45275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7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citing</a:t>
            </a:r>
            <a:r>
              <a:rPr sz="2000" spc="8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8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work</a:t>
            </a:r>
            <a:r>
              <a:rPr sz="2000" spc="8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with</a:t>
            </a:r>
            <a:r>
              <a:rPr sz="2000" spc="7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two</a:t>
            </a:r>
            <a:r>
              <a:rPr sz="2000" spc="8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authors,</a:t>
            </a:r>
            <a:r>
              <a:rPr sz="2000" spc="7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use</a:t>
            </a:r>
            <a:r>
              <a:rPr sz="2000" spc="8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“and”</a:t>
            </a:r>
            <a:r>
              <a:rPr sz="2000" spc="8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75" dirty="0">
                <a:latin typeface="Candara"/>
                <a:cs typeface="Candara"/>
              </a:rPr>
              <a:t>  </a:t>
            </a:r>
            <a:r>
              <a:rPr sz="2000" spc="-10" dirty="0">
                <a:latin typeface="Candara"/>
                <a:cs typeface="Candara"/>
              </a:rPr>
              <a:t>between 	</a:t>
            </a:r>
            <a:r>
              <a:rPr sz="2000" dirty="0">
                <a:latin typeface="Candara"/>
                <a:cs typeface="Candara"/>
              </a:rPr>
              <a:t>authors’</a:t>
            </a:r>
            <a:r>
              <a:rPr sz="2000" spc="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name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signal</a:t>
            </a:r>
            <a:r>
              <a:rPr sz="2000" spc="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phrase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yet</a:t>
            </a:r>
            <a:r>
              <a:rPr sz="2000" spc="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“&amp;”</a:t>
            </a:r>
            <a:r>
              <a:rPr sz="2000" spc="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between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their</a:t>
            </a:r>
            <a:r>
              <a:rPr sz="2000" spc="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names</a:t>
            </a:r>
            <a:r>
              <a:rPr sz="2000" spc="3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in 	</a:t>
            </a:r>
            <a:r>
              <a:rPr sz="2000" spc="-10" dirty="0">
                <a:latin typeface="Candara"/>
                <a:cs typeface="Candara"/>
              </a:rPr>
              <a:t>parenthesis.</a:t>
            </a:r>
            <a:endParaRPr sz="2000">
              <a:latin typeface="Candara"/>
              <a:cs typeface="Candara"/>
            </a:endParaRPr>
          </a:p>
          <a:p>
            <a:pPr marL="926465" lvl="1" indent="-457200" algn="just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According</a:t>
            </a:r>
            <a:r>
              <a:rPr sz="2000" spc="1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1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feminist</a:t>
            </a:r>
            <a:r>
              <a:rPr sz="2000" spc="1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researchers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Raitt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Tate</a:t>
            </a:r>
            <a:r>
              <a:rPr sz="2000" spc="1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(1997),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“It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is</a:t>
            </a:r>
            <a:endParaRPr sz="2000">
              <a:latin typeface="Candara"/>
              <a:cs typeface="Candara"/>
            </a:endParaRPr>
          </a:p>
          <a:p>
            <a:pPr marL="926465" marR="6985" algn="just">
              <a:lnSpc>
                <a:spcPct val="150000"/>
              </a:lnSpc>
            </a:pPr>
            <a:r>
              <a:rPr sz="2000" dirty="0">
                <a:latin typeface="Candara"/>
                <a:cs typeface="Candara"/>
              </a:rPr>
              <a:t>no</a:t>
            </a:r>
            <a:r>
              <a:rPr sz="2000" spc="3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longer</a:t>
            </a:r>
            <a:r>
              <a:rPr sz="2000" spc="3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true</a:t>
            </a:r>
            <a:r>
              <a:rPr sz="2000" spc="3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3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claim</a:t>
            </a:r>
            <a:r>
              <a:rPr sz="2000" spc="3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that</a:t>
            </a:r>
            <a:r>
              <a:rPr sz="2000" spc="3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women’s</a:t>
            </a:r>
            <a:r>
              <a:rPr sz="2000" spc="3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responses</a:t>
            </a:r>
            <a:r>
              <a:rPr sz="2000" spc="3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3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35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war </a:t>
            </a:r>
            <a:r>
              <a:rPr sz="2000" dirty="0">
                <a:latin typeface="Candara"/>
                <a:cs typeface="Candara"/>
              </a:rPr>
              <a:t>have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been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ignored</a:t>
            </a:r>
            <a:r>
              <a:rPr sz="2000" spc="-10" dirty="0">
                <a:latin typeface="MS PGothic"/>
                <a:cs typeface="MS PGothic"/>
              </a:rPr>
              <a:t>”</a:t>
            </a:r>
            <a:r>
              <a:rPr sz="2000" spc="-185" dirty="0">
                <a:latin typeface="MS PGothic"/>
                <a:cs typeface="MS PGothic"/>
              </a:rPr>
              <a:t> </a:t>
            </a:r>
            <a:r>
              <a:rPr sz="2000" dirty="0">
                <a:latin typeface="Candara"/>
                <a:cs typeface="Candara"/>
              </a:rPr>
              <a:t>(p.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2).</a:t>
            </a:r>
            <a:endParaRPr sz="2000">
              <a:latin typeface="Candara"/>
              <a:cs typeface="Candara"/>
            </a:endParaRPr>
          </a:p>
          <a:p>
            <a:pPr marL="926465" marR="5080" lvl="1" indent="-457200" algn="just">
              <a:lnSpc>
                <a:spcPct val="150000"/>
              </a:lnSpc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Some</a:t>
            </a:r>
            <a:r>
              <a:rPr sz="2000" spc="305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feminists</a:t>
            </a:r>
            <a:r>
              <a:rPr sz="2000" spc="300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researchers</a:t>
            </a:r>
            <a:r>
              <a:rPr sz="2000" spc="305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question</a:t>
            </a:r>
            <a:r>
              <a:rPr sz="2000" spc="300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that</a:t>
            </a:r>
            <a:r>
              <a:rPr sz="2000" spc="300" dirty="0">
                <a:latin typeface="Candara"/>
                <a:cs typeface="Candara"/>
              </a:rPr>
              <a:t>   </a:t>
            </a:r>
            <a:r>
              <a:rPr sz="2000" spc="-10" dirty="0">
                <a:latin typeface="Candara"/>
                <a:cs typeface="Candara"/>
              </a:rPr>
              <a:t>“women’s </a:t>
            </a:r>
            <a:r>
              <a:rPr sz="2000" dirty="0">
                <a:latin typeface="Candara"/>
                <a:cs typeface="Candara"/>
              </a:rPr>
              <a:t>responses</a:t>
            </a:r>
            <a:r>
              <a:rPr sz="2000" spc="1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war</a:t>
            </a:r>
            <a:r>
              <a:rPr sz="2000" spc="1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have</a:t>
            </a:r>
            <a:r>
              <a:rPr sz="2000" spc="1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been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ignored</a:t>
            </a:r>
            <a:r>
              <a:rPr sz="2000" dirty="0">
                <a:latin typeface="MS PGothic"/>
                <a:cs typeface="MS PGothic"/>
              </a:rPr>
              <a:t>”</a:t>
            </a:r>
            <a:r>
              <a:rPr sz="2000" spc="-20" dirty="0">
                <a:latin typeface="MS PGothic"/>
                <a:cs typeface="MS PGothic"/>
              </a:rPr>
              <a:t> </a:t>
            </a:r>
            <a:r>
              <a:rPr sz="2000" dirty="0">
                <a:latin typeface="Candara"/>
                <a:cs typeface="Candara"/>
              </a:rPr>
              <a:t>(Raitt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&amp;</a:t>
            </a:r>
            <a:r>
              <a:rPr sz="2000" spc="1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Tate,</a:t>
            </a:r>
            <a:r>
              <a:rPr sz="2000" spc="15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1997, </a:t>
            </a:r>
            <a:r>
              <a:rPr sz="2000" dirty="0">
                <a:latin typeface="Candara"/>
                <a:cs typeface="Candara"/>
              </a:rPr>
              <a:t>p.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2).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33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89850" cy="33458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latin typeface="Candara"/>
                <a:cs typeface="Candara"/>
              </a:rPr>
              <a:t>In-</a:t>
            </a:r>
            <a:r>
              <a:rPr sz="2400" b="1" dirty="0">
                <a:latin typeface="Candara"/>
                <a:cs typeface="Candara"/>
              </a:rPr>
              <a:t>text</a:t>
            </a:r>
            <a:r>
              <a:rPr sz="2400" b="1" spc="-4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Citations:</a:t>
            </a:r>
            <a:r>
              <a:rPr sz="2400" b="1" spc="-3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A</a:t>
            </a:r>
            <a:r>
              <a:rPr sz="2400" b="1" spc="-5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Work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with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Three</a:t>
            </a:r>
            <a:r>
              <a:rPr sz="2400" b="1" spc="-4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to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Five</a:t>
            </a:r>
            <a:r>
              <a:rPr sz="2400" b="1" spc="-5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Authors</a:t>
            </a:r>
            <a:endParaRPr sz="2400">
              <a:latin typeface="Candara"/>
              <a:cs typeface="Candara"/>
            </a:endParaRPr>
          </a:p>
          <a:p>
            <a:pPr marL="469265" marR="635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1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citing</a:t>
            </a:r>
            <a:r>
              <a:rPr sz="2000" spc="1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1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work</a:t>
            </a:r>
            <a:r>
              <a:rPr sz="2000" spc="1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with</a:t>
            </a:r>
            <a:r>
              <a:rPr sz="2000" spc="1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three</a:t>
            </a:r>
            <a:r>
              <a:rPr sz="2000" spc="1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five</a:t>
            </a:r>
            <a:r>
              <a:rPr sz="2000" spc="1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authors,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identify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all</a:t>
            </a:r>
            <a:r>
              <a:rPr sz="2000" spc="16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authors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signal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phrase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parenthesis.</a:t>
            </a:r>
            <a:endParaRPr sz="2000">
              <a:latin typeface="Candara"/>
              <a:cs typeface="Candara"/>
            </a:endParaRPr>
          </a:p>
          <a:p>
            <a:pPr marL="926465" lvl="1" indent="-457200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(Harklau,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Siegal,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Losey,</a:t>
            </a:r>
            <a:r>
              <a:rPr sz="2000" spc="-6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1999)</a:t>
            </a:r>
            <a:endParaRPr sz="2000">
              <a:latin typeface="Candara"/>
              <a:cs typeface="Candara"/>
            </a:endParaRPr>
          </a:p>
          <a:p>
            <a:pPr marL="469265" marR="5080" indent="-457200">
              <a:lnSpc>
                <a:spcPts val="3600"/>
              </a:lnSpc>
              <a:spcBef>
                <a:spcPts val="320"/>
              </a:spcBef>
              <a:buFont typeface="Arial MT"/>
              <a:buChar char="•"/>
              <a:tabLst>
                <a:tab pos="469265" algn="l"/>
                <a:tab pos="817244" algn="l"/>
                <a:tab pos="2218055" algn="l"/>
                <a:tab pos="3340100" algn="l"/>
                <a:tab pos="3935729" algn="l"/>
                <a:tab pos="4449445" algn="l"/>
                <a:tab pos="4949190" algn="l"/>
                <a:tab pos="5519420" algn="l"/>
                <a:tab pos="6554470" algn="l"/>
                <a:tab pos="7075170" algn="l"/>
              </a:tabLst>
            </a:pPr>
            <a:r>
              <a:rPr sz="2000" spc="-25" dirty="0">
                <a:latin typeface="Candara"/>
                <a:cs typeface="Candara"/>
              </a:rPr>
              <a:t>In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subsequent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citations,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only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use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the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first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author’s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last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name </a:t>
            </a:r>
            <a:r>
              <a:rPr sz="2000" dirty="0">
                <a:latin typeface="Candara"/>
                <a:cs typeface="Candara"/>
              </a:rPr>
              <a:t>followed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by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“et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al.”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signal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phrase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parentheses.</a:t>
            </a:r>
            <a:endParaRPr sz="2000">
              <a:latin typeface="Candara"/>
              <a:cs typeface="Candara"/>
            </a:endParaRPr>
          </a:p>
          <a:p>
            <a:pPr marL="926465" lvl="1" indent="-457200">
              <a:lnSpc>
                <a:spcPct val="100000"/>
              </a:lnSpc>
              <a:spcBef>
                <a:spcPts val="885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(Harklau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et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al.,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1993)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465829"/>
            <a:ext cx="838200" cy="649604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pc="-20" dirty="0"/>
              <a:t>In-</a:t>
            </a:r>
            <a:r>
              <a:rPr dirty="0"/>
              <a:t>text</a:t>
            </a:r>
            <a:r>
              <a:rPr spc="-50" dirty="0"/>
              <a:t> </a:t>
            </a:r>
            <a:r>
              <a:rPr dirty="0"/>
              <a:t>Citations:</a:t>
            </a:r>
            <a:r>
              <a:rPr spc="-35" dirty="0"/>
              <a:t> </a:t>
            </a:r>
            <a:r>
              <a:rPr dirty="0"/>
              <a:t>A</a:t>
            </a:r>
            <a:r>
              <a:rPr spc="-50" dirty="0"/>
              <a:t> </a:t>
            </a:r>
            <a:r>
              <a:rPr dirty="0"/>
              <a:t>Work</a:t>
            </a:r>
            <a:r>
              <a:rPr spc="-40" dirty="0"/>
              <a:t> </a:t>
            </a:r>
            <a:r>
              <a:rPr dirty="0"/>
              <a:t>with</a:t>
            </a:r>
            <a:r>
              <a:rPr spc="-35" dirty="0"/>
              <a:t> </a:t>
            </a:r>
            <a:r>
              <a:rPr dirty="0"/>
              <a:t>Six</a:t>
            </a:r>
            <a:r>
              <a:rPr spc="-45" dirty="0"/>
              <a:t> </a:t>
            </a:r>
            <a:r>
              <a:rPr dirty="0"/>
              <a:t>and</a:t>
            </a:r>
            <a:r>
              <a:rPr spc="-45" dirty="0"/>
              <a:t> </a:t>
            </a:r>
            <a:r>
              <a:rPr dirty="0"/>
              <a:t>More</a:t>
            </a:r>
            <a:r>
              <a:rPr spc="-40" dirty="0"/>
              <a:t> </a:t>
            </a:r>
            <a:r>
              <a:rPr spc="-10" dirty="0"/>
              <a:t>Authors</a:t>
            </a:r>
          </a:p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When</a:t>
            </a:r>
            <a:r>
              <a:rPr sz="2000" b="0" spc="30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citing</a:t>
            </a:r>
            <a:r>
              <a:rPr sz="2000" b="0" spc="3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</a:t>
            </a:r>
            <a:r>
              <a:rPr sz="2000" b="0" spc="33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work</a:t>
            </a:r>
            <a:r>
              <a:rPr sz="2000" b="0" spc="3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with</a:t>
            </a:r>
            <a:r>
              <a:rPr sz="2000" b="0" spc="3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six</a:t>
            </a:r>
            <a:r>
              <a:rPr sz="2000" b="0" spc="3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and</a:t>
            </a:r>
            <a:r>
              <a:rPr sz="2000" b="0" spc="3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more</a:t>
            </a:r>
            <a:r>
              <a:rPr sz="2000" b="0" spc="3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authors,</a:t>
            </a:r>
            <a:r>
              <a:rPr sz="2000" b="0" spc="3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identify</a:t>
            </a:r>
            <a:r>
              <a:rPr sz="2000" b="0" spc="3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320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first </a:t>
            </a:r>
            <a:r>
              <a:rPr sz="2000" b="0" dirty="0">
                <a:latin typeface="Candara"/>
                <a:cs typeface="Candara"/>
              </a:rPr>
              <a:t>author's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name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followed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by</a:t>
            </a:r>
            <a:r>
              <a:rPr sz="2000" b="0" spc="-3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“et</a:t>
            </a:r>
            <a:r>
              <a:rPr sz="2000" b="0" spc="-35" dirty="0">
                <a:latin typeface="Candara"/>
                <a:cs typeface="Candara"/>
              </a:rPr>
              <a:t> </a:t>
            </a:r>
            <a:r>
              <a:rPr sz="2000" b="0" spc="-20" dirty="0">
                <a:latin typeface="Candara"/>
                <a:cs typeface="Candara"/>
              </a:rPr>
              <a:t>al.”</a:t>
            </a:r>
            <a:endParaRPr sz="2000">
              <a:latin typeface="Candara"/>
              <a:cs typeface="Candara"/>
            </a:endParaRPr>
          </a:p>
          <a:p>
            <a:pPr marL="926465" lvl="1" indent="-457200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Smith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et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al.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(2006)</a:t>
            </a:r>
            <a:r>
              <a:rPr sz="2000" spc="-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maintained</a:t>
            </a:r>
            <a:r>
              <a:rPr sz="2000" spc="-10" dirty="0">
                <a:latin typeface="Candara"/>
                <a:cs typeface="Candara"/>
              </a:rPr>
              <a:t> that…</a:t>
            </a:r>
            <a:endParaRPr sz="2000">
              <a:latin typeface="Candara"/>
              <a:cs typeface="Candara"/>
            </a:endParaRPr>
          </a:p>
          <a:p>
            <a:pPr marL="926465" lvl="1" indent="-457200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(Smith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et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al., </a:t>
            </a:r>
            <a:r>
              <a:rPr sz="2000" spc="-20" dirty="0">
                <a:latin typeface="Candara"/>
                <a:cs typeface="Candara"/>
              </a:rPr>
              <a:t>2006)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34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09609" y="6457289"/>
            <a:ext cx="13208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888888"/>
                </a:solidFill>
                <a:latin typeface="Calibri"/>
                <a:cs typeface="Calibri"/>
              </a:rPr>
              <a:t>35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5" name="object 5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36142" y="1542989"/>
            <a:ext cx="7693025" cy="42602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latin typeface="Candara"/>
                <a:cs typeface="Candara"/>
              </a:rPr>
              <a:t>In-</a:t>
            </a:r>
            <a:r>
              <a:rPr sz="2400" b="1" dirty="0">
                <a:latin typeface="Candara"/>
                <a:cs typeface="Candara"/>
              </a:rPr>
              <a:t>text</a:t>
            </a:r>
            <a:r>
              <a:rPr sz="2400" b="1" spc="-7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Citations:</a:t>
            </a:r>
            <a:r>
              <a:rPr sz="2400" b="1" spc="-6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Organization</a:t>
            </a:r>
            <a:endParaRPr sz="2400">
              <a:latin typeface="Candara"/>
              <a:cs typeface="Candara"/>
            </a:endParaRPr>
          </a:p>
          <a:p>
            <a:pPr marL="464820" marR="5080" indent="-45275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4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citing</a:t>
            </a:r>
            <a:r>
              <a:rPr sz="2000" spc="4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</a:t>
            </a:r>
            <a:r>
              <a:rPr sz="2000" spc="4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organization,</a:t>
            </a:r>
            <a:r>
              <a:rPr sz="2000" spc="4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mention</a:t>
            </a:r>
            <a:r>
              <a:rPr sz="2000" spc="4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4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organization</a:t>
            </a:r>
            <a:r>
              <a:rPr sz="2000" spc="4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434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first 	</a:t>
            </a:r>
            <a:r>
              <a:rPr sz="2000" dirty="0">
                <a:latin typeface="Candara"/>
                <a:cs typeface="Candara"/>
              </a:rPr>
              <a:t>time</a:t>
            </a:r>
            <a:r>
              <a:rPr sz="2000" spc="18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when</a:t>
            </a:r>
            <a:r>
              <a:rPr sz="2000" spc="18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you</a:t>
            </a:r>
            <a:r>
              <a:rPr sz="2000" spc="18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cite</a:t>
            </a:r>
            <a:r>
              <a:rPr sz="2000" spc="18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8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source</a:t>
            </a:r>
            <a:r>
              <a:rPr sz="2000" spc="19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18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9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signal</a:t>
            </a:r>
            <a:r>
              <a:rPr sz="2000" spc="18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phrase</a:t>
            </a:r>
            <a:r>
              <a:rPr sz="2000" spc="19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190" dirty="0">
                <a:latin typeface="Candara"/>
                <a:cs typeface="Candara"/>
              </a:rPr>
              <a:t>  </a:t>
            </a:r>
            <a:r>
              <a:rPr sz="2000" spc="-25" dirty="0">
                <a:latin typeface="Candara"/>
                <a:cs typeface="Candara"/>
              </a:rPr>
              <a:t>the 	</a:t>
            </a:r>
            <a:r>
              <a:rPr sz="2000" dirty="0">
                <a:latin typeface="Candara"/>
                <a:cs typeface="Candara"/>
              </a:rPr>
              <a:t>parenthetical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citation.</a:t>
            </a:r>
            <a:endParaRPr sz="2000">
              <a:latin typeface="Candara"/>
              <a:cs typeface="Candara"/>
            </a:endParaRPr>
          </a:p>
          <a:p>
            <a:pPr marL="926465" marR="6985" lvl="1" indent="-457200" algn="just">
              <a:lnSpc>
                <a:spcPts val="3600"/>
              </a:lnSpc>
              <a:spcBef>
                <a:spcPts val="32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The</a:t>
            </a:r>
            <a:r>
              <a:rPr sz="2000" spc="15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data</a:t>
            </a:r>
            <a:r>
              <a:rPr sz="2000" spc="15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collected</a:t>
            </a:r>
            <a:r>
              <a:rPr sz="2000" spc="1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by</a:t>
            </a:r>
            <a:r>
              <a:rPr sz="2000" spc="15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4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Food</a:t>
            </a:r>
            <a:r>
              <a:rPr sz="2000" spc="15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1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Drug</a:t>
            </a:r>
            <a:r>
              <a:rPr sz="2000" spc="150" dirty="0">
                <a:latin typeface="Candara"/>
                <a:cs typeface="Candara"/>
              </a:rPr>
              <a:t>  </a:t>
            </a:r>
            <a:r>
              <a:rPr sz="2000" spc="-10" dirty="0">
                <a:latin typeface="Candara"/>
                <a:cs typeface="Candara"/>
              </a:rPr>
              <a:t>Administration </a:t>
            </a:r>
            <a:r>
              <a:rPr sz="2000" dirty="0">
                <a:latin typeface="Candara"/>
                <a:cs typeface="Candara"/>
              </a:rPr>
              <a:t>(2008)</a:t>
            </a:r>
            <a:r>
              <a:rPr sz="2000" spc="-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confirmed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that…</a:t>
            </a:r>
            <a:endParaRPr sz="2000">
              <a:latin typeface="Candara"/>
              <a:cs typeface="Candara"/>
            </a:endParaRPr>
          </a:p>
          <a:p>
            <a:pPr marL="464820" marR="6985" indent="-452755" algn="just">
              <a:lnSpc>
                <a:spcPts val="36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If</a:t>
            </a:r>
            <a:r>
              <a:rPr sz="2000" spc="6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6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organization</a:t>
            </a:r>
            <a:r>
              <a:rPr sz="2000" spc="6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has</a:t>
            </a:r>
            <a:r>
              <a:rPr sz="2000" spc="7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75" dirty="0">
                <a:latin typeface="Candara"/>
                <a:cs typeface="Candara"/>
              </a:rPr>
              <a:t>  </a:t>
            </a:r>
            <a:r>
              <a:rPr sz="2000" spc="-10" dirty="0">
                <a:latin typeface="Candara"/>
                <a:cs typeface="Candara"/>
              </a:rPr>
              <a:t>well-</a:t>
            </a:r>
            <a:r>
              <a:rPr sz="2000" dirty="0">
                <a:latin typeface="Candara"/>
                <a:cs typeface="Candara"/>
              </a:rPr>
              <a:t>known</a:t>
            </a:r>
            <a:r>
              <a:rPr sz="2000" spc="6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abbreviation,</a:t>
            </a:r>
            <a:r>
              <a:rPr sz="2000" spc="6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include</a:t>
            </a:r>
            <a:r>
              <a:rPr sz="2000" spc="65" dirty="0">
                <a:latin typeface="Candara"/>
                <a:cs typeface="Candara"/>
              </a:rPr>
              <a:t>  </a:t>
            </a:r>
            <a:r>
              <a:rPr sz="2000" spc="-25" dirty="0">
                <a:latin typeface="Candara"/>
                <a:cs typeface="Candara"/>
              </a:rPr>
              <a:t>the 	</a:t>
            </a:r>
            <a:r>
              <a:rPr sz="2000" dirty="0">
                <a:latin typeface="Candara"/>
                <a:cs typeface="Candara"/>
              </a:rPr>
              <a:t>abbreviation</a:t>
            </a:r>
            <a:r>
              <a:rPr sz="2000" spc="1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1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brackets</a:t>
            </a:r>
            <a:r>
              <a:rPr sz="2000" spc="1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first</a:t>
            </a:r>
            <a:r>
              <a:rPr sz="2000" spc="1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time</a:t>
            </a:r>
            <a:r>
              <a:rPr sz="2000" spc="1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1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source</a:t>
            </a:r>
            <a:r>
              <a:rPr sz="2000" spc="1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is</a:t>
            </a:r>
            <a:r>
              <a:rPr sz="2000" spc="11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cited</a:t>
            </a:r>
            <a:r>
              <a:rPr sz="2000" spc="1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114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then 	</a:t>
            </a:r>
            <a:r>
              <a:rPr sz="2000" dirty="0">
                <a:latin typeface="Candara"/>
                <a:cs typeface="Candara"/>
              </a:rPr>
              <a:t>use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only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abbreviation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later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citations.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393316" y="5777585"/>
            <a:ext cx="72351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5080" indent="-457200">
              <a:lnSpc>
                <a:spcPct val="150000"/>
              </a:lnSpc>
              <a:spcBef>
                <a:spcPts val="100"/>
              </a:spcBef>
              <a:buFont typeface="Courier New"/>
              <a:buChar char="o"/>
              <a:tabLst>
                <a:tab pos="469900" algn="l"/>
                <a:tab pos="1198245" algn="l"/>
                <a:tab pos="1781810" algn="l"/>
                <a:tab pos="2490470" algn="l"/>
                <a:tab pos="4264660" algn="l"/>
                <a:tab pos="5069840" algn="l"/>
                <a:tab pos="6609080" algn="l"/>
              </a:tabLst>
            </a:pPr>
            <a:r>
              <a:rPr sz="2000" spc="-20" dirty="0">
                <a:latin typeface="Candara"/>
                <a:cs typeface="Candara"/>
              </a:rPr>
              <a:t>Food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and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Drug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Administration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(FDA)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confirmed…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FDA’s </a:t>
            </a:r>
            <a:r>
              <a:rPr sz="2000" dirty="0">
                <a:latin typeface="Candara"/>
                <a:cs typeface="Candara"/>
              </a:rPr>
              <a:t>experts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tested…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4419600"/>
            <a:ext cx="838200" cy="649605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pc="-20" dirty="0"/>
              <a:t>In-</a:t>
            </a:r>
            <a:r>
              <a:rPr dirty="0"/>
              <a:t>text</a:t>
            </a:r>
            <a:r>
              <a:rPr spc="-35" dirty="0"/>
              <a:t> </a:t>
            </a:r>
            <a:r>
              <a:rPr dirty="0"/>
              <a:t>Citations:</a:t>
            </a:r>
            <a:r>
              <a:rPr spc="-20" dirty="0"/>
              <a:t> </a:t>
            </a:r>
            <a:r>
              <a:rPr dirty="0"/>
              <a:t>Same</a:t>
            </a:r>
            <a:r>
              <a:rPr spc="-40" dirty="0"/>
              <a:t> </a:t>
            </a:r>
            <a:r>
              <a:rPr dirty="0"/>
              <a:t>Last</a:t>
            </a:r>
            <a:r>
              <a:rPr spc="-30" dirty="0"/>
              <a:t> </a:t>
            </a:r>
            <a:r>
              <a:rPr dirty="0"/>
              <a:t>Name</a:t>
            </a:r>
            <a:r>
              <a:rPr spc="-15" dirty="0"/>
              <a:t> </a:t>
            </a:r>
            <a:r>
              <a:rPr dirty="0"/>
              <a:t>or</a:t>
            </a:r>
            <a:r>
              <a:rPr spc="-35" dirty="0"/>
              <a:t> </a:t>
            </a:r>
            <a:r>
              <a:rPr dirty="0"/>
              <a:t>Same</a:t>
            </a:r>
            <a:r>
              <a:rPr spc="-30" dirty="0"/>
              <a:t> </a:t>
            </a:r>
            <a:r>
              <a:rPr spc="-10" dirty="0"/>
              <a:t>Author</a:t>
            </a:r>
          </a:p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When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citing</a:t>
            </a:r>
            <a:r>
              <a:rPr sz="2000" b="0" spc="-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authors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with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-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same</a:t>
            </a:r>
            <a:r>
              <a:rPr sz="2000" b="0" spc="-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last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names,</a:t>
            </a:r>
            <a:r>
              <a:rPr sz="2000" b="0" spc="-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use</a:t>
            </a:r>
            <a:r>
              <a:rPr sz="2000" b="0" spc="-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first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initials</a:t>
            </a:r>
            <a:r>
              <a:rPr sz="2000" b="0" spc="-10" dirty="0">
                <a:latin typeface="Candara"/>
                <a:cs typeface="Candara"/>
              </a:rPr>
              <a:t> </a:t>
            </a:r>
            <a:r>
              <a:rPr sz="2000" b="0" spc="-20" dirty="0">
                <a:latin typeface="Candara"/>
                <a:cs typeface="Candara"/>
              </a:rPr>
              <a:t>with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-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last</a:t>
            </a:r>
            <a:r>
              <a:rPr sz="2000" b="0" spc="-10" dirty="0">
                <a:latin typeface="Candara"/>
                <a:cs typeface="Candara"/>
              </a:rPr>
              <a:t> names.</a:t>
            </a:r>
            <a:endParaRPr sz="2000">
              <a:latin typeface="Candara"/>
              <a:cs typeface="Candara"/>
            </a:endParaRPr>
          </a:p>
          <a:p>
            <a:pPr marL="926465" lvl="1" indent="-457200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(B.</a:t>
            </a:r>
            <a:r>
              <a:rPr sz="2000" spc="-6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Kachru,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2005;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Y.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Kachru,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2008)</a:t>
            </a:r>
            <a:endParaRPr sz="2000">
              <a:latin typeface="Candara"/>
              <a:cs typeface="Candara"/>
            </a:endParaRPr>
          </a:p>
          <a:p>
            <a:pPr marL="469265" indent="-457200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When</a:t>
            </a:r>
            <a:r>
              <a:rPr sz="2000" b="0" spc="2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citing</a:t>
            </a:r>
            <a:r>
              <a:rPr sz="2000" b="0" spc="2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two</a:t>
            </a:r>
            <a:r>
              <a:rPr sz="2000" b="0" spc="2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or</a:t>
            </a:r>
            <a:r>
              <a:rPr sz="2000" b="0" spc="2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more</a:t>
            </a:r>
            <a:r>
              <a:rPr sz="2000" b="0" spc="2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works</a:t>
            </a:r>
            <a:r>
              <a:rPr sz="2000" b="0" spc="2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by</a:t>
            </a:r>
            <a:r>
              <a:rPr sz="2000" b="0" spc="2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2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same</a:t>
            </a:r>
            <a:r>
              <a:rPr sz="2000" b="0" spc="229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author</a:t>
            </a:r>
            <a:r>
              <a:rPr sz="2000" b="0" spc="229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published</a:t>
            </a:r>
            <a:r>
              <a:rPr sz="2000" b="0" spc="220" dirty="0">
                <a:latin typeface="Candara"/>
                <a:cs typeface="Candara"/>
              </a:rPr>
              <a:t> </a:t>
            </a:r>
            <a:r>
              <a:rPr sz="2000" b="0" spc="-25" dirty="0">
                <a:latin typeface="Candara"/>
                <a:cs typeface="Candara"/>
              </a:rPr>
              <a:t>in</a:t>
            </a:r>
            <a:endParaRPr sz="2000">
              <a:latin typeface="Candara"/>
              <a:cs typeface="Candara"/>
            </a:endParaRPr>
          </a:p>
          <a:p>
            <a:pPr marL="469265" marR="5715">
              <a:lnSpc>
                <a:spcPct val="150000"/>
              </a:lnSpc>
              <a:spcBef>
                <a:spcPts val="5"/>
              </a:spcBef>
            </a:pP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40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same</a:t>
            </a:r>
            <a:r>
              <a:rPr sz="2000" b="0" spc="4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year,</a:t>
            </a:r>
            <a:r>
              <a:rPr sz="2000" b="0" spc="40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use</a:t>
            </a:r>
            <a:r>
              <a:rPr sz="2000" b="0" spc="430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lower-</a:t>
            </a:r>
            <a:r>
              <a:rPr sz="2000" b="0" dirty="0">
                <a:latin typeface="Candara"/>
                <a:cs typeface="Candara"/>
              </a:rPr>
              <a:t>case</a:t>
            </a:r>
            <a:r>
              <a:rPr sz="2000" b="0" spc="409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letters</a:t>
            </a:r>
            <a:r>
              <a:rPr sz="2000" b="0" spc="40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(a,</a:t>
            </a:r>
            <a:r>
              <a:rPr sz="2000" b="0" spc="39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b,</a:t>
            </a:r>
            <a:r>
              <a:rPr sz="2000" b="0" spc="40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c)</a:t>
            </a:r>
            <a:r>
              <a:rPr sz="2000" b="0" spc="409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with</a:t>
            </a:r>
            <a:r>
              <a:rPr sz="2000" b="0" spc="409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4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year</a:t>
            </a:r>
            <a:r>
              <a:rPr sz="2000" b="0" spc="409" dirty="0">
                <a:latin typeface="Candara"/>
                <a:cs typeface="Candara"/>
              </a:rPr>
              <a:t> </a:t>
            </a:r>
            <a:r>
              <a:rPr sz="2000" b="0" spc="-25" dirty="0">
                <a:latin typeface="Candara"/>
                <a:cs typeface="Candara"/>
              </a:rPr>
              <a:t>of </a:t>
            </a:r>
            <a:r>
              <a:rPr sz="2000" b="0" dirty="0">
                <a:latin typeface="Candara"/>
                <a:cs typeface="Candara"/>
              </a:rPr>
              <a:t>publication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to</a:t>
            </a:r>
            <a:r>
              <a:rPr sz="2000" b="0" spc="-4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order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references.</a:t>
            </a:r>
            <a:endParaRPr sz="2000">
              <a:latin typeface="Candara"/>
              <a:cs typeface="Candara"/>
            </a:endParaRPr>
          </a:p>
          <a:p>
            <a:pPr marL="926465" lvl="1" indent="-457200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Smith’s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(1998a)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study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adolescent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immigrants…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36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481070"/>
            <a:ext cx="838200" cy="649604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37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5984240" cy="105918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latin typeface="Candara"/>
                <a:cs typeface="Candara"/>
              </a:rPr>
              <a:t>In-</a:t>
            </a:r>
            <a:r>
              <a:rPr sz="2400" b="1" dirty="0">
                <a:latin typeface="Candara"/>
                <a:cs typeface="Candara"/>
              </a:rPr>
              <a:t>text</a:t>
            </a:r>
            <a:r>
              <a:rPr sz="2400" b="1" spc="-8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Citations:</a:t>
            </a:r>
            <a:r>
              <a:rPr sz="2400" b="1" spc="-6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Personal</a:t>
            </a:r>
            <a:r>
              <a:rPr sz="2400" b="1" spc="-70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Communication</a:t>
            </a:r>
            <a:endParaRPr sz="24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  <a:tab pos="1334135" algn="l"/>
                <a:tab pos="2160270" algn="l"/>
                <a:tab pos="3573145" algn="l"/>
              </a:tabLst>
            </a:pPr>
            <a:r>
              <a:rPr sz="2000" spc="-20" dirty="0">
                <a:latin typeface="Candara"/>
                <a:cs typeface="Candara"/>
              </a:rPr>
              <a:t>When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citing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interviews,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letters,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393316" y="2728087"/>
            <a:ext cx="409511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044064" algn="l"/>
                <a:tab pos="3007360" algn="l"/>
                <a:tab pos="3664585" algn="l"/>
              </a:tabLst>
            </a:pPr>
            <a:r>
              <a:rPr sz="2000" spc="-10" dirty="0">
                <a:latin typeface="Candara"/>
                <a:cs typeface="Candara"/>
              </a:rPr>
              <a:t>communicator’s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name,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the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fact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493511" y="2119096"/>
            <a:ext cx="313372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77495" marR="5080" indent="-265430">
              <a:lnSpc>
                <a:spcPct val="150000"/>
              </a:lnSpc>
              <a:spcBef>
                <a:spcPts val="100"/>
              </a:spcBef>
              <a:tabLst>
                <a:tab pos="1018540" algn="l"/>
                <a:tab pos="1056640" algn="l"/>
                <a:tab pos="1461770" algn="l"/>
                <a:tab pos="1754505" algn="l"/>
                <a:tab pos="2187575" algn="l"/>
                <a:tab pos="2760980" algn="l"/>
              </a:tabLst>
            </a:pPr>
            <a:r>
              <a:rPr sz="2000" spc="-10" dirty="0">
                <a:latin typeface="Candara"/>
                <a:cs typeface="Candara"/>
              </a:rPr>
              <a:t>e-mails,</a:t>
            </a:r>
            <a:r>
              <a:rPr sz="2000" dirty="0">
                <a:latin typeface="Candara"/>
                <a:cs typeface="Candara"/>
              </a:rPr>
              <a:t>		</a:t>
            </a:r>
            <a:r>
              <a:rPr sz="2000" spc="-20" dirty="0">
                <a:latin typeface="Candara"/>
                <a:cs typeface="Candara"/>
              </a:rPr>
              <a:t>etc.,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include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the </a:t>
            </a:r>
            <a:r>
              <a:rPr sz="2000" spc="-20" dirty="0">
                <a:latin typeface="Candara"/>
                <a:cs typeface="Candara"/>
              </a:rPr>
              <a:t>that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it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was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personal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936142" y="3033750"/>
            <a:ext cx="7689215" cy="2769870"/>
          </a:xfrm>
          <a:prstGeom prst="rect">
            <a:avLst/>
          </a:prstGeom>
        </p:spPr>
        <p:txBody>
          <a:bodyPr vert="horz" wrap="square" lIns="0" tIns="165100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300"/>
              </a:spcBef>
            </a:pPr>
            <a:r>
              <a:rPr sz="2000" dirty="0">
                <a:latin typeface="Candara"/>
                <a:cs typeface="Candara"/>
              </a:rPr>
              <a:t>communication,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date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communication.</a:t>
            </a:r>
            <a:endParaRPr sz="2000">
              <a:latin typeface="Candara"/>
              <a:cs typeface="Candara"/>
            </a:endParaRPr>
          </a:p>
          <a:p>
            <a:pPr marL="518159" indent="-505459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518159" algn="l"/>
              </a:tabLst>
            </a:pPr>
            <a:r>
              <a:rPr sz="2000" dirty="0">
                <a:latin typeface="Candara"/>
                <a:cs typeface="Candara"/>
              </a:rPr>
              <a:t>Do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not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include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personal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communication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reference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list.</a:t>
            </a:r>
            <a:endParaRPr sz="2000">
              <a:latin typeface="Candara"/>
              <a:cs typeface="Candara"/>
            </a:endParaRPr>
          </a:p>
          <a:p>
            <a:pPr marL="926465" marR="5080" lvl="1" indent="-457200" algn="just">
              <a:lnSpc>
                <a:spcPct val="150000"/>
              </a:lnSpc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A.</a:t>
            </a:r>
            <a:r>
              <a:rPr sz="2000" spc="14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P.</a:t>
            </a:r>
            <a:r>
              <a:rPr sz="2000" spc="1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Smith</a:t>
            </a:r>
            <a:r>
              <a:rPr sz="2000" spc="14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also</a:t>
            </a:r>
            <a:r>
              <a:rPr sz="2000" spc="1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claimed</a:t>
            </a:r>
            <a:r>
              <a:rPr sz="2000" spc="1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that</a:t>
            </a:r>
            <a:r>
              <a:rPr sz="2000" spc="14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many</a:t>
            </a:r>
            <a:r>
              <a:rPr sz="2000" spc="14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1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her</a:t>
            </a:r>
            <a:r>
              <a:rPr sz="2000" spc="14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students</a:t>
            </a:r>
            <a:r>
              <a:rPr sz="2000" spc="145" dirty="0">
                <a:latin typeface="Candara"/>
                <a:cs typeface="Candara"/>
              </a:rPr>
              <a:t>  </a:t>
            </a:r>
            <a:r>
              <a:rPr sz="2000" spc="-25" dirty="0">
                <a:latin typeface="Candara"/>
                <a:cs typeface="Candara"/>
              </a:rPr>
              <a:t>had </a:t>
            </a:r>
            <a:r>
              <a:rPr sz="2000" dirty="0">
                <a:latin typeface="Candara"/>
                <a:cs typeface="Candara"/>
              </a:rPr>
              <a:t>difficulties</a:t>
            </a:r>
            <a:r>
              <a:rPr sz="2000" spc="315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with</a:t>
            </a:r>
            <a:r>
              <a:rPr sz="2000" spc="315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APA</a:t>
            </a:r>
            <a:r>
              <a:rPr sz="2000" spc="320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style</a:t>
            </a:r>
            <a:r>
              <a:rPr sz="2000" spc="320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(personal</a:t>
            </a:r>
            <a:r>
              <a:rPr sz="2000" spc="320" dirty="0">
                <a:latin typeface="Candara"/>
                <a:cs typeface="Candara"/>
              </a:rPr>
              <a:t>   </a:t>
            </a:r>
            <a:r>
              <a:rPr sz="2000" spc="-10" dirty="0">
                <a:latin typeface="Candara"/>
                <a:cs typeface="Candara"/>
              </a:rPr>
              <a:t>communication, </a:t>
            </a:r>
            <a:r>
              <a:rPr sz="2000" dirty="0">
                <a:latin typeface="Candara"/>
                <a:cs typeface="Candara"/>
              </a:rPr>
              <a:t>November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3, </a:t>
            </a:r>
            <a:r>
              <a:rPr sz="2000" spc="-10" dirty="0">
                <a:latin typeface="Candara"/>
                <a:cs typeface="Candara"/>
              </a:rPr>
              <a:t>2002).</a:t>
            </a:r>
            <a:endParaRPr sz="2000">
              <a:latin typeface="Candara"/>
              <a:cs typeface="Candara"/>
            </a:endParaRPr>
          </a:p>
          <a:p>
            <a:pPr marL="925830" lvl="1" indent="-456565" algn="just">
              <a:lnSpc>
                <a:spcPct val="100000"/>
              </a:lnSpc>
              <a:spcBef>
                <a:spcPts val="1205"/>
              </a:spcBef>
              <a:buFont typeface="Courier New"/>
              <a:buChar char="o"/>
              <a:tabLst>
                <a:tab pos="925830" algn="l"/>
              </a:tabLst>
            </a:pPr>
            <a:r>
              <a:rPr sz="2000" dirty="0">
                <a:latin typeface="Candara"/>
                <a:cs typeface="Candara"/>
              </a:rPr>
              <a:t>(E.</a:t>
            </a:r>
            <a:r>
              <a:rPr sz="2000" spc="-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Robbins,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personal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communication,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January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4,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2001).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481070"/>
            <a:ext cx="838200" cy="649604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38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1755" cy="33458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20" dirty="0">
                <a:latin typeface="Candara"/>
                <a:cs typeface="Candara"/>
              </a:rPr>
              <a:t>In-</a:t>
            </a:r>
            <a:r>
              <a:rPr sz="2400" b="1" dirty="0">
                <a:latin typeface="Candara"/>
                <a:cs typeface="Candara"/>
              </a:rPr>
              <a:t>text</a:t>
            </a:r>
            <a:r>
              <a:rPr sz="2400" b="1" spc="-9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Citations:</a:t>
            </a:r>
            <a:r>
              <a:rPr sz="2400" b="1" spc="-8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Electronic</a:t>
            </a:r>
            <a:r>
              <a:rPr sz="2400" b="1" spc="-65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Sources</a:t>
            </a:r>
            <a:endParaRPr sz="2400">
              <a:latin typeface="Candara"/>
              <a:cs typeface="Candara"/>
            </a:endParaRPr>
          </a:p>
          <a:p>
            <a:pPr marL="469265" marR="6985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When</a:t>
            </a:r>
            <a:r>
              <a:rPr sz="2000" spc="1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citing</a:t>
            </a:r>
            <a:r>
              <a:rPr sz="2000" spc="1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electronic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document,</a:t>
            </a:r>
            <a:r>
              <a:rPr sz="2000" spc="2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whenever</a:t>
            </a:r>
            <a:r>
              <a:rPr sz="2000" spc="1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possible,</a:t>
            </a:r>
            <a:r>
              <a:rPr sz="2000" spc="1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cite</a:t>
            </a:r>
            <a:r>
              <a:rPr sz="2000" spc="2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it</a:t>
            </a:r>
            <a:r>
              <a:rPr sz="2000" spc="19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in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author-</a:t>
            </a:r>
            <a:r>
              <a:rPr sz="2000" dirty="0">
                <a:latin typeface="Candara"/>
                <a:cs typeface="Candara"/>
              </a:rPr>
              <a:t>date </a:t>
            </a:r>
            <a:r>
              <a:rPr sz="2000" spc="-10" dirty="0">
                <a:latin typeface="Candara"/>
                <a:cs typeface="Candara"/>
              </a:rPr>
              <a:t>style.</a:t>
            </a:r>
            <a:endParaRPr sz="2000">
              <a:latin typeface="Candara"/>
              <a:cs typeface="Candara"/>
            </a:endParaRPr>
          </a:p>
          <a:p>
            <a:pPr marL="469265" marR="5080" indent="-457200">
              <a:lnSpc>
                <a:spcPct val="150000"/>
              </a:lnSpc>
              <a:buFont typeface="Arial MT"/>
              <a:buChar char="•"/>
              <a:tabLst>
                <a:tab pos="469265" algn="l"/>
                <a:tab pos="789305" algn="l"/>
                <a:tab pos="2018030" algn="l"/>
                <a:tab pos="2900680" algn="l"/>
                <a:tab pos="3594100" algn="l"/>
                <a:tab pos="4293870" algn="l"/>
                <a:tab pos="5472430" algn="l"/>
                <a:tab pos="6296660" algn="l"/>
                <a:tab pos="6864984" algn="l"/>
              </a:tabLst>
            </a:pPr>
            <a:r>
              <a:rPr sz="2000" spc="-25" dirty="0">
                <a:latin typeface="Candara"/>
                <a:cs typeface="Candara"/>
              </a:rPr>
              <a:t>If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electronic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source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lacks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page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numbers,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locate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and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identify </a:t>
            </a:r>
            <a:r>
              <a:rPr sz="2000" dirty="0">
                <a:latin typeface="Candara"/>
                <a:cs typeface="Candara"/>
              </a:rPr>
              <a:t>paragraph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number/paragraph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heading.</a:t>
            </a:r>
            <a:endParaRPr sz="2000">
              <a:latin typeface="Candara"/>
              <a:cs typeface="Candara"/>
            </a:endParaRPr>
          </a:p>
          <a:p>
            <a:pPr marL="926465" marR="6985" lvl="1" indent="-457200">
              <a:lnSpc>
                <a:spcPct val="150000"/>
              </a:lnSpc>
              <a:spcBef>
                <a:spcPts val="5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According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Smith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(1997),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...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(Mind</a:t>
            </a:r>
            <a:r>
              <a:rPr sz="2000" spc="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over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Matter</a:t>
            </a:r>
            <a:r>
              <a:rPr sz="2000" spc="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section,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para. </a:t>
            </a:r>
            <a:r>
              <a:rPr sz="2000" spc="-25" dirty="0">
                <a:latin typeface="Candara"/>
                <a:cs typeface="Candara"/>
              </a:rPr>
              <a:t>6).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027045"/>
            <a:ext cx="838200" cy="649604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26" name="object 2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39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2109597" y="3948531"/>
            <a:ext cx="2917190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3345" marR="5080" indent="-81280">
              <a:lnSpc>
                <a:spcPct val="150000"/>
              </a:lnSpc>
              <a:spcBef>
                <a:spcPts val="100"/>
              </a:spcBef>
              <a:tabLst>
                <a:tab pos="532130" algn="l"/>
                <a:tab pos="724535" algn="l"/>
                <a:tab pos="1044575" algn="l"/>
                <a:tab pos="1626870" algn="l"/>
                <a:tab pos="1646555" algn="l"/>
                <a:tab pos="2161540" algn="l"/>
                <a:tab pos="2544445" algn="l"/>
              </a:tabLst>
            </a:pPr>
            <a:r>
              <a:rPr sz="2000" spc="-20" dirty="0">
                <a:latin typeface="Candara"/>
                <a:cs typeface="Candara"/>
              </a:rPr>
              <a:t>left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the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first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line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of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the and</a:t>
            </a:r>
            <a:r>
              <a:rPr sz="2000" dirty="0">
                <a:latin typeface="Candara"/>
                <a:cs typeface="Candara"/>
              </a:rPr>
              <a:t>		</a:t>
            </a:r>
            <a:r>
              <a:rPr sz="2000" spc="-10" dirty="0">
                <a:latin typeface="Candara"/>
                <a:cs typeface="Candara"/>
              </a:rPr>
              <a:t>indent</a:t>
            </a:r>
            <a:r>
              <a:rPr sz="2000" dirty="0">
                <a:latin typeface="Candara"/>
                <a:cs typeface="Candara"/>
              </a:rPr>
              <a:t>		</a:t>
            </a:r>
            <a:r>
              <a:rPr sz="2000" spc="-10" dirty="0">
                <a:latin typeface="Candara"/>
                <a:cs typeface="Candara"/>
              </a:rPr>
              <a:t>subsequent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6142" y="1542989"/>
            <a:ext cx="4089400" cy="42602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Reference</a:t>
            </a:r>
            <a:r>
              <a:rPr sz="2400" b="1" spc="-65" dirty="0">
                <a:latin typeface="Candara"/>
                <a:cs typeface="Candara"/>
              </a:rPr>
              <a:t> </a:t>
            </a:r>
            <a:r>
              <a:rPr sz="2400" b="1" spc="-20" dirty="0">
                <a:latin typeface="Candara"/>
                <a:cs typeface="Candara"/>
              </a:rPr>
              <a:t>Page</a:t>
            </a:r>
            <a:endParaRPr sz="2400">
              <a:latin typeface="Candara"/>
              <a:cs typeface="Candara"/>
            </a:endParaRPr>
          </a:p>
          <a:p>
            <a:pPr marL="464820" marR="5080" indent="-45275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Center</a:t>
            </a:r>
            <a:r>
              <a:rPr sz="2000" spc="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title</a:t>
            </a:r>
            <a:r>
              <a:rPr sz="2000" spc="4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(References)</a:t>
            </a:r>
            <a:r>
              <a:rPr sz="2000" spc="40" dirty="0">
                <a:latin typeface="Candara"/>
                <a:cs typeface="Candara"/>
              </a:rPr>
              <a:t>  </a:t>
            </a:r>
            <a:r>
              <a:rPr sz="2000" spc="-25" dirty="0">
                <a:latin typeface="Candara"/>
                <a:cs typeface="Candara"/>
              </a:rPr>
              <a:t>at 	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top</a:t>
            </a:r>
            <a:r>
              <a:rPr sz="2000" spc="16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page.</a:t>
            </a:r>
            <a:r>
              <a:rPr sz="2000" spc="1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Do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not</a:t>
            </a:r>
            <a:r>
              <a:rPr sz="2000" spc="140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bold 	</a:t>
            </a:r>
            <a:r>
              <a:rPr sz="2000" spc="-25" dirty="0">
                <a:latin typeface="Candara"/>
                <a:cs typeface="Candara"/>
              </a:rPr>
              <a:t>it.</a:t>
            </a:r>
            <a:endParaRPr sz="20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spc="-10" dirty="0">
                <a:latin typeface="Candara"/>
                <a:cs typeface="Candara"/>
              </a:rPr>
              <a:t>Double-</a:t>
            </a:r>
            <a:r>
              <a:rPr sz="2000" dirty="0">
                <a:latin typeface="Candara"/>
                <a:cs typeface="Candara"/>
              </a:rPr>
              <a:t>space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reference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entries</a:t>
            </a:r>
            <a:endParaRPr sz="2000">
              <a:latin typeface="Candara"/>
              <a:cs typeface="Candara"/>
            </a:endParaRPr>
          </a:p>
          <a:p>
            <a:pPr marL="464820" marR="3042920" indent="-452755" algn="just">
              <a:lnSpc>
                <a:spcPct val="15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spc="-10" dirty="0">
                <a:latin typeface="Candara"/>
                <a:cs typeface="Candara"/>
              </a:rPr>
              <a:t>Flush 	entry 	lines</a:t>
            </a:r>
            <a:endParaRPr sz="20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205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spc="-10" dirty="0">
                <a:latin typeface="Candara"/>
                <a:cs typeface="Candara"/>
              </a:rPr>
              <a:t>Order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187701" y="5471871"/>
            <a:ext cx="283908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918844" algn="l"/>
                <a:tab pos="2568575" algn="l"/>
              </a:tabLst>
            </a:pPr>
            <a:r>
              <a:rPr sz="2000" spc="-10" dirty="0">
                <a:latin typeface="Candara"/>
                <a:cs typeface="Candara"/>
              </a:rPr>
              <a:t>entries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alphabetically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by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393316" y="5929376"/>
            <a:ext cx="248983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latin typeface="Candara"/>
                <a:cs typeface="Candara"/>
              </a:rPr>
              <a:t>the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author</a:t>
            </a:r>
            <a:r>
              <a:rPr sz="2000" dirty="0">
                <a:latin typeface="MS PGothic"/>
                <a:cs typeface="MS PGothic"/>
              </a:rPr>
              <a:t>’</a:t>
            </a:r>
            <a:r>
              <a:rPr sz="2000" dirty="0">
                <a:latin typeface="Candara"/>
                <a:cs typeface="Candara"/>
              </a:rPr>
              <a:t>s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surnames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6" name="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grpSp>
        <p:nvGrpSpPr>
          <p:cNvPr id="19" name="object 19"/>
          <p:cNvGrpSpPr/>
          <p:nvPr/>
        </p:nvGrpSpPr>
        <p:grpSpPr>
          <a:xfrm>
            <a:off x="190500" y="3483483"/>
            <a:ext cx="838200" cy="1113790"/>
            <a:chOff x="190500" y="3483483"/>
            <a:chExt cx="838200" cy="1113790"/>
          </a:xfrm>
        </p:grpSpPr>
        <p:pic>
          <p:nvPicPr>
            <p:cNvPr id="20" name="object 20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947414"/>
              <a:ext cx="838200" cy="649605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483483"/>
              <a:ext cx="838200" cy="649604"/>
            </a:xfrm>
            <a:prstGeom prst="rect">
              <a:avLst/>
            </a:prstGeom>
          </p:spPr>
        </p:pic>
      </p:grpSp>
      <p:pic>
        <p:nvPicPr>
          <p:cNvPr id="22" name="object 22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5334000"/>
            <a:ext cx="838200" cy="649605"/>
          </a:xfrm>
          <a:prstGeom prst="rect">
            <a:avLst/>
          </a:prstGeom>
        </p:spPr>
      </p:pic>
      <p:grpSp>
        <p:nvGrpSpPr>
          <p:cNvPr id="23" name="object 23"/>
          <p:cNvGrpSpPr/>
          <p:nvPr/>
        </p:nvGrpSpPr>
        <p:grpSpPr>
          <a:xfrm>
            <a:off x="5357621" y="2084222"/>
            <a:ext cx="3418204" cy="4098290"/>
            <a:chOff x="5357621" y="2084222"/>
            <a:chExt cx="3418204" cy="4098290"/>
          </a:xfrm>
        </p:grpSpPr>
        <p:pic>
          <p:nvPicPr>
            <p:cNvPr id="24" name="object 24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592688" y="2341706"/>
              <a:ext cx="2979711" cy="2098184"/>
            </a:xfrm>
            <a:prstGeom prst="rect">
              <a:avLst/>
            </a:prstGeom>
          </p:spPr>
        </p:pic>
        <p:sp>
          <p:nvSpPr>
            <p:cNvPr id="25" name="object 25"/>
            <p:cNvSpPr/>
            <p:nvPr/>
          </p:nvSpPr>
          <p:spPr>
            <a:xfrm>
              <a:off x="5363971" y="2090572"/>
              <a:ext cx="3405504" cy="4085590"/>
            </a:xfrm>
            <a:custGeom>
              <a:avLst/>
              <a:gdLst/>
              <a:ahLst/>
              <a:cxnLst/>
              <a:rect l="l" t="t" r="r" b="b"/>
              <a:pathLst>
                <a:path w="3405504" h="4085590">
                  <a:moveTo>
                    <a:pt x="0" y="4085082"/>
                  </a:moveTo>
                  <a:lnTo>
                    <a:pt x="3405378" y="4085082"/>
                  </a:lnTo>
                  <a:lnTo>
                    <a:pt x="3405378" y="0"/>
                  </a:lnTo>
                  <a:lnTo>
                    <a:pt x="0" y="0"/>
                  </a:lnTo>
                  <a:lnTo>
                    <a:pt x="0" y="4085082"/>
                  </a:lnTo>
                  <a:close/>
                </a:path>
              </a:pathLst>
            </a:custGeom>
            <a:ln w="127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40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2390" cy="42602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Reference</a:t>
            </a:r>
            <a:r>
              <a:rPr sz="2400" b="1" spc="-7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Basics</a:t>
            </a:r>
            <a:r>
              <a:rPr sz="2400" b="1" spc="-50" dirty="0">
                <a:latin typeface="Candara"/>
                <a:cs typeface="Candara"/>
              </a:rPr>
              <a:t> </a:t>
            </a:r>
            <a:r>
              <a:rPr sz="2400" b="1" spc="-20" dirty="0">
                <a:latin typeface="Candara"/>
                <a:cs typeface="Candara"/>
              </a:rPr>
              <a:t>[1/2]</a:t>
            </a:r>
            <a:endParaRPr sz="2400">
              <a:latin typeface="Candara"/>
              <a:cs typeface="Candara"/>
            </a:endParaRPr>
          </a:p>
          <a:p>
            <a:pPr marL="464820" marR="7620" indent="-45275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Invert</a:t>
            </a:r>
            <a:r>
              <a:rPr sz="2000" spc="1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authors’</a:t>
            </a:r>
            <a:r>
              <a:rPr sz="2000" spc="1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names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(last</a:t>
            </a:r>
            <a:r>
              <a:rPr sz="2000" spc="1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name</a:t>
            </a:r>
            <a:r>
              <a:rPr sz="2000" spc="1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first</a:t>
            </a:r>
            <a:r>
              <a:rPr sz="2000" spc="1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followed</a:t>
            </a:r>
            <a:r>
              <a:rPr sz="2000" spc="1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by</a:t>
            </a:r>
            <a:r>
              <a:rPr sz="2000" spc="1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initials:</a:t>
            </a:r>
            <a:r>
              <a:rPr sz="2000" spc="14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“Smith, 	J.Q.”)</a:t>
            </a:r>
            <a:endParaRPr sz="2000">
              <a:latin typeface="Candara"/>
              <a:cs typeface="Candara"/>
            </a:endParaRPr>
          </a:p>
          <a:p>
            <a:pPr marL="464820" marR="7620" indent="-452755" algn="just">
              <a:lnSpc>
                <a:spcPct val="150000"/>
              </a:lnSpc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Alphabetize</a:t>
            </a:r>
            <a:r>
              <a:rPr sz="2000" spc="1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reference</a:t>
            </a:r>
            <a:r>
              <a:rPr sz="2000" spc="1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list</a:t>
            </a:r>
            <a:r>
              <a:rPr sz="2000" spc="1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entries</a:t>
            </a:r>
            <a:r>
              <a:rPr sz="2000" spc="1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last</a:t>
            </a:r>
            <a:r>
              <a:rPr sz="2000" spc="1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name</a:t>
            </a:r>
            <a:r>
              <a:rPr sz="2000" spc="1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1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first</a:t>
            </a:r>
            <a:r>
              <a:rPr sz="2000" spc="1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author 	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each </a:t>
            </a:r>
            <a:r>
              <a:rPr sz="2000" spc="-20" dirty="0">
                <a:latin typeface="Candara"/>
                <a:cs typeface="Candara"/>
              </a:rPr>
              <a:t>work</a:t>
            </a:r>
            <a:endParaRPr sz="2000">
              <a:latin typeface="Candara"/>
              <a:cs typeface="Candara"/>
            </a:endParaRPr>
          </a:p>
          <a:p>
            <a:pPr marL="464820" marR="5080" indent="-452755" algn="just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Capitalize</a:t>
            </a:r>
            <a:r>
              <a:rPr sz="2000" spc="7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only</a:t>
            </a:r>
            <a:r>
              <a:rPr sz="2000" spc="7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7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first</a:t>
            </a:r>
            <a:r>
              <a:rPr sz="2000" spc="7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letter</a:t>
            </a:r>
            <a:r>
              <a:rPr sz="2000" spc="7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7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6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first</a:t>
            </a:r>
            <a:r>
              <a:rPr sz="2000" spc="7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word</a:t>
            </a:r>
            <a:r>
              <a:rPr sz="2000" spc="7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6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7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title</a:t>
            </a:r>
            <a:r>
              <a:rPr sz="2000" spc="75" dirty="0">
                <a:latin typeface="Candara"/>
                <a:cs typeface="Candara"/>
              </a:rPr>
              <a:t>  </a:t>
            </a:r>
            <a:r>
              <a:rPr sz="2000" spc="-25" dirty="0">
                <a:latin typeface="Candara"/>
                <a:cs typeface="Candara"/>
              </a:rPr>
              <a:t>and 	</a:t>
            </a:r>
            <a:r>
              <a:rPr sz="2000" dirty="0">
                <a:latin typeface="Candara"/>
                <a:cs typeface="Candara"/>
              </a:rPr>
              <a:t>subtitle,</a:t>
            </a:r>
            <a:r>
              <a:rPr sz="2000" spc="3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4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first</a:t>
            </a:r>
            <a:r>
              <a:rPr sz="2000" spc="4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word</a:t>
            </a:r>
            <a:r>
              <a:rPr sz="2000" spc="4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after</a:t>
            </a:r>
            <a:r>
              <a:rPr sz="2000" spc="4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4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colon</a:t>
            </a:r>
            <a:r>
              <a:rPr sz="2000" spc="409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4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4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dash</a:t>
            </a:r>
            <a:r>
              <a:rPr sz="2000" spc="409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409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4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title,</a:t>
            </a:r>
            <a:r>
              <a:rPr sz="2000" spc="42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and 	</a:t>
            </a:r>
            <a:r>
              <a:rPr sz="2000" dirty="0">
                <a:latin typeface="Candara"/>
                <a:cs typeface="Candara"/>
              </a:rPr>
              <a:t>proper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nouns.</a:t>
            </a:r>
            <a:r>
              <a:rPr sz="2000" spc="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Do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not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capitalize</a:t>
            </a:r>
            <a:r>
              <a:rPr sz="2000" spc="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first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letter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second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word 	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hyphenated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compound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word.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027045"/>
            <a:ext cx="838200" cy="6496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872" y="3920490"/>
            <a:ext cx="838200" cy="649605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9" name="object 19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41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89850" cy="243078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Reference</a:t>
            </a:r>
            <a:r>
              <a:rPr sz="2400" b="1" spc="-7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Basics</a:t>
            </a:r>
            <a:r>
              <a:rPr sz="2400" b="1" spc="-50" dirty="0">
                <a:latin typeface="Candara"/>
                <a:cs typeface="Candara"/>
              </a:rPr>
              <a:t> </a:t>
            </a:r>
            <a:r>
              <a:rPr sz="2400" b="1" spc="-20" dirty="0">
                <a:latin typeface="Candara"/>
                <a:cs typeface="Candara"/>
              </a:rPr>
              <a:t>[2/2]</a:t>
            </a:r>
            <a:endParaRPr sz="24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Capitalize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all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major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words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journal</a:t>
            </a:r>
            <a:r>
              <a:rPr sz="2000" spc="-10" dirty="0">
                <a:latin typeface="Candara"/>
                <a:cs typeface="Candara"/>
              </a:rPr>
              <a:t> titles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Italicize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titles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longer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works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such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as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books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-10" dirty="0">
                <a:latin typeface="Candara"/>
                <a:cs typeface="Candara"/>
              </a:rPr>
              <a:t> journals</a:t>
            </a:r>
            <a:endParaRPr sz="2000">
              <a:latin typeface="Candara"/>
              <a:cs typeface="Candara"/>
            </a:endParaRPr>
          </a:p>
          <a:p>
            <a:pPr marL="469265" marR="5080" indent="-457200">
              <a:lnSpc>
                <a:spcPct val="150000"/>
              </a:lnSpc>
              <a:buFont typeface="Arial MT"/>
              <a:buChar char="•"/>
              <a:tabLst>
                <a:tab pos="469265" algn="l"/>
                <a:tab pos="908685" algn="l"/>
                <a:tab pos="1413510" algn="l"/>
                <a:tab pos="2416175" algn="l"/>
                <a:tab pos="3630929" algn="l"/>
                <a:tab pos="3996690" algn="l"/>
                <a:tab pos="4500880" algn="l"/>
                <a:tab pos="5383530" algn="l"/>
                <a:tab pos="6289040" algn="l"/>
                <a:tab pos="6784340" algn="l"/>
                <a:tab pos="7452359" algn="l"/>
              </a:tabLst>
            </a:pPr>
            <a:r>
              <a:rPr sz="2000" spc="-25" dirty="0">
                <a:latin typeface="Candara"/>
                <a:cs typeface="Candara"/>
              </a:rPr>
              <a:t>Do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not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italicize,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underline,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or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put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quotes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around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the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titles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35" dirty="0">
                <a:latin typeface="Candara"/>
                <a:cs typeface="Candara"/>
              </a:rPr>
              <a:t>of </a:t>
            </a:r>
            <a:r>
              <a:rPr sz="2000" dirty="0">
                <a:latin typeface="Candara"/>
                <a:cs typeface="Candara"/>
              </a:rPr>
              <a:t>shorter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works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such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as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journal</a:t>
            </a:r>
            <a:r>
              <a:rPr sz="2000" spc="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articles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essays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edited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collections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90500" y="2133600"/>
            <a:ext cx="838200" cy="1543050"/>
            <a:chOff x="190500" y="2133600"/>
            <a:chExt cx="838200" cy="1543050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027044"/>
              <a:ext cx="838200" cy="6496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610484"/>
              <a:ext cx="838200" cy="649604"/>
            </a:xfrm>
            <a:prstGeom prst="rect">
              <a:avLst/>
            </a:prstGeom>
          </p:spPr>
        </p:pic>
      </p:grpSp>
      <p:pic>
        <p:nvPicPr>
          <p:cNvPr id="18" name="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42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1120" cy="47174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Making</a:t>
            </a:r>
            <a:r>
              <a:rPr sz="2400" b="1" spc="-8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the</a:t>
            </a:r>
            <a:r>
              <a:rPr sz="2400" b="1" spc="-6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References</a:t>
            </a:r>
            <a:r>
              <a:rPr sz="2400" b="1" spc="-60" dirty="0">
                <a:latin typeface="Candara"/>
                <a:cs typeface="Candara"/>
              </a:rPr>
              <a:t> </a:t>
            </a:r>
            <a:r>
              <a:rPr sz="2400" b="1" spc="-20" dirty="0">
                <a:latin typeface="Candara"/>
                <a:cs typeface="Candara"/>
              </a:rPr>
              <a:t>List</a:t>
            </a:r>
            <a:endParaRPr sz="2400">
              <a:latin typeface="Candara"/>
              <a:cs typeface="Candara"/>
            </a:endParaRPr>
          </a:p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APA</a:t>
            </a:r>
            <a:r>
              <a:rPr sz="2000" spc="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is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complex</a:t>
            </a:r>
            <a:r>
              <a:rPr sz="2000" spc="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system</a:t>
            </a:r>
            <a:r>
              <a:rPr sz="2000" spc="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citation.</a:t>
            </a:r>
            <a:r>
              <a:rPr sz="2000" spc="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When</a:t>
            </a:r>
            <a:r>
              <a:rPr sz="2000" spc="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compiling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reference </a:t>
            </a:r>
            <a:r>
              <a:rPr sz="2000" dirty="0">
                <a:latin typeface="Candara"/>
                <a:cs typeface="Candara"/>
              </a:rPr>
              <a:t>list,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strategy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below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might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useful:</a:t>
            </a:r>
            <a:endParaRPr sz="2000">
              <a:latin typeface="Candara"/>
              <a:cs typeface="Candara"/>
            </a:endParaRPr>
          </a:p>
          <a:p>
            <a:pPr marL="469265" marR="5080" indent="-457200">
              <a:lnSpc>
                <a:spcPct val="150000"/>
              </a:lnSpc>
              <a:buFont typeface="Arial MT"/>
              <a:buChar char="•"/>
              <a:tabLst>
                <a:tab pos="469265" algn="l"/>
                <a:tab pos="1433195" algn="l"/>
                <a:tab pos="1928495" algn="l"/>
                <a:tab pos="2543810" algn="l"/>
                <a:tab pos="2907030" algn="l"/>
                <a:tab pos="3825875" algn="l"/>
                <a:tab pos="4138295" algn="l"/>
                <a:tab pos="4420235" algn="l"/>
                <a:tab pos="4681220" algn="l"/>
                <a:tab pos="5455285" algn="l"/>
                <a:tab pos="5748020" algn="l"/>
                <a:tab pos="6630670" algn="l"/>
                <a:tab pos="7520940" algn="l"/>
              </a:tabLst>
            </a:pPr>
            <a:r>
              <a:rPr sz="2000" spc="-10" dirty="0">
                <a:latin typeface="Candara"/>
                <a:cs typeface="Candara"/>
              </a:rPr>
              <a:t>Identify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the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type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of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source: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Is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it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50" dirty="0">
                <a:latin typeface="Candara"/>
                <a:cs typeface="Candara"/>
              </a:rPr>
              <a:t>a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book?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50" dirty="0">
                <a:latin typeface="Candara"/>
                <a:cs typeface="Candara"/>
              </a:rPr>
              <a:t>A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journal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article?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50" dirty="0">
                <a:latin typeface="Candara"/>
                <a:cs typeface="Candara"/>
              </a:rPr>
              <a:t>A </a:t>
            </a:r>
            <a:r>
              <a:rPr sz="2000" spc="-10" dirty="0">
                <a:latin typeface="Candara"/>
                <a:cs typeface="Candara"/>
              </a:rPr>
              <a:t>webpage?</a:t>
            </a:r>
            <a:endParaRPr sz="2000">
              <a:latin typeface="Candara"/>
              <a:cs typeface="Candara"/>
            </a:endParaRPr>
          </a:p>
          <a:p>
            <a:pPr marL="469265" marR="5080" indent="-457200">
              <a:lnSpc>
                <a:spcPct val="150000"/>
              </a:lnSpc>
              <a:spcBef>
                <a:spcPts val="5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Find</a:t>
            </a:r>
            <a:r>
              <a:rPr sz="2000" spc="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sample</a:t>
            </a:r>
            <a:r>
              <a:rPr sz="2000" spc="1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citing</a:t>
            </a:r>
            <a:r>
              <a:rPr sz="2000" spc="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such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source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textbook</a:t>
            </a:r>
            <a:r>
              <a:rPr sz="2000" spc="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OWL</a:t>
            </a:r>
            <a:r>
              <a:rPr sz="2000" spc="8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APA </a:t>
            </a:r>
            <a:r>
              <a:rPr sz="2000" dirty="0">
                <a:latin typeface="Candara"/>
                <a:cs typeface="Candara"/>
              </a:rPr>
              <a:t>Guide: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ndara"/>
                <a:cs typeface="Candara"/>
                <a:hlinkClick r:id="rId2"/>
              </a:rPr>
              <a:t>http://owl.english.purdue.edu/owl/resource/560/01/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“Mirror”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sample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Make</a:t>
            </a:r>
            <a:r>
              <a:rPr sz="2000" spc="1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sure</a:t>
            </a:r>
            <a:r>
              <a:rPr sz="2000" spc="1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that</a:t>
            </a:r>
            <a:r>
              <a:rPr sz="2000" spc="1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entries</a:t>
            </a:r>
            <a:r>
              <a:rPr sz="2000" spc="1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are</a:t>
            </a:r>
            <a:r>
              <a:rPr sz="2000" spc="1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listed</a:t>
            </a:r>
            <a:r>
              <a:rPr sz="2000" spc="1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1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1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alphabetical</a:t>
            </a:r>
            <a:r>
              <a:rPr sz="2000" spc="1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order</a:t>
            </a:r>
            <a:r>
              <a:rPr sz="2000" spc="135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and</a:t>
            </a:r>
            <a:endParaRPr sz="2000">
              <a:latin typeface="Candara"/>
              <a:cs typeface="Candara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</a:pPr>
            <a:r>
              <a:rPr sz="2000" dirty="0">
                <a:latin typeface="Candara"/>
                <a:cs typeface="Candara"/>
              </a:rPr>
              <a:t>the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subsequent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lines are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indented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(Recall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References:</a:t>
            </a:r>
            <a:r>
              <a:rPr sz="2000" spc="-6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Basics)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0" y="3027045"/>
            <a:ext cx="838200" cy="6496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5872" y="3940302"/>
            <a:ext cx="838200" cy="649605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190500" y="4870069"/>
            <a:ext cx="838200" cy="1080770"/>
            <a:chOff x="190500" y="4870069"/>
            <a:chExt cx="838200" cy="108077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" y="4870069"/>
              <a:ext cx="838200" cy="64960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" y="5301221"/>
              <a:ext cx="838200" cy="64960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43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48842" y="1783768"/>
            <a:ext cx="272415" cy="33909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640"/>
              </a:lnSpc>
            </a:pPr>
            <a:r>
              <a:rPr sz="2400" spc="-50" dirty="0">
                <a:latin typeface="Wingdings"/>
                <a:cs typeface="Wingdings"/>
              </a:rPr>
              <a:t></a:t>
            </a:r>
            <a:endParaRPr sz="2400">
              <a:latin typeface="Wingdings"/>
              <a:cs typeface="Wingdings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36142" y="1542989"/>
            <a:ext cx="7691120" cy="28886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>
              <a:lnSpc>
                <a:spcPct val="100000"/>
              </a:lnSpc>
              <a:spcBef>
                <a:spcPts val="1655"/>
              </a:spcBef>
            </a:pPr>
            <a:r>
              <a:rPr sz="2400" b="1" dirty="0">
                <a:latin typeface="Candara"/>
                <a:cs typeface="Candara"/>
              </a:rPr>
              <a:t>APA</a:t>
            </a:r>
            <a:r>
              <a:rPr sz="2400" b="1" spc="-95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Tables</a:t>
            </a:r>
            <a:endParaRPr sz="2400">
              <a:latin typeface="Candara"/>
              <a:cs typeface="Candara"/>
            </a:endParaRPr>
          </a:p>
          <a:p>
            <a:pPr marL="464820" marR="5080" indent="-45275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Label</a:t>
            </a:r>
            <a:r>
              <a:rPr sz="2000" spc="1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tables</a:t>
            </a:r>
            <a:r>
              <a:rPr sz="2000" spc="1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with</a:t>
            </a:r>
            <a:r>
              <a:rPr sz="2000" spc="18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</a:t>
            </a:r>
            <a:r>
              <a:rPr sz="2000" spc="1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Arabic</a:t>
            </a:r>
            <a:r>
              <a:rPr sz="2000" spc="2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numeral</a:t>
            </a:r>
            <a:r>
              <a:rPr sz="2000" spc="2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2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provide</a:t>
            </a:r>
            <a:r>
              <a:rPr sz="2000" spc="20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2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title.</a:t>
            </a:r>
            <a:r>
              <a:rPr sz="2000" spc="19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20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label 	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3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3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title</a:t>
            </a:r>
            <a:r>
              <a:rPr sz="2000" spc="3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appear</a:t>
            </a:r>
            <a:r>
              <a:rPr sz="2000" spc="3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on</a:t>
            </a:r>
            <a:r>
              <a:rPr sz="2000" spc="3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separate</a:t>
            </a:r>
            <a:r>
              <a:rPr sz="2000" spc="3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lines</a:t>
            </a:r>
            <a:r>
              <a:rPr sz="2000" spc="3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above</a:t>
            </a:r>
            <a:r>
              <a:rPr sz="2000" spc="3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3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table,</a:t>
            </a:r>
            <a:r>
              <a:rPr sz="2000" spc="30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flush-</a:t>
            </a:r>
            <a:r>
              <a:rPr sz="2000" spc="-20" dirty="0">
                <a:latin typeface="Candara"/>
                <a:cs typeface="Candara"/>
              </a:rPr>
              <a:t>left 	</a:t>
            </a:r>
            <a:r>
              <a:rPr sz="2000" dirty="0">
                <a:latin typeface="Candara"/>
                <a:cs typeface="Candara"/>
              </a:rPr>
              <a:t>and</a:t>
            </a:r>
            <a:r>
              <a:rPr sz="2000" spc="-10" dirty="0">
                <a:latin typeface="Candara"/>
                <a:cs typeface="Candara"/>
              </a:rPr>
              <a:t> single-spaced.</a:t>
            </a:r>
            <a:endParaRPr sz="20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dirty="0">
                <a:latin typeface="Candara"/>
                <a:cs typeface="Candara"/>
              </a:rPr>
              <a:t>Cite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source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note</a:t>
            </a:r>
            <a:r>
              <a:rPr sz="2000" spc="-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below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the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table.</a:t>
            </a:r>
            <a:endParaRPr sz="20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spc="-20" dirty="0">
                <a:latin typeface="Candara"/>
                <a:cs typeface="Candara"/>
              </a:rPr>
              <a:t>Table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1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: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Internet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users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 </a:t>
            </a:r>
            <a:r>
              <a:rPr sz="2000" spc="-10" dirty="0">
                <a:latin typeface="Candara"/>
                <a:cs typeface="Candara"/>
              </a:rPr>
              <a:t>Europe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6142" y="5503265"/>
            <a:ext cx="768921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  <a:tab pos="1217930" algn="l"/>
                <a:tab pos="1766570" algn="l"/>
                <a:tab pos="2397760" algn="l"/>
                <a:tab pos="2894330" algn="l"/>
                <a:tab pos="3938904" algn="l"/>
                <a:tab pos="4615180" algn="l"/>
                <a:tab pos="5290820" algn="l"/>
                <a:tab pos="6476365" algn="l"/>
                <a:tab pos="7272655" algn="l"/>
              </a:tabLst>
            </a:pPr>
            <a:r>
              <a:rPr sz="2000" spc="-10" dirty="0">
                <a:latin typeface="Candara"/>
                <a:cs typeface="Candara"/>
              </a:rPr>
              <a:t>Note: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The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data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are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adapted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from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“The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European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Union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and </a:t>
            </a:r>
            <a:r>
              <a:rPr sz="2000" dirty="0">
                <a:latin typeface="Candara"/>
                <a:cs typeface="Candara"/>
              </a:rPr>
              <a:t>Russia”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(2007).</a:t>
            </a:r>
            <a:r>
              <a:rPr sz="2000" spc="-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Retrieved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from</a:t>
            </a:r>
            <a:r>
              <a:rPr sz="2000" spc="-5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  <a:hlinkClick r:id="rId2"/>
              </a:rPr>
              <a:t>http://epp.eurostat.ec.europa.eu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5" name="object 1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grpSp>
        <p:nvGrpSpPr>
          <p:cNvPr id="18" name="object 18"/>
          <p:cNvGrpSpPr/>
          <p:nvPr/>
        </p:nvGrpSpPr>
        <p:grpSpPr>
          <a:xfrm>
            <a:off x="190500" y="3512184"/>
            <a:ext cx="843915" cy="1078230"/>
            <a:chOff x="190500" y="3512184"/>
            <a:chExt cx="843915" cy="1078230"/>
          </a:xfrm>
        </p:grpSpPr>
        <p:pic>
          <p:nvPicPr>
            <p:cNvPr id="19" name="object 1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0500" y="3512184"/>
              <a:ext cx="838200" cy="649604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95872" y="3940301"/>
              <a:ext cx="838200" cy="649605"/>
            </a:xfrm>
            <a:prstGeom prst="rect">
              <a:avLst/>
            </a:prstGeom>
          </p:spPr>
        </p:pic>
      </p:grpSp>
      <p:pic>
        <p:nvPicPr>
          <p:cNvPr id="21" name="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91770" y="5496788"/>
            <a:ext cx="838200" cy="649604"/>
          </a:xfrm>
          <a:prstGeom prst="rect">
            <a:avLst/>
          </a:prstGeom>
        </p:spPr>
      </p:pic>
      <p:graphicFrame>
        <p:nvGraphicFramePr>
          <p:cNvPr id="22" name="object 22"/>
          <p:cNvGraphicFramePr>
            <a:graphicFrameLocks noGrp="1"/>
          </p:cNvGraphicFramePr>
          <p:nvPr/>
        </p:nvGraphicFramePr>
        <p:xfrm>
          <a:off x="3585590" y="4428235"/>
          <a:ext cx="3392170" cy="10845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610360"/>
                <a:gridCol w="1692910"/>
              </a:tblGrid>
              <a:tr h="68897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ndara"/>
                          <a:cs typeface="Candara"/>
                        </a:rPr>
                        <a:t>Country</a:t>
                      </a:r>
                      <a:endParaRPr sz="2000">
                        <a:latin typeface="Candara"/>
                        <a:cs typeface="Candar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dirty="0">
                          <a:latin typeface="Candara"/>
                          <a:cs typeface="Candara"/>
                        </a:rPr>
                        <a:t>Regular</a:t>
                      </a:r>
                      <a:r>
                        <a:rPr sz="2000" spc="-35" dirty="0">
                          <a:latin typeface="Candara"/>
                          <a:cs typeface="Candara"/>
                        </a:rPr>
                        <a:t> </a:t>
                      </a:r>
                      <a:r>
                        <a:rPr sz="2000" spc="-10" dirty="0">
                          <a:latin typeface="Candara"/>
                          <a:cs typeface="Candara"/>
                        </a:rPr>
                        <a:t>users</a:t>
                      </a:r>
                      <a:endParaRPr sz="2000">
                        <a:latin typeface="Candara"/>
                        <a:cs typeface="Candar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395605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10" dirty="0">
                          <a:latin typeface="Candara"/>
                          <a:cs typeface="Candara"/>
                        </a:rPr>
                        <a:t>France</a:t>
                      </a:r>
                      <a:endParaRPr sz="2000">
                        <a:latin typeface="Candara"/>
                        <a:cs typeface="Candar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40"/>
                        </a:spcBef>
                      </a:pPr>
                      <a:r>
                        <a:rPr sz="2000" spc="-25" dirty="0">
                          <a:latin typeface="Candara"/>
                          <a:cs typeface="Candara"/>
                        </a:rPr>
                        <a:t>XYZ</a:t>
                      </a:r>
                      <a:endParaRPr sz="2000">
                        <a:latin typeface="Candara"/>
                        <a:cs typeface="Candara"/>
                      </a:endParaRPr>
                    </a:p>
                  </a:txBody>
                  <a:tcPr marL="0" marR="0" marT="304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44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3025" cy="33458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Book:</a:t>
            </a:r>
            <a:r>
              <a:rPr sz="2400" b="1" spc="-4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Format</a:t>
            </a:r>
            <a:r>
              <a:rPr sz="2400" b="1" spc="-1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&amp;</a:t>
            </a:r>
            <a:r>
              <a:rPr sz="2400" b="1" spc="-10" dirty="0">
                <a:latin typeface="Candara"/>
                <a:cs typeface="Candara"/>
              </a:rPr>
              <a:t> Example</a:t>
            </a:r>
            <a:endParaRPr sz="2400">
              <a:latin typeface="Candara"/>
              <a:cs typeface="Candara"/>
            </a:endParaRPr>
          </a:p>
          <a:p>
            <a:pPr marL="469265" marR="508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  <a:tab pos="1543050" algn="l"/>
                <a:tab pos="2073275" algn="l"/>
                <a:tab pos="2888615" algn="l"/>
                <a:tab pos="3466465" algn="l"/>
                <a:tab pos="4257040" algn="l"/>
                <a:tab pos="5693410" algn="l"/>
                <a:tab pos="6482715" algn="l"/>
                <a:tab pos="7188834" algn="l"/>
              </a:tabLst>
            </a:pPr>
            <a:r>
              <a:rPr sz="2000" spc="-10" dirty="0">
                <a:latin typeface="Candara"/>
                <a:cs typeface="Candara"/>
              </a:rPr>
              <a:t>Author’s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last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name,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first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initial.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(Publication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date).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0" dirty="0">
                <a:latin typeface="Candara"/>
                <a:cs typeface="Candara"/>
              </a:rPr>
              <a:t>Book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title. </a:t>
            </a:r>
            <a:r>
              <a:rPr sz="2000" dirty="0">
                <a:latin typeface="Candara"/>
                <a:cs typeface="Candara"/>
              </a:rPr>
              <a:t>Additional</a:t>
            </a:r>
            <a:r>
              <a:rPr sz="2000" spc="-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information.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City</a:t>
            </a:r>
            <a:r>
              <a:rPr sz="2000" spc="-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publication: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Publishing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company.</a:t>
            </a:r>
            <a:endParaRPr sz="2000">
              <a:latin typeface="Candara"/>
              <a:cs typeface="Candara"/>
            </a:endParaRPr>
          </a:p>
          <a:p>
            <a:pPr marL="926465" marR="5080" lvl="1" indent="-457200">
              <a:lnSpc>
                <a:spcPct val="150000"/>
              </a:lnSpc>
              <a:buFont typeface="Courier New"/>
              <a:buChar char="o"/>
              <a:tabLst>
                <a:tab pos="926465" algn="l"/>
                <a:tab pos="1777364" algn="l"/>
                <a:tab pos="2216150" algn="l"/>
                <a:tab pos="3190240" algn="l"/>
                <a:tab pos="4437380" algn="l"/>
                <a:tab pos="5440045" algn="l"/>
                <a:tab pos="5904865" algn="l"/>
                <a:tab pos="6760209" algn="l"/>
              </a:tabLst>
            </a:pPr>
            <a:r>
              <a:rPr sz="2000" spc="-10" dirty="0">
                <a:latin typeface="Candara"/>
                <a:cs typeface="Candara"/>
              </a:rPr>
              <a:t>Allen,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25" dirty="0">
                <a:latin typeface="Candara"/>
                <a:cs typeface="Candara"/>
              </a:rPr>
              <a:t>T.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spc="-10" dirty="0">
                <a:latin typeface="Candara"/>
                <a:cs typeface="Candara"/>
              </a:rPr>
              <a:t>(1974).</a:t>
            </a:r>
            <a:r>
              <a:rPr sz="2000" dirty="0">
                <a:latin typeface="Candara"/>
                <a:cs typeface="Candara"/>
              </a:rPr>
              <a:t>	</a:t>
            </a:r>
            <a:r>
              <a:rPr sz="2000" i="1" spc="-10" dirty="0">
                <a:latin typeface="Candara"/>
                <a:cs typeface="Candara"/>
              </a:rPr>
              <a:t>Vanishing</a:t>
            </a:r>
            <a:r>
              <a:rPr sz="2000" i="1" dirty="0">
                <a:latin typeface="Candara"/>
                <a:cs typeface="Candara"/>
              </a:rPr>
              <a:t>	</a:t>
            </a:r>
            <a:r>
              <a:rPr sz="2000" i="1" spc="-10" dirty="0">
                <a:latin typeface="Candara"/>
                <a:cs typeface="Candara"/>
              </a:rPr>
              <a:t>wildlife</a:t>
            </a:r>
            <a:r>
              <a:rPr sz="2000" i="1" dirty="0">
                <a:latin typeface="Candara"/>
                <a:cs typeface="Candara"/>
              </a:rPr>
              <a:t>	</a:t>
            </a:r>
            <a:r>
              <a:rPr sz="2000" i="1" spc="-25" dirty="0">
                <a:latin typeface="Candara"/>
                <a:cs typeface="Candara"/>
              </a:rPr>
              <a:t>of</a:t>
            </a:r>
            <a:r>
              <a:rPr sz="2000" i="1" dirty="0">
                <a:latin typeface="Candara"/>
                <a:cs typeface="Candara"/>
              </a:rPr>
              <a:t>	</a:t>
            </a:r>
            <a:r>
              <a:rPr sz="2000" i="1" spc="-10" dirty="0">
                <a:latin typeface="Candara"/>
                <a:cs typeface="Candara"/>
              </a:rPr>
              <a:t>North</a:t>
            </a:r>
            <a:r>
              <a:rPr sz="2000" i="1" dirty="0">
                <a:latin typeface="Candara"/>
                <a:cs typeface="Candara"/>
              </a:rPr>
              <a:t>	</a:t>
            </a:r>
            <a:r>
              <a:rPr sz="2000" i="1" spc="-10" dirty="0">
                <a:latin typeface="Candara"/>
                <a:cs typeface="Candara"/>
              </a:rPr>
              <a:t>America</a:t>
            </a:r>
            <a:r>
              <a:rPr sz="2000" spc="-10" dirty="0">
                <a:latin typeface="Candara"/>
                <a:cs typeface="Candara"/>
              </a:rPr>
              <a:t>. </a:t>
            </a:r>
            <a:r>
              <a:rPr sz="2000" dirty="0">
                <a:latin typeface="Candara"/>
                <a:cs typeface="Candara"/>
              </a:rPr>
              <a:t>Washington,</a:t>
            </a:r>
            <a:r>
              <a:rPr sz="2000" spc="-4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D.C.:</a:t>
            </a:r>
            <a:r>
              <a:rPr sz="2000" spc="-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National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Geographic</a:t>
            </a:r>
            <a:r>
              <a:rPr sz="2000" spc="-6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Society.</a:t>
            </a:r>
            <a:endParaRPr sz="2000">
              <a:latin typeface="Candara"/>
              <a:cs typeface="Candara"/>
            </a:endParaRPr>
          </a:p>
          <a:p>
            <a:pPr marL="926465" marR="5080" lvl="1" indent="-457200">
              <a:lnSpc>
                <a:spcPct val="150000"/>
              </a:lnSpc>
              <a:spcBef>
                <a:spcPts val="5"/>
              </a:spcBef>
              <a:buFont typeface="Courier New"/>
              <a:buChar char="o"/>
              <a:tabLst>
                <a:tab pos="926465" algn="l"/>
              </a:tabLst>
            </a:pPr>
            <a:r>
              <a:rPr sz="2000" dirty="0">
                <a:latin typeface="Candara"/>
                <a:cs typeface="Candara"/>
              </a:rPr>
              <a:t>Boorstin,</a:t>
            </a:r>
            <a:r>
              <a:rPr sz="2000" spc="1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D.</a:t>
            </a:r>
            <a:r>
              <a:rPr sz="2000" spc="1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(1992).</a:t>
            </a:r>
            <a:r>
              <a:rPr sz="2000" spc="11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12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creators:</a:t>
            </a:r>
            <a:r>
              <a:rPr sz="2000" i="1" spc="13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A</a:t>
            </a:r>
            <a:r>
              <a:rPr sz="2000" i="1" spc="13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history</a:t>
            </a:r>
            <a:r>
              <a:rPr sz="2000" i="1" spc="1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13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13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heroes</a:t>
            </a:r>
            <a:r>
              <a:rPr sz="2000" i="1" spc="14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145" dirty="0">
                <a:latin typeface="Candara"/>
                <a:cs typeface="Candara"/>
              </a:rPr>
              <a:t> </a:t>
            </a:r>
            <a:r>
              <a:rPr sz="2000" i="1" spc="-25" dirty="0">
                <a:latin typeface="Candara"/>
                <a:cs typeface="Candara"/>
              </a:rPr>
              <a:t>the </a:t>
            </a:r>
            <a:r>
              <a:rPr sz="2000" i="1" dirty="0">
                <a:latin typeface="Candara"/>
                <a:cs typeface="Candara"/>
              </a:rPr>
              <a:t>imagination</a:t>
            </a:r>
            <a:r>
              <a:rPr sz="2000" dirty="0">
                <a:latin typeface="Candara"/>
                <a:cs typeface="Candara"/>
              </a:rPr>
              <a:t>.</a:t>
            </a:r>
            <a:r>
              <a:rPr sz="2000" spc="-6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New</a:t>
            </a:r>
            <a:r>
              <a:rPr sz="2000" spc="-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York: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Random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House.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6" name="object 16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45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1120" cy="42602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Encyclopedia</a:t>
            </a:r>
            <a:r>
              <a:rPr sz="2400" b="1" spc="-4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&amp;Dictionary: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Format</a:t>
            </a:r>
            <a:r>
              <a:rPr sz="2400" b="1" spc="-5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&amp;</a:t>
            </a:r>
            <a:r>
              <a:rPr sz="2400" b="1" spc="-45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Example</a:t>
            </a:r>
            <a:endParaRPr sz="2400">
              <a:latin typeface="Candara"/>
              <a:cs typeface="Candara"/>
            </a:endParaRPr>
          </a:p>
          <a:p>
            <a:pPr marL="464820" marR="6350" indent="-45275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Author’s</a:t>
            </a:r>
            <a:r>
              <a:rPr sz="2000" spc="5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last</a:t>
            </a:r>
            <a:r>
              <a:rPr sz="2000" spc="6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name,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first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initial.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(Date).</a:t>
            </a:r>
            <a:r>
              <a:rPr sz="2000" spc="5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Title</a:t>
            </a:r>
            <a:r>
              <a:rPr sz="2000" spc="6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Article.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Title</a:t>
            </a:r>
            <a:r>
              <a:rPr sz="2000" spc="60" dirty="0">
                <a:latin typeface="Candara"/>
                <a:cs typeface="Candara"/>
              </a:rPr>
              <a:t>  </a:t>
            </a:r>
            <a:r>
              <a:rPr sz="2000" spc="-25" dirty="0">
                <a:latin typeface="Candara"/>
                <a:cs typeface="Candara"/>
              </a:rPr>
              <a:t>of 	</a:t>
            </a:r>
            <a:r>
              <a:rPr sz="2000" dirty="0">
                <a:latin typeface="Candara"/>
                <a:cs typeface="Candara"/>
              </a:rPr>
              <a:t>Encyclopedia</a:t>
            </a:r>
            <a:r>
              <a:rPr sz="2000" spc="229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(Volume,</a:t>
            </a:r>
            <a:r>
              <a:rPr sz="2000" spc="229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pages).</a:t>
            </a:r>
            <a:r>
              <a:rPr sz="2000" spc="229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City</a:t>
            </a:r>
            <a:r>
              <a:rPr sz="2000" spc="23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229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publication:</a:t>
            </a:r>
            <a:r>
              <a:rPr sz="2000" spc="235" dirty="0">
                <a:latin typeface="Candara"/>
                <a:cs typeface="Candara"/>
              </a:rPr>
              <a:t>  </a:t>
            </a:r>
            <a:r>
              <a:rPr sz="2000" spc="-10" dirty="0">
                <a:latin typeface="Candara"/>
                <a:cs typeface="Candara"/>
              </a:rPr>
              <a:t>Publishing 	company.</a:t>
            </a:r>
            <a:endParaRPr sz="2000">
              <a:latin typeface="Candara"/>
              <a:cs typeface="Candara"/>
            </a:endParaRPr>
          </a:p>
          <a:p>
            <a:pPr marL="925830" lvl="1" indent="-456565" algn="just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5830" algn="l"/>
              </a:tabLst>
            </a:pPr>
            <a:r>
              <a:rPr sz="2000" dirty="0">
                <a:latin typeface="Candara"/>
                <a:cs typeface="Candara"/>
              </a:rPr>
              <a:t>Bergmann,</a:t>
            </a:r>
            <a:r>
              <a:rPr sz="2000" spc="5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P.</a:t>
            </a:r>
            <a:r>
              <a:rPr sz="2000" spc="5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G.</a:t>
            </a:r>
            <a:r>
              <a:rPr sz="2000" spc="5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(1993).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Relativity.</a:t>
            </a:r>
            <a:r>
              <a:rPr sz="2000" spc="55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In</a:t>
            </a:r>
            <a:r>
              <a:rPr sz="2000" i="1" spc="70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the</a:t>
            </a:r>
            <a:r>
              <a:rPr sz="2000" i="1" spc="75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new</a:t>
            </a:r>
            <a:r>
              <a:rPr sz="2000" i="1" spc="80" dirty="0">
                <a:latin typeface="Candara"/>
                <a:cs typeface="Candara"/>
              </a:rPr>
              <a:t>  </a:t>
            </a:r>
            <a:r>
              <a:rPr sz="2000" i="1" spc="-10" dirty="0">
                <a:latin typeface="Candara"/>
                <a:cs typeface="Candara"/>
              </a:rPr>
              <a:t>encyclopedia</a:t>
            </a:r>
            <a:endParaRPr sz="2000">
              <a:latin typeface="Candara"/>
              <a:cs typeface="Candara"/>
            </a:endParaRPr>
          </a:p>
          <a:p>
            <a:pPr marL="926465" marR="774700" algn="just">
              <a:lnSpc>
                <a:spcPct val="150000"/>
              </a:lnSpc>
            </a:pPr>
            <a:r>
              <a:rPr sz="2000" i="1" dirty="0">
                <a:latin typeface="Candara"/>
                <a:cs typeface="Candara"/>
              </a:rPr>
              <a:t>britannica</a:t>
            </a:r>
            <a:r>
              <a:rPr sz="2000" i="1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(Vol.</a:t>
            </a:r>
            <a:r>
              <a:rPr sz="2000" spc="-1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26,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pp.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501-</a:t>
            </a:r>
            <a:r>
              <a:rPr sz="2000" dirty="0">
                <a:latin typeface="Candara"/>
                <a:cs typeface="Candara"/>
              </a:rPr>
              <a:t>508).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Chicago:</a:t>
            </a:r>
            <a:r>
              <a:rPr sz="2000" spc="310" dirty="0">
                <a:latin typeface="Candara"/>
                <a:cs typeface="Candara"/>
              </a:rPr>
              <a:t>  </a:t>
            </a:r>
            <a:r>
              <a:rPr sz="2000" spc="-10" dirty="0">
                <a:latin typeface="Candara"/>
                <a:cs typeface="Candara"/>
              </a:rPr>
              <a:t>Encyclopedia Britannica.</a:t>
            </a:r>
            <a:endParaRPr sz="2000">
              <a:latin typeface="Candara"/>
              <a:cs typeface="Candara"/>
            </a:endParaRPr>
          </a:p>
          <a:p>
            <a:pPr marL="925830" lvl="1" indent="-456565" algn="just">
              <a:lnSpc>
                <a:spcPct val="100000"/>
              </a:lnSpc>
              <a:spcBef>
                <a:spcPts val="1200"/>
              </a:spcBef>
              <a:buFont typeface="Courier New"/>
              <a:buChar char="o"/>
              <a:tabLst>
                <a:tab pos="925830" algn="l"/>
              </a:tabLst>
            </a:pPr>
            <a:r>
              <a:rPr sz="2000" i="1" spc="-10" dirty="0">
                <a:latin typeface="Candara"/>
                <a:cs typeface="Candara"/>
              </a:rPr>
              <a:t>Merriam-</a:t>
            </a:r>
            <a:r>
              <a:rPr sz="2000" i="1" dirty="0">
                <a:latin typeface="Candara"/>
                <a:cs typeface="Candara"/>
              </a:rPr>
              <a:t>Webster's</a:t>
            </a:r>
            <a:r>
              <a:rPr sz="2000" i="1" spc="300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collegiate</a:t>
            </a:r>
            <a:r>
              <a:rPr sz="2000" i="1" spc="295" dirty="0">
                <a:latin typeface="Candara"/>
                <a:cs typeface="Candara"/>
              </a:rPr>
              <a:t>  </a:t>
            </a:r>
            <a:r>
              <a:rPr sz="2000" i="1" dirty="0">
                <a:latin typeface="Candara"/>
                <a:cs typeface="Candara"/>
              </a:rPr>
              <a:t>dictionary</a:t>
            </a:r>
            <a:r>
              <a:rPr sz="2000" i="1" spc="31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(10th</a:t>
            </a:r>
            <a:r>
              <a:rPr sz="2000" spc="28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ed.).</a:t>
            </a:r>
            <a:r>
              <a:rPr sz="2000" spc="280" dirty="0">
                <a:latin typeface="Candara"/>
                <a:cs typeface="Candara"/>
              </a:rPr>
              <a:t>  </a:t>
            </a:r>
            <a:r>
              <a:rPr sz="2000" spc="-10" dirty="0">
                <a:latin typeface="Candara"/>
                <a:cs typeface="Candara"/>
              </a:rPr>
              <a:t>(1993).</a:t>
            </a:r>
            <a:endParaRPr sz="2000">
              <a:latin typeface="Candara"/>
              <a:cs typeface="Candara"/>
            </a:endParaRPr>
          </a:p>
          <a:p>
            <a:pPr marL="926465" algn="just">
              <a:lnSpc>
                <a:spcPct val="100000"/>
              </a:lnSpc>
              <a:spcBef>
                <a:spcPts val="1205"/>
              </a:spcBef>
            </a:pPr>
            <a:r>
              <a:rPr sz="2000" dirty="0">
                <a:latin typeface="Candara"/>
                <a:cs typeface="Candara"/>
              </a:rPr>
              <a:t>Springfield,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MA: </a:t>
            </a:r>
            <a:r>
              <a:rPr sz="2000" spc="-10" dirty="0">
                <a:latin typeface="Candara"/>
                <a:cs typeface="Candara"/>
              </a:rPr>
              <a:t>Merriam-Webster.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46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2390" cy="490728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 algn="just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Magazine</a:t>
            </a:r>
            <a:r>
              <a:rPr sz="2400" b="1" spc="-5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and</a:t>
            </a:r>
            <a:r>
              <a:rPr sz="2400" b="1" spc="-4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Newspaper</a:t>
            </a:r>
            <a:r>
              <a:rPr sz="2400" b="1" spc="-4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Article: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Format</a:t>
            </a:r>
            <a:r>
              <a:rPr sz="2400" b="1" spc="-5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&amp;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Example</a:t>
            </a:r>
            <a:endParaRPr sz="2400">
              <a:latin typeface="Candara"/>
              <a:cs typeface="Candara"/>
            </a:endParaRPr>
          </a:p>
          <a:p>
            <a:pPr marL="464820" marR="5080" indent="-45275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Author's</a:t>
            </a:r>
            <a:r>
              <a:rPr sz="2000" spc="42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last</a:t>
            </a:r>
            <a:r>
              <a:rPr sz="2000" spc="425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name,</a:t>
            </a:r>
            <a:r>
              <a:rPr sz="2000" spc="42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first</a:t>
            </a:r>
            <a:r>
              <a:rPr sz="2000" spc="42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initial.</a:t>
            </a:r>
            <a:r>
              <a:rPr sz="2000" spc="42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(Publication</a:t>
            </a:r>
            <a:r>
              <a:rPr sz="2000" spc="420" dirty="0">
                <a:latin typeface="Candara"/>
                <a:cs typeface="Candara"/>
              </a:rPr>
              <a:t>  </a:t>
            </a:r>
            <a:r>
              <a:rPr sz="2000" dirty="0">
                <a:latin typeface="Candara"/>
                <a:cs typeface="Candara"/>
              </a:rPr>
              <a:t>date).</a:t>
            </a:r>
            <a:r>
              <a:rPr sz="2000" spc="425" dirty="0">
                <a:latin typeface="Candara"/>
                <a:cs typeface="Candara"/>
              </a:rPr>
              <a:t>  </a:t>
            </a:r>
            <a:r>
              <a:rPr sz="2000" spc="-10" dirty="0">
                <a:latin typeface="Candara"/>
                <a:cs typeface="Candara"/>
              </a:rPr>
              <a:t>Article 	</a:t>
            </a:r>
            <a:r>
              <a:rPr sz="2000" dirty="0">
                <a:latin typeface="Candara"/>
                <a:cs typeface="Candara"/>
              </a:rPr>
              <a:t>title.</a:t>
            </a:r>
            <a:r>
              <a:rPr sz="2000" spc="459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Periodical</a:t>
            </a:r>
            <a:r>
              <a:rPr sz="2000" spc="4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title,</a:t>
            </a:r>
            <a:r>
              <a:rPr sz="2000" spc="459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volume</a:t>
            </a:r>
            <a:r>
              <a:rPr sz="2000" spc="4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number(issue</a:t>
            </a:r>
            <a:r>
              <a:rPr sz="2000" spc="484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number</a:t>
            </a:r>
            <a:r>
              <a:rPr sz="2000" spc="4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if</a:t>
            </a:r>
            <a:r>
              <a:rPr sz="2000" spc="48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available), 	</a:t>
            </a:r>
            <a:r>
              <a:rPr sz="2000" dirty="0">
                <a:latin typeface="Candara"/>
                <a:cs typeface="Candara"/>
              </a:rPr>
              <a:t>inclusive</a:t>
            </a:r>
            <a:r>
              <a:rPr sz="2000" spc="-5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pages.</a:t>
            </a:r>
            <a:endParaRPr sz="2000">
              <a:latin typeface="Candara"/>
              <a:cs typeface="Candara"/>
            </a:endParaRPr>
          </a:p>
          <a:p>
            <a:pPr marL="465455" indent="-452755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5455" algn="l"/>
              </a:tabLst>
            </a:pPr>
            <a:r>
              <a:rPr sz="2000" dirty="0">
                <a:latin typeface="Candara"/>
                <a:cs typeface="Candara"/>
              </a:rPr>
              <a:t>pp</a:t>
            </a:r>
            <a:r>
              <a:rPr sz="2000" spc="-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or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 without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volume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number/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case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newspapers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in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APA</a:t>
            </a:r>
            <a:endParaRPr sz="2000">
              <a:latin typeface="Candara"/>
              <a:cs typeface="Candara"/>
            </a:endParaRPr>
          </a:p>
          <a:p>
            <a:pPr marL="926465" marR="5080" lvl="1" indent="-457200" algn="just">
              <a:lnSpc>
                <a:spcPct val="150100"/>
              </a:lnSpc>
              <a:spcBef>
                <a:spcPts val="55"/>
              </a:spcBef>
              <a:buFont typeface="Arial MT"/>
              <a:buChar char="•"/>
              <a:tabLst>
                <a:tab pos="926465" algn="l"/>
              </a:tabLst>
            </a:pPr>
            <a:r>
              <a:rPr sz="1800" dirty="0">
                <a:latin typeface="Candara"/>
                <a:cs typeface="Candara"/>
              </a:rPr>
              <a:t>Harlow,</a:t>
            </a:r>
            <a:r>
              <a:rPr sz="1800" spc="16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H.</a:t>
            </a:r>
            <a:r>
              <a:rPr sz="1800" spc="16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F.</a:t>
            </a:r>
            <a:r>
              <a:rPr sz="1800" spc="16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(1983).</a:t>
            </a:r>
            <a:r>
              <a:rPr sz="1800" spc="17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Fundamentals</a:t>
            </a:r>
            <a:r>
              <a:rPr sz="1800" spc="17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for</a:t>
            </a:r>
            <a:r>
              <a:rPr sz="1800" spc="16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preparing</a:t>
            </a:r>
            <a:r>
              <a:rPr sz="1800" spc="17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psychology</a:t>
            </a:r>
            <a:r>
              <a:rPr sz="1800" spc="15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journal </a:t>
            </a:r>
            <a:r>
              <a:rPr sz="1800" dirty="0">
                <a:latin typeface="Candara"/>
                <a:cs typeface="Candara"/>
              </a:rPr>
              <a:t>articles.</a:t>
            </a:r>
            <a:r>
              <a:rPr sz="1800" spc="459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Journal</a:t>
            </a:r>
            <a:r>
              <a:rPr sz="1800" spc="47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of</a:t>
            </a:r>
            <a:r>
              <a:rPr sz="1800" spc="47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Comparative</a:t>
            </a:r>
            <a:r>
              <a:rPr sz="1800" spc="47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and</a:t>
            </a:r>
            <a:r>
              <a:rPr sz="1800" spc="46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Physiological</a:t>
            </a:r>
            <a:r>
              <a:rPr sz="1800" spc="46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Psychology,</a:t>
            </a:r>
            <a:r>
              <a:rPr sz="1800" spc="480" dirty="0">
                <a:latin typeface="Candara"/>
                <a:cs typeface="Candara"/>
              </a:rPr>
              <a:t> </a:t>
            </a:r>
            <a:r>
              <a:rPr sz="1800" spc="-25" dirty="0">
                <a:latin typeface="Candara"/>
                <a:cs typeface="Candara"/>
              </a:rPr>
              <a:t>55, </a:t>
            </a:r>
            <a:r>
              <a:rPr sz="1800" spc="-10" dirty="0">
                <a:latin typeface="Candara"/>
                <a:cs typeface="Candara"/>
              </a:rPr>
              <a:t>893-</a:t>
            </a:r>
            <a:r>
              <a:rPr sz="1800" spc="-20" dirty="0">
                <a:latin typeface="Candara"/>
                <a:cs typeface="Candara"/>
              </a:rPr>
              <a:t>896.</a:t>
            </a:r>
            <a:endParaRPr sz="1800">
              <a:latin typeface="Candara"/>
              <a:cs typeface="Candara"/>
            </a:endParaRPr>
          </a:p>
          <a:p>
            <a:pPr marL="926465" marR="5715" lvl="1" indent="-457200" algn="just">
              <a:lnSpc>
                <a:spcPts val="3240"/>
              </a:lnSpc>
              <a:spcBef>
                <a:spcPts val="285"/>
              </a:spcBef>
              <a:buFont typeface="Arial MT"/>
              <a:buChar char="•"/>
              <a:tabLst>
                <a:tab pos="926465" algn="l"/>
              </a:tabLst>
            </a:pPr>
            <a:r>
              <a:rPr sz="1800" dirty="0">
                <a:latin typeface="Candara"/>
                <a:cs typeface="Candara"/>
              </a:rPr>
              <a:t>Henry,</a:t>
            </a:r>
            <a:r>
              <a:rPr sz="1800" spc="16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W.</a:t>
            </a:r>
            <a:r>
              <a:rPr sz="1800" spc="15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A.,</a:t>
            </a:r>
            <a:r>
              <a:rPr sz="1800" spc="155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III.</a:t>
            </a:r>
            <a:r>
              <a:rPr sz="1800" spc="16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(1990,</a:t>
            </a:r>
            <a:r>
              <a:rPr sz="1800" spc="16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April</a:t>
            </a:r>
            <a:r>
              <a:rPr sz="1800" spc="155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9).</a:t>
            </a:r>
            <a:r>
              <a:rPr sz="1800" spc="155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Making</a:t>
            </a:r>
            <a:r>
              <a:rPr sz="1800" spc="16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the</a:t>
            </a:r>
            <a:r>
              <a:rPr sz="1800" spc="160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grade</a:t>
            </a:r>
            <a:r>
              <a:rPr sz="1800" spc="155" dirty="0">
                <a:latin typeface="Candara"/>
                <a:cs typeface="Candara"/>
              </a:rPr>
              <a:t>  </a:t>
            </a:r>
            <a:r>
              <a:rPr sz="1800" dirty="0">
                <a:latin typeface="Candara"/>
                <a:cs typeface="Candara"/>
              </a:rPr>
              <a:t>in</a:t>
            </a:r>
            <a:r>
              <a:rPr sz="1800" spc="150" dirty="0">
                <a:latin typeface="Candara"/>
                <a:cs typeface="Candara"/>
              </a:rPr>
              <a:t>  </a:t>
            </a:r>
            <a:r>
              <a:rPr sz="1800" spc="-10" dirty="0">
                <a:latin typeface="Candara"/>
                <a:cs typeface="Candara"/>
              </a:rPr>
              <a:t>today's </a:t>
            </a:r>
            <a:r>
              <a:rPr sz="1800" dirty="0">
                <a:latin typeface="Candara"/>
                <a:cs typeface="Candara"/>
              </a:rPr>
              <a:t>schools.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Time,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135,</a:t>
            </a:r>
            <a:r>
              <a:rPr sz="1800" spc="-10" dirty="0">
                <a:latin typeface="Candara"/>
                <a:cs typeface="Candara"/>
              </a:rPr>
              <a:t> 28-</a:t>
            </a:r>
            <a:r>
              <a:rPr sz="1800" spc="-25" dirty="0">
                <a:latin typeface="Candara"/>
                <a:cs typeface="Candara"/>
              </a:rPr>
              <a:t>31.</a:t>
            </a:r>
            <a:endParaRPr sz="1800">
              <a:latin typeface="Candara"/>
              <a:cs typeface="Candara"/>
            </a:endParaRPr>
          </a:p>
          <a:p>
            <a:pPr marL="925830" lvl="1" indent="-456565" algn="just">
              <a:lnSpc>
                <a:spcPct val="100000"/>
              </a:lnSpc>
              <a:spcBef>
                <a:spcPts val="795"/>
              </a:spcBef>
              <a:buFont typeface="Arial MT"/>
              <a:buChar char="•"/>
              <a:tabLst>
                <a:tab pos="925830" algn="l"/>
              </a:tabLst>
            </a:pPr>
            <a:r>
              <a:rPr sz="1800" spc="-10" dirty="0">
                <a:latin typeface="Candara"/>
                <a:cs typeface="Candara"/>
              </a:rPr>
              <a:t>Trillin,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C.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(1993,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February</a:t>
            </a:r>
            <a:r>
              <a:rPr sz="1800" spc="-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15).</a:t>
            </a:r>
            <a:r>
              <a:rPr sz="1800" spc="-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Culture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shopping.</a:t>
            </a:r>
            <a:r>
              <a:rPr sz="1800" spc="-4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New</a:t>
            </a:r>
            <a:r>
              <a:rPr sz="1800" spc="-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Yorker,</a:t>
            </a:r>
            <a:r>
              <a:rPr sz="1800" spc="-6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pp.</a:t>
            </a:r>
            <a:r>
              <a:rPr sz="1800" spc="-2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48-</a:t>
            </a:r>
            <a:r>
              <a:rPr sz="1800" spc="-25" dirty="0">
                <a:latin typeface="Candara"/>
                <a:cs typeface="Candara"/>
              </a:rPr>
              <a:t>51.</a:t>
            </a:r>
            <a:endParaRPr sz="18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465829"/>
            <a:ext cx="838200" cy="649604"/>
          </a:xfrm>
          <a:prstGeom prst="rect">
            <a:avLst/>
          </a:prstGeom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47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7691755" cy="3345815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latin typeface="Candara"/>
                <a:cs typeface="Candara"/>
              </a:rPr>
              <a:t>Website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or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Webpage:</a:t>
            </a:r>
            <a:r>
              <a:rPr sz="2400" b="1" spc="-4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Format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&amp;</a:t>
            </a:r>
            <a:r>
              <a:rPr sz="2400" b="1" spc="-4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Example</a:t>
            </a:r>
            <a:r>
              <a:rPr sz="2400" b="1" spc="-25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[1/2]</a:t>
            </a:r>
            <a:endParaRPr sz="2400">
              <a:latin typeface="Candara"/>
              <a:cs typeface="Candara"/>
            </a:endParaRPr>
          </a:p>
          <a:p>
            <a:pPr marL="464820" marR="5715" indent="-452755" algn="just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In</a:t>
            </a:r>
            <a:r>
              <a:rPr sz="2000" spc="15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case</a:t>
            </a:r>
            <a:r>
              <a:rPr sz="2000" spc="1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1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Online</a:t>
            </a:r>
            <a:r>
              <a:rPr sz="2000" spc="1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Periodical:</a:t>
            </a:r>
            <a:r>
              <a:rPr sz="2000" spc="17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Author's</a:t>
            </a:r>
            <a:r>
              <a:rPr sz="2000" spc="18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name.</a:t>
            </a:r>
            <a:r>
              <a:rPr sz="2000" spc="16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(Date</a:t>
            </a:r>
            <a:r>
              <a:rPr sz="2000" spc="17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175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publication). 	</a:t>
            </a:r>
            <a:r>
              <a:rPr sz="2000" dirty="0">
                <a:latin typeface="Candara"/>
                <a:cs typeface="Candara"/>
              </a:rPr>
              <a:t>Title</a:t>
            </a:r>
            <a:r>
              <a:rPr sz="2000" spc="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article.</a:t>
            </a:r>
            <a:r>
              <a:rPr sz="2000" spc="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Title</a:t>
            </a:r>
            <a:r>
              <a:rPr sz="2000" i="1" spc="4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6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Periodical</a:t>
            </a:r>
            <a:r>
              <a:rPr sz="2000" dirty="0">
                <a:latin typeface="Candara"/>
                <a:cs typeface="Candara"/>
              </a:rPr>
              <a:t>,</a:t>
            </a:r>
            <a:r>
              <a:rPr sz="2000" spc="3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volume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number,</a:t>
            </a:r>
            <a:r>
              <a:rPr sz="2000" spc="3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Retrieved</a:t>
            </a:r>
            <a:r>
              <a:rPr sz="2000" spc="30" dirty="0">
                <a:latin typeface="Candara"/>
                <a:cs typeface="Candara"/>
              </a:rPr>
              <a:t> </a:t>
            </a:r>
            <a:r>
              <a:rPr sz="2000" spc="-10" dirty="0">
                <a:latin typeface="Candara"/>
                <a:cs typeface="Candara"/>
              </a:rPr>
              <a:t>month 	</a:t>
            </a:r>
            <a:r>
              <a:rPr sz="2000" dirty="0">
                <a:latin typeface="Candara"/>
                <a:cs typeface="Candara"/>
              </a:rPr>
              <a:t>day,</a:t>
            </a:r>
            <a:r>
              <a:rPr sz="2000" spc="-4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year,</a:t>
            </a:r>
            <a:r>
              <a:rPr sz="2000" spc="-2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from</a:t>
            </a:r>
            <a:r>
              <a:rPr sz="2000" spc="-2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full</a:t>
            </a:r>
            <a:r>
              <a:rPr sz="2000" spc="-10" dirty="0">
                <a:latin typeface="Candara"/>
                <a:cs typeface="Candara"/>
              </a:rPr>
              <a:t> </a:t>
            </a:r>
            <a:r>
              <a:rPr sz="2000" spc="-25" dirty="0">
                <a:latin typeface="Candara"/>
                <a:cs typeface="Candara"/>
              </a:rPr>
              <a:t>URL</a:t>
            </a:r>
            <a:endParaRPr sz="2000">
              <a:latin typeface="Candara"/>
              <a:cs typeface="Candara"/>
            </a:endParaRPr>
          </a:p>
          <a:p>
            <a:pPr marL="464820" indent="-452755" algn="just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4820" algn="l"/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In</a:t>
            </a:r>
            <a:r>
              <a:rPr sz="2000" spc="204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case</a:t>
            </a:r>
            <a:r>
              <a:rPr sz="2000" spc="220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of</a:t>
            </a:r>
            <a:r>
              <a:rPr sz="2000" spc="215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Online</a:t>
            </a:r>
            <a:r>
              <a:rPr sz="2000" spc="210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Document:</a:t>
            </a:r>
            <a:r>
              <a:rPr sz="2000" spc="215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Author's</a:t>
            </a:r>
            <a:r>
              <a:rPr sz="2000" spc="220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name.</a:t>
            </a:r>
            <a:r>
              <a:rPr sz="2000" spc="204" dirty="0">
                <a:latin typeface="Candara"/>
                <a:cs typeface="Candara"/>
              </a:rPr>
              <a:t>   </a:t>
            </a:r>
            <a:r>
              <a:rPr sz="2000" dirty="0">
                <a:latin typeface="Candara"/>
                <a:cs typeface="Candara"/>
              </a:rPr>
              <a:t>(Date</a:t>
            </a:r>
            <a:r>
              <a:rPr sz="2000" spc="215" dirty="0">
                <a:latin typeface="Candara"/>
                <a:cs typeface="Candara"/>
              </a:rPr>
              <a:t>   </a:t>
            </a:r>
            <a:r>
              <a:rPr sz="2000" spc="-25" dirty="0">
                <a:latin typeface="Candara"/>
                <a:cs typeface="Candara"/>
              </a:rPr>
              <a:t>of</a:t>
            </a:r>
            <a:endParaRPr sz="2000">
              <a:latin typeface="Candara"/>
              <a:cs typeface="Candara"/>
            </a:endParaRPr>
          </a:p>
          <a:p>
            <a:pPr marL="469265" marR="5080" algn="just">
              <a:lnSpc>
                <a:spcPct val="150000"/>
              </a:lnSpc>
            </a:pPr>
            <a:r>
              <a:rPr sz="2000" dirty="0">
                <a:latin typeface="Candara"/>
                <a:cs typeface="Candara"/>
              </a:rPr>
              <a:t>publication).</a:t>
            </a:r>
            <a:r>
              <a:rPr sz="2000" spc="409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Title</a:t>
            </a:r>
            <a:r>
              <a:rPr sz="2000" i="1" spc="415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of</a:t>
            </a:r>
            <a:r>
              <a:rPr sz="2000" i="1" spc="420" dirty="0">
                <a:latin typeface="Candara"/>
                <a:cs typeface="Candara"/>
              </a:rPr>
              <a:t> </a:t>
            </a:r>
            <a:r>
              <a:rPr sz="2000" i="1" dirty="0">
                <a:latin typeface="Candara"/>
                <a:cs typeface="Candara"/>
              </a:rPr>
              <a:t>work</a:t>
            </a:r>
            <a:r>
              <a:rPr sz="2000" dirty="0">
                <a:latin typeface="Candara"/>
                <a:cs typeface="Candara"/>
              </a:rPr>
              <a:t>.</a:t>
            </a:r>
            <a:r>
              <a:rPr sz="2000" spc="39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Retrieved</a:t>
            </a:r>
            <a:r>
              <a:rPr sz="2000" spc="4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month</a:t>
            </a:r>
            <a:r>
              <a:rPr sz="2000" spc="4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day,</a:t>
            </a:r>
            <a:r>
              <a:rPr sz="2000" spc="400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year,</a:t>
            </a:r>
            <a:r>
              <a:rPr sz="2000" spc="405" dirty="0">
                <a:latin typeface="Candara"/>
                <a:cs typeface="Candara"/>
              </a:rPr>
              <a:t> </a:t>
            </a:r>
            <a:r>
              <a:rPr sz="2000" dirty="0">
                <a:latin typeface="Candara"/>
                <a:cs typeface="Candara"/>
              </a:rPr>
              <a:t>from</a:t>
            </a:r>
            <a:r>
              <a:rPr sz="2000" spc="405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full </a:t>
            </a:r>
            <a:r>
              <a:rPr sz="2000" spc="-25" dirty="0">
                <a:latin typeface="Candara"/>
                <a:cs typeface="Candara"/>
              </a:rPr>
              <a:t>URL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2133600"/>
            <a:ext cx="838200" cy="649604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0500" y="3465829"/>
            <a:ext cx="838200" cy="649604"/>
          </a:xfrm>
          <a:prstGeom prst="rect">
            <a:avLst/>
          </a:prstGeom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309609" y="6457289"/>
            <a:ext cx="132080" cy="1517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800" spc="-25" dirty="0">
                <a:solidFill>
                  <a:srgbClr val="888888"/>
                </a:solidFill>
                <a:latin typeface="Calibri"/>
                <a:cs typeface="Calibri"/>
              </a:rPr>
              <a:t>48</a:t>
            </a:r>
            <a:endParaRPr sz="80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5" name="object 5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936142" y="1740230"/>
            <a:ext cx="7693025" cy="31737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spc="-10" dirty="0">
                <a:latin typeface="Candara"/>
                <a:cs typeface="Candara"/>
              </a:rPr>
              <a:t>Website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or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Webpage:</a:t>
            </a:r>
            <a:r>
              <a:rPr sz="2400" b="1" spc="-40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Format</a:t>
            </a:r>
            <a:r>
              <a:rPr sz="2400" b="1" spc="-3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&amp;</a:t>
            </a:r>
            <a:r>
              <a:rPr sz="2400" b="1" spc="-4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Example</a:t>
            </a:r>
            <a:r>
              <a:rPr sz="2400" b="1" spc="-25" dirty="0">
                <a:latin typeface="Candara"/>
                <a:cs typeface="Candara"/>
              </a:rPr>
              <a:t> </a:t>
            </a:r>
            <a:r>
              <a:rPr sz="2400" b="1" spc="-10" dirty="0">
                <a:latin typeface="Candara"/>
                <a:cs typeface="Candara"/>
              </a:rPr>
              <a:t>[2/2]</a:t>
            </a:r>
            <a:endParaRPr sz="2400">
              <a:latin typeface="Candara"/>
              <a:cs typeface="Candara"/>
            </a:endParaRPr>
          </a:p>
          <a:p>
            <a:pPr marL="184785" marR="6985" indent="-172720" algn="just">
              <a:lnSpc>
                <a:spcPct val="150000"/>
              </a:lnSpc>
              <a:spcBef>
                <a:spcPts val="300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dirty="0">
                <a:latin typeface="Candara"/>
                <a:cs typeface="Candara"/>
              </a:rPr>
              <a:t>Devitt,</a:t>
            </a:r>
            <a:r>
              <a:rPr sz="1200" spc="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T.</a:t>
            </a:r>
            <a:r>
              <a:rPr sz="1200" spc="5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(2001,</a:t>
            </a:r>
            <a:r>
              <a:rPr sz="1200" spc="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August</a:t>
            </a:r>
            <a:r>
              <a:rPr sz="1200" spc="5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2).</a:t>
            </a:r>
            <a:r>
              <a:rPr sz="1200" spc="5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Lightning</a:t>
            </a:r>
            <a:r>
              <a:rPr sz="1200" spc="5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injures</a:t>
            </a:r>
            <a:r>
              <a:rPr sz="1200" spc="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four</a:t>
            </a:r>
            <a:r>
              <a:rPr sz="1200" spc="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at</a:t>
            </a:r>
            <a:r>
              <a:rPr sz="1200" spc="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music</a:t>
            </a:r>
            <a:r>
              <a:rPr sz="1200" spc="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festival.</a:t>
            </a:r>
            <a:r>
              <a:rPr sz="1200" spc="5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The</a:t>
            </a:r>
            <a:r>
              <a:rPr sz="1200" spc="4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Why?</a:t>
            </a:r>
            <a:r>
              <a:rPr sz="1200" spc="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Files.</a:t>
            </a:r>
            <a:r>
              <a:rPr sz="1200" spc="5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Retrieved</a:t>
            </a:r>
            <a:r>
              <a:rPr sz="1200" spc="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January</a:t>
            </a:r>
            <a:r>
              <a:rPr sz="1200" spc="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23,</a:t>
            </a:r>
            <a:r>
              <a:rPr sz="1200" spc="5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2002,</a:t>
            </a:r>
            <a:r>
              <a:rPr sz="1200" spc="50" dirty="0">
                <a:latin typeface="Candara"/>
                <a:cs typeface="Candara"/>
              </a:rPr>
              <a:t> </a:t>
            </a:r>
            <a:r>
              <a:rPr sz="1200" spc="-20" dirty="0">
                <a:latin typeface="Candara"/>
                <a:cs typeface="Candara"/>
              </a:rPr>
              <a:t>from </a:t>
            </a:r>
            <a:r>
              <a:rPr sz="1200" spc="-10" dirty="0">
                <a:latin typeface="Candara"/>
                <a:cs typeface="Candara"/>
                <a:hlinkClick r:id="rId2"/>
              </a:rPr>
              <a:t>http://whyfiles.org/137lightning/index.html</a:t>
            </a:r>
            <a:endParaRPr sz="1200">
              <a:latin typeface="Candara"/>
              <a:cs typeface="Candara"/>
            </a:endParaRPr>
          </a:p>
          <a:p>
            <a:pPr marL="186055" indent="-17335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186055" algn="l"/>
              </a:tabLst>
            </a:pPr>
            <a:r>
              <a:rPr sz="1200" dirty="0">
                <a:latin typeface="Candara"/>
                <a:cs typeface="Candara"/>
              </a:rPr>
              <a:t>Dove,</a:t>
            </a:r>
            <a:r>
              <a:rPr sz="1200" spc="204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R.</a:t>
            </a:r>
            <a:r>
              <a:rPr sz="1200" spc="21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(1998).</a:t>
            </a:r>
            <a:r>
              <a:rPr sz="1200" spc="21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Lady</a:t>
            </a:r>
            <a:r>
              <a:rPr sz="1200" spc="22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freedom</a:t>
            </a:r>
            <a:r>
              <a:rPr sz="1200" spc="21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among</a:t>
            </a:r>
            <a:r>
              <a:rPr sz="1200" spc="21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us.</a:t>
            </a:r>
            <a:r>
              <a:rPr sz="1200" spc="21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The</a:t>
            </a:r>
            <a:r>
              <a:rPr sz="1200" spc="21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Electronic</a:t>
            </a:r>
            <a:r>
              <a:rPr sz="1200" spc="21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Text</a:t>
            </a:r>
            <a:r>
              <a:rPr sz="1200" spc="21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Center.</a:t>
            </a:r>
            <a:r>
              <a:rPr sz="1200" spc="21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Retrieved</a:t>
            </a:r>
            <a:r>
              <a:rPr sz="1200" spc="21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June</a:t>
            </a:r>
            <a:r>
              <a:rPr sz="1200" spc="21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19,</a:t>
            </a:r>
            <a:r>
              <a:rPr sz="1200" spc="21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1998,</a:t>
            </a:r>
            <a:r>
              <a:rPr sz="1200" spc="22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from</a:t>
            </a:r>
            <a:r>
              <a:rPr sz="1200" spc="225" dirty="0">
                <a:latin typeface="Candara"/>
                <a:cs typeface="Candara"/>
              </a:rPr>
              <a:t> </a:t>
            </a:r>
            <a:r>
              <a:rPr sz="1200" spc="-10" dirty="0">
                <a:latin typeface="Candara"/>
                <a:cs typeface="Candara"/>
              </a:rPr>
              <a:t>Alderman</a:t>
            </a:r>
            <a:endParaRPr sz="1200">
              <a:latin typeface="Candara"/>
              <a:cs typeface="Candara"/>
            </a:endParaRPr>
          </a:p>
          <a:p>
            <a:pPr marL="184785" algn="just">
              <a:lnSpc>
                <a:spcPct val="100000"/>
              </a:lnSpc>
              <a:spcBef>
                <a:spcPts val="725"/>
              </a:spcBef>
            </a:pPr>
            <a:r>
              <a:rPr sz="1200" dirty="0">
                <a:latin typeface="Candara"/>
                <a:cs typeface="Candara"/>
              </a:rPr>
              <a:t>Library,</a:t>
            </a:r>
            <a:r>
              <a:rPr sz="1200" spc="-2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University</a:t>
            </a:r>
            <a:r>
              <a:rPr sz="1200" spc="-2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of</a:t>
            </a:r>
            <a:r>
              <a:rPr sz="1200" spc="-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Virginia</a:t>
            </a:r>
            <a:r>
              <a:rPr sz="1200" spc="-2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website:</a:t>
            </a:r>
            <a:r>
              <a:rPr sz="1200" spc="-35" dirty="0">
                <a:latin typeface="Candara"/>
                <a:cs typeface="Candara"/>
              </a:rPr>
              <a:t> </a:t>
            </a:r>
            <a:r>
              <a:rPr sz="1200" spc="-10" dirty="0">
                <a:latin typeface="Candara"/>
                <a:cs typeface="Candara"/>
                <a:hlinkClick r:id="rId3"/>
              </a:rPr>
              <a:t>http://etext.lib.virginia.edu/subjects/afam.html</a:t>
            </a:r>
            <a:endParaRPr sz="1200">
              <a:latin typeface="Candara"/>
              <a:cs typeface="Candara"/>
            </a:endParaRPr>
          </a:p>
          <a:p>
            <a:pPr marL="184785" marR="6985" indent="-172720" algn="just">
              <a:lnSpc>
                <a:spcPct val="150000"/>
              </a:lnSpc>
              <a:buFont typeface="Arial MT"/>
              <a:buChar char="•"/>
              <a:tabLst>
                <a:tab pos="184785" algn="l"/>
              </a:tabLst>
            </a:pPr>
            <a:r>
              <a:rPr sz="1200" dirty="0">
                <a:latin typeface="Candara"/>
                <a:cs typeface="Candara"/>
              </a:rPr>
              <a:t>Note:</a:t>
            </a:r>
            <a:r>
              <a:rPr sz="1200" spc="4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If</a:t>
            </a:r>
            <a:r>
              <a:rPr sz="1200" spc="4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4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document</a:t>
            </a:r>
            <a:r>
              <a:rPr sz="1200" spc="4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is</a:t>
            </a:r>
            <a:r>
              <a:rPr sz="1200" spc="3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contained</a:t>
            </a:r>
            <a:r>
              <a:rPr sz="1200" spc="4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within</a:t>
            </a:r>
            <a:r>
              <a:rPr sz="1200" spc="4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3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large</a:t>
            </a:r>
            <a:r>
              <a:rPr sz="1200" spc="3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and</a:t>
            </a:r>
            <a:r>
              <a:rPr sz="1200" spc="4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complex</a:t>
            </a:r>
            <a:r>
              <a:rPr sz="1200" spc="3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website</a:t>
            </a:r>
            <a:r>
              <a:rPr sz="1200" spc="4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(such</a:t>
            </a:r>
            <a:r>
              <a:rPr sz="1200" spc="4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as</a:t>
            </a:r>
            <a:r>
              <a:rPr sz="1200" spc="4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that</a:t>
            </a:r>
            <a:r>
              <a:rPr sz="1200" spc="3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for</a:t>
            </a:r>
            <a:r>
              <a:rPr sz="1200" spc="3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4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university</a:t>
            </a:r>
            <a:r>
              <a:rPr sz="1200" spc="4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or</a:t>
            </a:r>
            <a:r>
              <a:rPr sz="1200" spc="3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45" dirty="0">
                <a:latin typeface="Candara"/>
                <a:cs typeface="Candara"/>
              </a:rPr>
              <a:t> </a:t>
            </a:r>
            <a:r>
              <a:rPr sz="1200" spc="-10" dirty="0">
                <a:latin typeface="Candara"/>
                <a:cs typeface="Candara"/>
              </a:rPr>
              <a:t>government </a:t>
            </a:r>
            <a:r>
              <a:rPr sz="1200" dirty="0">
                <a:latin typeface="Candara"/>
                <a:cs typeface="Candara"/>
              </a:rPr>
              <a:t>agency),</a:t>
            </a:r>
            <a:r>
              <a:rPr sz="1200" spc="19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identify</a:t>
            </a:r>
            <a:r>
              <a:rPr sz="1200" spc="19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the</a:t>
            </a:r>
            <a:r>
              <a:rPr sz="1200" spc="19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host</a:t>
            </a:r>
            <a:r>
              <a:rPr sz="1200" spc="20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organization</a:t>
            </a:r>
            <a:r>
              <a:rPr sz="1200" spc="20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and</a:t>
            </a:r>
            <a:r>
              <a:rPr sz="1200" spc="19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the</a:t>
            </a:r>
            <a:r>
              <a:rPr sz="1200" spc="19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relevant</a:t>
            </a:r>
            <a:r>
              <a:rPr sz="1200" spc="19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program</a:t>
            </a:r>
            <a:r>
              <a:rPr sz="1200" spc="20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or</a:t>
            </a:r>
            <a:r>
              <a:rPr sz="1200" spc="19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department</a:t>
            </a:r>
            <a:r>
              <a:rPr sz="1200" spc="20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before</a:t>
            </a:r>
            <a:r>
              <a:rPr sz="1200" spc="19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giving</a:t>
            </a:r>
            <a:r>
              <a:rPr sz="1200" spc="19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the</a:t>
            </a:r>
            <a:r>
              <a:rPr sz="1200" spc="19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URL</a:t>
            </a:r>
            <a:r>
              <a:rPr sz="1200" spc="20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for</a:t>
            </a:r>
            <a:r>
              <a:rPr sz="1200" spc="190" dirty="0">
                <a:latin typeface="Candara"/>
                <a:cs typeface="Candara"/>
              </a:rPr>
              <a:t> </a:t>
            </a:r>
            <a:r>
              <a:rPr sz="1200" spc="-25" dirty="0">
                <a:latin typeface="Candara"/>
                <a:cs typeface="Candara"/>
              </a:rPr>
              <a:t>the </a:t>
            </a:r>
            <a:r>
              <a:rPr sz="1200" dirty="0">
                <a:latin typeface="Candara"/>
                <a:cs typeface="Candara"/>
              </a:rPr>
              <a:t>document</a:t>
            </a:r>
            <a:r>
              <a:rPr sz="1200" spc="-3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itself.</a:t>
            </a:r>
            <a:r>
              <a:rPr sz="1200" spc="-2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Precede</a:t>
            </a:r>
            <a:r>
              <a:rPr sz="1200" spc="-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the</a:t>
            </a:r>
            <a:r>
              <a:rPr sz="1200" spc="-2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URL</a:t>
            </a:r>
            <a:r>
              <a:rPr sz="1200" spc="-1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with</a:t>
            </a:r>
            <a:r>
              <a:rPr sz="1200" spc="-1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a</a:t>
            </a:r>
            <a:r>
              <a:rPr sz="1200" spc="-15" dirty="0">
                <a:latin typeface="Candara"/>
                <a:cs typeface="Candara"/>
              </a:rPr>
              <a:t> </a:t>
            </a:r>
            <a:r>
              <a:rPr sz="1200" spc="-10" dirty="0">
                <a:latin typeface="Candara"/>
                <a:cs typeface="Candara"/>
              </a:rPr>
              <a:t>colon.</a:t>
            </a:r>
            <a:endParaRPr sz="1200">
              <a:latin typeface="Candara"/>
              <a:cs typeface="Candara"/>
            </a:endParaRPr>
          </a:p>
          <a:p>
            <a:pPr marL="184785" indent="-172720" algn="just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184785" algn="l"/>
              </a:tabLst>
            </a:pPr>
            <a:r>
              <a:rPr sz="1200" dirty="0">
                <a:latin typeface="Candara"/>
                <a:cs typeface="Candara"/>
              </a:rPr>
              <a:t>Fredrickson,</a:t>
            </a:r>
            <a:r>
              <a:rPr sz="1200" spc="14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B.</a:t>
            </a:r>
            <a:r>
              <a:rPr sz="1200" spc="14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L.</a:t>
            </a:r>
            <a:r>
              <a:rPr sz="1200" spc="14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(2000,</a:t>
            </a:r>
            <a:r>
              <a:rPr sz="1200" spc="14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March</a:t>
            </a:r>
            <a:r>
              <a:rPr sz="1200" spc="14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7).</a:t>
            </a:r>
            <a:r>
              <a:rPr sz="1200" spc="14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Cultivating</a:t>
            </a:r>
            <a:r>
              <a:rPr sz="1200" spc="13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positive</a:t>
            </a:r>
            <a:r>
              <a:rPr sz="1200" spc="13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emotions</a:t>
            </a:r>
            <a:r>
              <a:rPr sz="1200" spc="13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to</a:t>
            </a:r>
            <a:r>
              <a:rPr sz="1200" spc="14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optimize</a:t>
            </a:r>
            <a:r>
              <a:rPr sz="1200" spc="15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health</a:t>
            </a:r>
            <a:r>
              <a:rPr sz="1200" spc="13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and</a:t>
            </a:r>
            <a:r>
              <a:rPr sz="1200" spc="145" dirty="0">
                <a:latin typeface="Candara"/>
                <a:cs typeface="Candara"/>
              </a:rPr>
              <a:t> </a:t>
            </a:r>
            <a:r>
              <a:rPr sz="1200" spc="-10" dirty="0">
                <a:latin typeface="Candara"/>
                <a:cs typeface="Candara"/>
              </a:rPr>
              <a:t>well-</a:t>
            </a:r>
            <a:r>
              <a:rPr sz="1200" dirty="0">
                <a:latin typeface="Candara"/>
                <a:cs typeface="Candara"/>
              </a:rPr>
              <a:t>being.</a:t>
            </a:r>
            <a:r>
              <a:rPr sz="1200" spc="14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Prevention</a:t>
            </a:r>
            <a:r>
              <a:rPr sz="1200" spc="140" dirty="0">
                <a:latin typeface="Candara"/>
                <a:cs typeface="Candara"/>
              </a:rPr>
              <a:t> </a:t>
            </a:r>
            <a:r>
              <a:rPr sz="1200" spc="-50" dirty="0">
                <a:latin typeface="Candara"/>
                <a:cs typeface="Candara"/>
              </a:rPr>
              <a:t>&amp;</a:t>
            </a:r>
            <a:endParaRPr sz="1200">
              <a:latin typeface="Candara"/>
              <a:cs typeface="Candara"/>
            </a:endParaRPr>
          </a:p>
          <a:p>
            <a:pPr marL="184785" marR="6985" algn="just">
              <a:lnSpc>
                <a:spcPct val="150000"/>
              </a:lnSpc>
              <a:tabLst>
                <a:tab pos="1352550" algn="l"/>
                <a:tab pos="1922145" algn="l"/>
                <a:tab pos="2797175" algn="l"/>
                <a:tab pos="3672204" algn="l"/>
                <a:tab pos="4754245" algn="l"/>
                <a:tab pos="5892800" algn="l"/>
                <a:tab pos="6541770" algn="l"/>
                <a:tab pos="7360920" algn="l"/>
              </a:tabLst>
            </a:pPr>
            <a:r>
              <a:rPr sz="1200" spc="-10" dirty="0">
                <a:latin typeface="Candara"/>
                <a:cs typeface="Candara"/>
              </a:rPr>
              <a:t>Treatment,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25" dirty="0">
                <a:latin typeface="Candara"/>
                <a:cs typeface="Candara"/>
              </a:rPr>
              <a:t>3,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10" dirty="0">
                <a:latin typeface="Candara"/>
                <a:cs typeface="Candara"/>
              </a:rPr>
              <a:t>Article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10" dirty="0">
                <a:latin typeface="Candara"/>
                <a:cs typeface="Candara"/>
              </a:rPr>
              <a:t>0001a.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10" dirty="0">
                <a:latin typeface="Candara"/>
                <a:cs typeface="Candara"/>
              </a:rPr>
              <a:t>Retrieved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10" dirty="0">
                <a:latin typeface="Candara"/>
                <a:cs typeface="Candara"/>
              </a:rPr>
              <a:t>November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25" dirty="0">
                <a:latin typeface="Candara"/>
                <a:cs typeface="Candara"/>
              </a:rPr>
              <a:t>20,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10" dirty="0">
                <a:latin typeface="Candara"/>
                <a:cs typeface="Candara"/>
              </a:rPr>
              <a:t>2000,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20" dirty="0">
                <a:latin typeface="Candara"/>
                <a:cs typeface="Candara"/>
              </a:rPr>
              <a:t>from </a:t>
            </a:r>
            <a:r>
              <a:rPr sz="1200" spc="-10" dirty="0">
                <a:latin typeface="Candara"/>
                <a:cs typeface="Candara"/>
                <a:hlinkClick r:id="rId4"/>
              </a:rPr>
              <a:t>http://journals.apa.org/prevention/volume3/pre0030001a.html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36142" y="4979670"/>
            <a:ext cx="115252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86055" indent="-173355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186055" algn="l"/>
                <a:tab pos="917575" algn="l"/>
              </a:tabLst>
            </a:pPr>
            <a:r>
              <a:rPr sz="1200" spc="-10" dirty="0">
                <a:latin typeface="Candara"/>
                <a:cs typeface="Candara"/>
              </a:rPr>
              <a:t>GVU's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25" dirty="0">
                <a:latin typeface="Candara"/>
                <a:cs typeface="Candara"/>
              </a:rPr>
              <a:t>8th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410205" y="4979670"/>
            <a:ext cx="621538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65175" algn="l"/>
                <a:tab pos="1390015" algn="l"/>
                <a:tab pos="2196465" algn="l"/>
                <a:tab pos="2932430" algn="l"/>
                <a:tab pos="3905250" algn="l"/>
                <a:tab pos="4708525" algn="l"/>
                <a:tab pos="5177790" algn="l"/>
                <a:tab pos="5885180" algn="l"/>
              </a:tabLst>
            </a:pPr>
            <a:r>
              <a:rPr sz="1200" spc="-25" dirty="0">
                <a:latin typeface="Candara"/>
                <a:cs typeface="Candara"/>
              </a:rPr>
              <a:t>WWW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20" dirty="0">
                <a:latin typeface="Candara"/>
                <a:cs typeface="Candara"/>
              </a:rPr>
              <a:t>user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10" dirty="0">
                <a:latin typeface="Candara"/>
                <a:cs typeface="Candara"/>
              </a:rPr>
              <a:t>survey.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10" dirty="0">
                <a:latin typeface="Candara"/>
                <a:cs typeface="Candara"/>
              </a:rPr>
              <a:t>(n.d.).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10" dirty="0">
                <a:latin typeface="Candara"/>
                <a:cs typeface="Candara"/>
              </a:rPr>
              <a:t>Retrieved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10" dirty="0">
                <a:latin typeface="Candara"/>
                <a:cs typeface="Candara"/>
              </a:rPr>
              <a:t>August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25" dirty="0">
                <a:latin typeface="Candara"/>
                <a:cs typeface="Candara"/>
              </a:rPr>
              <a:t>8,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10" dirty="0">
                <a:latin typeface="Candara"/>
                <a:cs typeface="Candara"/>
              </a:rPr>
              <a:t>2000,</a:t>
            </a:r>
            <a:r>
              <a:rPr sz="1200" dirty="0">
                <a:latin typeface="Candara"/>
                <a:cs typeface="Candara"/>
              </a:rPr>
              <a:t>	</a:t>
            </a:r>
            <a:r>
              <a:rPr sz="1200" spc="-20" dirty="0">
                <a:latin typeface="Candara"/>
                <a:cs typeface="Candara"/>
              </a:rPr>
              <a:t>from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36142" y="5162783"/>
            <a:ext cx="7693025" cy="1123315"/>
          </a:xfrm>
          <a:prstGeom prst="rect">
            <a:avLst/>
          </a:prstGeom>
        </p:spPr>
        <p:txBody>
          <a:bodyPr vert="horz" wrap="square" lIns="0" tIns="103505" rIns="0" bIns="0" rtlCol="0">
            <a:spAutoFit/>
          </a:bodyPr>
          <a:lstStyle/>
          <a:p>
            <a:pPr marL="184785">
              <a:lnSpc>
                <a:spcPct val="100000"/>
              </a:lnSpc>
              <a:spcBef>
                <a:spcPts val="815"/>
              </a:spcBef>
            </a:pPr>
            <a:r>
              <a:rPr sz="1200" spc="-10" dirty="0">
                <a:latin typeface="Candara"/>
                <a:cs typeface="Candara"/>
                <a:hlinkClick r:id="rId5"/>
              </a:rPr>
              <a:t>http://www.cc.gatech.edu/gvu/usersurveys/survey1997-</a:t>
            </a:r>
            <a:r>
              <a:rPr sz="1200" spc="-25" dirty="0">
                <a:latin typeface="Candara"/>
                <a:cs typeface="Candara"/>
                <a:hlinkClick r:id="rId5"/>
              </a:rPr>
              <a:t>10/</a:t>
            </a:r>
            <a:endParaRPr sz="1200">
              <a:latin typeface="Candara"/>
              <a:cs typeface="Candara"/>
            </a:endParaRPr>
          </a:p>
          <a:p>
            <a:pPr marL="185420" indent="-172720">
              <a:lnSpc>
                <a:spcPct val="100000"/>
              </a:lnSpc>
              <a:spcBef>
                <a:spcPts val="725"/>
              </a:spcBef>
              <a:buFont typeface="Arial MT"/>
              <a:buChar char="•"/>
              <a:tabLst>
                <a:tab pos="185420" algn="l"/>
              </a:tabLst>
            </a:pPr>
            <a:r>
              <a:rPr sz="1200" dirty="0">
                <a:latin typeface="Candara"/>
                <a:cs typeface="Candara"/>
              </a:rPr>
              <a:t>Health</a:t>
            </a:r>
            <a:r>
              <a:rPr sz="1200" spc="16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Canada.</a:t>
            </a:r>
            <a:r>
              <a:rPr sz="1200" spc="16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(2002,</a:t>
            </a:r>
            <a:r>
              <a:rPr sz="1200" spc="17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February).</a:t>
            </a:r>
            <a:r>
              <a:rPr sz="1200" spc="16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The</a:t>
            </a:r>
            <a:r>
              <a:rPr sz="1200" spc="16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safety</a:t>
            </a:r>
            <a:r>
              <a:rPr sz="1200" spc="17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of</a:t>
            </a:r>
            <a:r>
              <a:rPr sz="1200" spc="17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genetically</a:t>
            </a:r>
            <a:r>
              <a:rPr sz="1200" spc="16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modified</a:t>
            </a:r>
            <a:r>
              <a:rPr sz="1200" spc="18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food</a:t>
            </a:r>
            <a:r>
              <a:rPr sz="1200" spc="17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crops.</a:t>
            </a:r>
            <a:r>
              <a:rPr sz="1200" spc="16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Retrieved</a:t>
            </a:r>
            <a:r>
              <a:rPr sz="1200" spc="16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March</a:t>
            </a:r>
            <a:r>
              <a:rPr sz="1200" spc="16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22,</a:t>
            </a:r>
            <a:r>
              <a:rPr sz="1200" spc="17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2005,</a:t>
            </a:r>
            <a:r>
              <a:rPr sz="1200" spc="175" dirty="0">
                <a:latin typeface="Candara"/>
                <a:cs typeface="Candara"/>
              </a:rPr>
              <a:t> </a:t>
            </a:r>
            <a:r>
              <a:rPr sz="1200" spc="-20" dirty="0">
                <a:latin typeface="Candara"/>
                <a:cs typeface="Candara"/>
              </a:rPr>
              <a:t>from</a:t>
            </a:r>
            <a:endParaRPr sz="1200">
              <a:latin typeface="Candara"/>
              <a:cs typeface="Candara"/>
            </a:endParaRPr>
          </a:p>
          <a:p>
            <a:pPr marL="184785">
              <a:lnSpc>
                <a:spcPct val="100000"/>
              </a:lnSpc>
              <a:spcBef>
                <a:spcPts val="720"/>
              </a:spcBef>
            </a:pPr>
            <a:r>
              <a:rPr sz="1200" spc="-10" dirty="0">
                <a:latin typeface="Candara"/>
                <a:cs typeface="Candara"/>
                <a:hlinkClick r:id="rId6"/>
              </a:rPr>
              <a:t>http://www.hcsc.gc.ca/english/protection/biologics_genetics/gen_mod_foods/genmodebk.html</a:t>
            </a:r>
            <a:endParaRPr sz="1200">
              <a:latin typeface="Candara"/>
              <a:cs typeface="Candara"/>
            </a:endParaRPr>
          </a:p>
          <a:p>
            <a:pPr marL="186055" indent="-173355">
              <a:lnSpc>
                <a:spcPct val="100000"/>
              </a:lnSpc>
              <a:spcBef>
                <a:spcPts val="720"/>
              </a:spcBef>
              <a:buFont typeface="Arial MT"/>
              <a:buChar char="•"/>
              <a:tabLst>
                <a:tab pos="186055" algn="l"/>
              </a:tabLst>
            </a:pPr>
            <a:r>
              <a:rPr sz="1200" dirty="0">
                <a:latin typeface="Candara"/>
                <a:cs typeface="Candara"/>
              </a:rPr>
              <a:t>Hilts,</a:t>
            </a:r>
            <a:r>
              <a:rPr sz="1200" spc="1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P.</a:t>
            </a:r>
            <a:r>
              <a:rPr sz="1200" spc="1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J.</a:t>
            </a:r>
            <a:r>
              <a:rPr sz="1200" spc="1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(1999,</a:t>
            </a:r>
            <a:r>
              <a:rPr sz="1200" spc="16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February</a:t>
            </a:r>
            <a:r>
              <a:rPr sz="1200" spc="15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16).</a:t>
            </a:r>
            <a:r>
              <a:rPr sz="1200" spc="1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In</a:t>
            </a:r>
            <a:r>
              <a:rPr sz="1200" spc="1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forecasting</a:t>
            </a:r>
            <a:r>
              <a:rPr sz="1200" spc="16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their</a:t>
            </a:r>
            <a:r>
              <a:rPr sz="1200" spc="1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emotions,</a:t>
            </a:r>
            <a:r>
              <a:rPr sz="1200" spc="16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most</a:t>
            </a:r>
            <a:r>
              <a:rPr sz="1200" spc="15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people</a:t>
            </a:r>
            <a:r>
              <a:rPr sz="1200" spc="1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flunk</a:t>
            </a:r>
            <a:r>
              <a:rPr sz="1200" spc="1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out.</a:t>
            </a:r>
            <a:r>
              <a:rPr sz="1200" spc="15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New</a:t>
            </a:r>
            <a:r>
              <a:rPr sz="1200" spc="16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York</a:t>
            </a:r>
            <a:r>
              <a:rPr sz="1200" spc="160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Times.</a:t>
            </a:r>
            <a:r>
              <a:rPr sz="1200" spc="155" dirty="0">
                <a:latin typeface="Candara"/>
                <a:cs typeface="Candara"/>
              </a:rPr>
              <a:t> </a:t>
            </a:r>
            <a:r>
              <a:rPr sz="1200" spc="-10" dirty="0">
                <a:latin typeface="Candara"/>
                <a:cs typeface="Candara"/>
              </a:rPr>
              <a:t>Retrieved</a:t>
            </a:r>
            <a:endParaRPr sz="1200">
              <a:latin typeface="Candara"/>
              <a:cs typeface="Candar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108354" y="6351523"/>
            <a:ext cx="3290570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latin typeface="Candara"/>
                <a:cs typeface="Candara"/>
              </a:rPr>
              <a:t>November</a:t>
            </a:r>
            <a:r>
              <a:rPr sz="1200" spc="-3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21,</a:t>
            </a:r>
            <a:r>
              <a:rPr sz="1200" spc="-2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2000,</a:t>
            </a:r>
            <a:r>
              <a:rPr sz="1200" spc="-25" dirty="0">
                <a:latin typeface="Candara"/>
                <a:cs typeface="Candara"/>
              </a:rPr>
              <a:t> </a:t>
            </a:r>
            <a:r>
              <a:rPr sz="1200" dirty="0">
                <a:latin typeface="Candara"/>
                <a:cs typeface="Candara"/>
              </a:rPr>
              <a:t>from</a:t>
            </a:r>
            <a:r>
              <a:rPr sz="1200" spc="-10" dirty="0">
                <a:latin typeface="Candara"/>
                <a:cs typeface="Candara"/>
              </a:rPr>
              <a:t> </a:t>
            </a:r>
            <a:r>
              <a:rPr sz="1200" spc="-10" dirty="0">
                <a:latin typeface="Candara"/>
                <a:cs typeface="Candara"/>
                <a:hlinkClick r:id="rId7"/>
              </a:rPr>
              <a:t>http://www.nytimes.com</a:t>
            </a:r>
            <a:endParaRPr sz="1200">
              <a:latin typeface="Candara"/>
              <a:cs typeface="Candara"/>
            </a:endParaRPr>
          </a:p>
        </p:txBody>
      </p:sp>
      <p:pic>
        <p:nvPicPr>
          <p:cNvPr id="18" name="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12" name="object 12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dirty="0"/>
              <a:t>Additional</a:t>
            </a:r>
            <a:r>
              <a:rPr spc="-100" dirty="0"/>
              <a:t> </a:t>
            </a:r>
            <a:r>
              <a:rPr dirty="0"/>
              <a:t>APA</a:t>
            </a:r>
            <a:r>
              <a:rPr spc="-85" dirty="0"/>
              <a:t> </a:t>
            </a:r>
            <a:r>
              <a:rPr spc="-10" dirty="0"/>
              <a:t>Resources</a:t>
            </a: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-3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Purdue</a:t>
            </a:r>
            <a:r>
              <a:rPr sz="2000" b="0" spc="-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OWL</a:t>
            </a:r>
            <a:r>
              <a:rPr sz="2000" b="0" spc="-30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  <a:hlinkClick r:id="rId2"/>
              </a:rPr>
              <a:t>http://owl.english.purdue.edu</a:t>
            </a:r>
            <a:endParaRPr sz="2000">
              <a:latin typeface="Candara"/>
              <a:cs typeface="Candara"/>
            </a:endParaRPr>
          </a:p>
          <a:p>
            <a:pPr marL="522605" indent="-50990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522605" algn="l"/>
              </a:tabLst>
            </a:pPr>
            <a:r>
              <a:rPr sz="2000" b="0" dirty="0">
                <a:latin typeface="Candara"/>
                <a:cs typeface="Candara"/>
              </a:rPr>
              <a:t>Purdue</a:t>
            </a:r>
            <a:r>
              <a:rPr sz="2000" b="0" spc="-2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Writing</a:t>
            </a:r>
            <a:r>
              <a:rPr sz="2000" b="0" spc="-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Lab</a:t>
            </a:r>
            <a:r>
              <a:rPr sz="2000" b="0" spc="-3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@</a:t>
            </a:r>
            <a:r>
              <a:rPr sz="2000" b="0" spc="-4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HEAV</a:t>
            </a:r>
            <a:r>
              <a:rPr sz="2000" b="0" spc="-40" dirty="0">
                <a:latin typeface="Candara"/>
                <a:cs typeface="Candara"/>
              </a:rPr>
              <a:t> </a:t>
            </a:r>
            <a:r>
              <a:rPr sz="2000" b="0" spc="-25" dirty="0">
                <a:latin typeface="Candara"/>
                <a:cs typeface="Candara"/>
              </a:rPr>
              <a:t>226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dirty="0">
                <a:latin typeface="Candara"/>
                <a:cs typeface="Candara"/>
              </a:rPr>
              <a:t>Composition</a:t>
            </a:r>
            <a:r>
              <a:rPr sz="2000" b="0" spc="-45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</a:rPr>
              <a:t>textbooks</a:t>
            </a:r>
            <a:endParaRPr sz="2000">
              <a:latin typeface="Candara"/>
              <a:cs typeface="Candara"/>
            </a:endParaRPr>
          </a:p>
          <a:p>
            <a:pPr marL="469265" marR="5080" indent="-457200">
              <a:lnSpc>
                <a:spcPts val="3600"/>
              </a:lnSpc>
              <a:spcBef>
                <a:spcPts val="320"/>
              </a:spcBef>
              <a:buChar char="•"/>
              <a:tabLst>
                <a:tab pos="469265" algn="l"/>
                <a:tab pos="524510" algn="l"/>
              </a:tabLst>
            </a:pPr>
            <a:r>
              <a:rPr sz="2000" b="0" dirty="0">
                <a:latin typeface="Arial MT"/>
                <a:cs typeface="Arial MT"/>
              </a:rPr>
              <a:t>	</a:t>
            </a:r>
            <a:r>
              <a:rPr sz="2000" b="0" dirty="0">
                <a:latin typeface="Candara"/>
                <a:cs typeface="Candara"/>
              </a:rPr>
              <a:t>Publication</a:t>
            </a:r>
            <a:r>
              <a:rPr sz="2000" b="0" spc="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Manual</a:t>
            </a:r>
            <a:r>
              <a:rPr sz="2000" b="0" spc="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of</a:t>
            </a:r>
            <a:r>
              <a:rPr sz="2000" b="0" spc="1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the</a:t>
            </a:r>
            <a:r>
              <a:rPr sz="2000" b="0" spc="20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American</a:t>
            </a:r>
            <a:r>
              <a:rPr sz="2000" b="0" spc="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Psychological</a:t>
            </a:r>
            <a:r>
              <a:rPr sz="2000" b="0" spc="1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Association,</a:t>
            </a:r>
            <a:r>
              <a:rPr sz="2000" b="0" spc="15" dirty="0">
                <a:latin typeface="Candara"/>
                <a:cs typeface="Candara"/>
              </a:rPr>
              <a:t> </a:t>
            </a:r>
            <a:r>
              <a:rPr sz="2000" b="0" spc="-25" dirty="0">
                <a:latin typeface="Candara"/>
                <a:cs typeface="Candara"/>
              </a:rPr>
              <a:t>6th ed.</a:t>
            </a:r>
            <a:endParaRPr sz="2000">
              <a:latin typeface="Candara"/>
              <a:cs typeface="Candara"/>
            </a:endParaRPr>
          </a:p>
          <a:p>
            <a:pPr marL="522605" indent="-509905">
              <a:lnSpc>
                <a:spcPct val="100000"/>
              </a:lnSpc>
              <a:spcBef>
                <a:spcPts val="885"/>
              </a:spcBef>
              <a:buFont typeface="Arial MT"/>
              <a:buChar char="•"/>
              <a:tabLst>
                <a:tab pos="522605" algn="l"/>
              </a:tabLst>
            </a:pPr>
            <a:r>
              <a:rPr sz="2000" b="0" dirty="0">
                <a:latin typeface="Candara"/>
                <a:cs typeface="Candara"/>
              </a:rPr>
              <a:t>APA</a:t>
            </a:r>
            <a:r>
              <a:rPr sz="2000" b="0" dirty="0">
                <a:latin typeface="MS PGothic"/>
                <a:cs typeface="MS PGothic"/>
              </a:rPr>
              <a:t>’</a:t>
            </a:r>
            <a:r>
              <a:rPr sz="2000" b="0" dirty="0">
                <a:latin typeface="Candara"/>
                <a:cs typeface="Candara"/>
              </a:rPr>
              <a:t>s</a:t>
            </a:r>
            <a:r>
              <a:rPr sz="2000" b="0" spc="-35" dirty="0">
                <a:latin typeface="Candara"/>
                <a:cs typeface="Candara"/>
              </a:rPr>
              <a:t> </a:t>
            </a:r>
            <a:r>
              <a:rPr sz="2000" b="0" dirty="0">
                <a:latin typeface="Candara"/>
                <a:cs typeface="Candara"/>
              </a:rPr>
              <a:t>website</a:t>
            </a:r>
            <a:r>
              <a:rPr sz="2000" b="0" spc="-60" dirty="0">
                <a:latin typeface="Candara"/>
                <a:cs typeface="Candara"/>
              </a:rPr>
              <a:t> </a:t>
            </a:r>
            <a:r>
              <a:rPr sz="2000" b="0" spc="-10" dirty="0">
                <a:latin typeface="Candara"/>
                <a:cs typeface="Candara"/>
                <a:hlinkClick r:id="rId3"/>
              </a:rPr>
              <a:t>http://www.apastyle.org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b="0" spc="-10" dirty="0">
                <a:latin typeface="Candara"/>
                <a:cs typeface="Candara"/>
              </a:rPr>
              <a:t>https://</a:t>
            </a:r>
            <a:r>
              <a:rPr sz="2000" b="0" spc="-10" dirty="0">
                <a:latin typeface="Candara"/>
                <a:cs typeface="Candara"/>
                <a:hlinkClick r:id="rId4"/>
              </a:rPr>
              <a:t>www.sciencebuddies.org/science-fair-projects/science-</a:t>
            </a:r>
            <a:endParaRPr sz="2000">
              <a:latin typeface="Candara"/>
              <a:cs typeface="Candara"/>
            </a:endParaRPr>
          </a:p>
          <a:p>
            <a:pPr marL="469265">
              <a:lnSpc>
                <a:spcPct val="100000"/>
              </a:lnSpc>
              <a:spcBef>
                <a:spcPts val="1200"/>
              </a:spcBef>
            </a:pPr>
            <a:r>
              <a:rPr sz="2000" b="0" spc="-10" dirty="0">
                <a:latin typeface="Candara"/>
                <a:cs typeface="Candara"/>
              </a:rPr>
              <a:t>fair/writing-a-bibliography-apa-format</a:t>
            </a:r>
            <a:endParaRPr sz="2000">
              <a:latin typeface="Candara"/>
              <a:cs typeface="Candara"/>
            </a:endParaRPr>
          </a:p>
        </p:txBody>
      </p:sp>
      <p:sp>
        <p:nvSpPr>
          <p:cNvPr id="23" name="object 2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49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90500" y="2133600"/>
            <a:ext cx="839469" cy="1981835"/>
            <a:chOff x="190500" y="2133600"/>
            <a:chExt cx="839469" cy="1981835"/>
          </a:xfrm>
        </p:grpSpPr>
        <p:pic>
          <p:nvPicPr>
            <p:cNvPr id="15" name="object 15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500" y="3465830"/>
              <a:ext cx="838200" cy="6496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1770" y="3065652"/>
              <a:ext cx="838200" cy="64960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500" y="2607563"/>
              <a:ext cx="838200" cy="649604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  <p:grpSp>
        <p:nvGrpSpPr>
          <p:cNvPr id="20" name="object 20"/>
          <p:cNvGrpSpPr/>
          <p:nvPr/>
        </p:nvGrpSpPr>
        <p:grpSpPr>
          <a:xfrm>
            <a:off x="189229" y="4373753"/>
            <a:ext cx="839469" cy="1108075"/>
            <a:chOff x="189229" y="4373753"/>
            <a:chExt cx="839469" cy="1108075"/>
          </a:xfrm>
        </p:grpSpPr>
        <p:pic>
          <p:nvPicPr>
            <p:cNvPr id="21" name="object 2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0499" y="4831715"/>
              <a:ext cx="838200" cy="64960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9229" y="4373753"/>
              <a:ext cx="838200" cy="64960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Referencing</a:t>
            </a:r>
            <a:r>
              <a:rPr spc="-95" dirty="0"/>
              <a:t> </a:t>
            </a:r>
            <a:r>
              <a:rPr spc="-10" dirty="0"/>
              <a:t>Style</a:t>
            </a:r>
          </a:p>
        </p:txBody>
      </p:sp>
      <p:sp>
        <p:nvSpPr>
          <p:cNvPr id="20" name="object 20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50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542989"/>
            <a:ext cx="2968625" cy="2430780"/>
          </a:xfrm>
          <a:prstGeom prst="rect">
            <a:avLst/>
          </a:prstGeom>
        </p:spPr>
        <p:txBody>
          <a:bodyPr vert="horz" wrap="square" lIns="0" tIns="210185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1655"/>
              </a:spcBef>
              <a:buFont typeface="Wingdings"/>
              <a:buChar char=""/>
              <a:tabLst>
                <a:tab pos="469265" algn="l"/>
              </a:tabLst>
            </a:pPr>
            <a:r>
              <a:rPr sz="2400" b="1" dirty="0">
                <a:latin typeface="Candara"/>
                <a:cs typeface="Candara"/>
              </a:rPr>
              <a:t>Citation</a:t>
            </a:r>
            <a:r>
              <a:rPr sz="2400" b="1" spc="-55" dirty="0">
                <a:latin typeface="Candara"/>
                <a:cs typeface="Candara"/>
              </a:rPr>
              <a:t> </a:t>
            </a:r>
            <a:r>
              <a:rPr sz="2400" b="1" dirty="0">
                <a:latin typeface="Candara"/>
                <a:cs typeface="Candara"/>
              </a:rPr>
              <a:t>Made</a:t>
            </a:r>
            <a:r>
              <a:rPr sz="2400" b="1" spc="-55" dirty="0">
                <a:latin typeface="Candara"/>
                <a:cs typeface="Candara"/>
              </a:rPr>
              <a:t> </a:t>
            </a:r>
            <a:r>
              <a:rPr sz="2400" b="1" spc="-20" dirty="0">
                <a:latin typeface="Candara"/>
                <a:cs typeface="Candara"/>
              </a:rPr>
              <a:t>Easy</a:t>
            </a:r>
            <a:endParaRPr sz="24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3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dirty="0">
                <a:latin typeface="Candara"/>
                <a:cs typeface="Candara"/>
              </a:rPr>
              <a:t>Microsoft</a:t>
            </a:r>
            <a:r>
              <a:rPr sz="2000" spc="-50" dirty="0">
                <a:latin typeface="Candara"/>
                <a:cs typeface="Candara"/>
              </a:rPr>
              <a:t> </a:t>
            </a:r>
            <a:r>
              <a:rPr sz="2000" spc="-20" dirty="0">
                <a:latin typeface="Candara"/>
                <a:cs typeface="Candara"/>
              </a:rPr>
              <a:t>Word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spc="-10" dirty="0">
                <a:latin typeface="Candara"/>
                <a:cs typeface="Candara"/>
              </a:rPr>
              <a:t>Citefast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spc="-10" dirty="0">
                <a:latin typeface="Candara"/>
                <a:cs typeface="Candara"/>
              </a:rPr>
              <a:t>BibMe</a:t>
            </a:r>
            <a:endParaRPr sz="2000">
              <a:latin typeface="Candara"/>
              <a:cs typeface="Candara"/>
            </a:endParaRPr>
          </a:p>
          <a:p>
            <a:pPr marL="469265" indent="-456565">
              <a:lnSpc>
                <a:spcPct val="100000"/>
              </a:lnSpc>
              <a:spcBef>
                <a:spcPts val="1200"/>
              </a:spcBef>
              <a:buFont typeface="Arial MT"/>
              <a:buChar char="•"/>
              <a:tabLst>
                <a:tab pos="469265" algn="l"/>
              </a:tabLst>
            </a:pPr>
            <a:r>
              <a:rPr sz="2000" spc="-10" dirty="0">
                <a:latin typeface="Candara"/>
                <a:cs typeface="Candara"/>
              </a:rPr>
              <a:t>Zotero</a:t>
            </a:r>
            <a:endParaRPr sz="2000">
              <a:latin typeface="Candara"/>
              <a:cs typeface="Candara"/>
            </a:endParaRPr>
          </a:p>
        </p:txBody>
      </p:sp>
      <p:pic>
        <p:nvPicPr>
          <p:cNvPr id="13" name="object 1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4400" y="1523974"/>
            <a:ext cx="426910" cy="467131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190500" y="2133600"/>
            <a:ext cx="839469" cy="1981835"/>
            <a:chOff x="190500" y="2133600"/>
            <a:chExt cx="839469" cy="1981835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133600"/>
              <a:ext cx="838200" cy="649604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3465830"/>
              <a:ext cx="838200" cy="64960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1770" y="3065652"/>
              <a:ext cx="838200" cy="649605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90500" y="2607563"/>
              <a:ext cx="838200" cy="649604"/>
            </a:xfrm>
            <a:prstGeom prst="rect">
              <a:avLst/>
            </a:prstGeom>
          </p:spPr>
        </p:pic>
      </p:grpSp>
      <p:pic>
        <p:nvPicPr>
          <p:cNvPr id="19" name="object 1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831620" y="185831"/>
            <a:ext cx="1143669" cy="1139510"/>
          </a:xfrm>
          <a:prstGeom prst="rect">
            <a:avLst/>
          </a:prstGeom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0782" y="495160"/>
            <a:ext cx="9123217" cy="5715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51</a:t>
            </a:fld>
            <a:endParaRPr spc="-25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52</a:t>
            </a:fld>
            <a:endParaRPr spc="-25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571500"/>
            <a:ext cx="9144000" cy="5715000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53</a:t>
            </a:fld>
            <a:endParaRPr spc="-25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References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54</a:t>
            </a:fld>
            <a:endParaRPr spc="-25" dirty="0"/>
          </a:p>
        </p:txBody>
      </p:sp>
      <p:grpSp>
        <p:nvGrpSpPr>
          <p:cNvPr id="3" name="object 3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4" name="object 4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2" name="object 12"/>
          <p:cNvSpPr txBox="1"/>
          <p:nvPr/>
        </p:nvSpPr>
        <p:spPr>
          <a:xfrm>
            <a:off x="936142" y="1657349"/>
            <a:ext cx="7693025" cy="20834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265" marR="6350" indent="-457200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469265" algn="l"/>
              </a:tabLst>
            </a:pPr>
            <a:r>
              <a:rPr sz="1800" dirty="0">
                <a:latin typeface="Candara"/>
                <a:cs typeface="Candara"/>
              </a:rPr>
              <a:t>Lane</a:t>
            </a:r>
            <a:r>
              <a:rPr sz="1800" spc="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Community</a:t>
            </a:r>
            <a:r>
              <a:rPr sz="1800" spc="4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College</a:t>
            </a:r>
            <a:r>
              <a:rPr sz="1800" spc="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Library.</a:t>
            </a:r>
            <a:r>
              <a:rPr sz="1800" spc="2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(2013).</a:t>
            </a:r>
            <a:r>
              <a:rPr sz="1800" spc="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MLA</a:t>
            </a:r>
            <a:r>
              <a:rPr sz="1800" spc="30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Style</a:t>
            </a:r>
            <a:r>
              <a:rPr sz="1800" spc="3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Quick</a:t>
            </a:r>
            <a:r>
              <a:rPr sz="1800" spc="15" dirty="0">
                <a:latin typeface="Candara"/>
                <a:cs typeface="Candara"/>
              </a:rPr>
              <a:t> </a:t>
            </a:r>
            <a:r>
              <a:rPr sz="1800" dirty="0">
                <a:latin typeface="Candara"/>
                <a:cs typeface="Candara"/>
              </a:rPr>
              <a:t>Sheet.</a:t>
            </a:r>
            <a:r>
              <a:rPr sz="1800" spc="25" dirty="0">
                <a:latin typeface="Candara"/>
                <a:cs typeface="Candara"/>
              </a:rPr>
              <a:t> </a:t>
            </a:r>
            <a:r>
              <a:rPr sz="1800" spc="-10" dirty="0">
                <a:latin typeface="Candara"/>
                <a:cs typeface="Candara"/>
              </a:rPr>
              <a:t>Retrieved </a:t>
            </a:r>
            <a:r>
              <a:rPr sz="1800" dirty="0">
                <a:latin typeface="Candara"/>
                <a:cs typeface="Candara"/>
              </a:rPr>
              <a:t>from</a:t>
            </a:r>
            <a:r>
              <a:rPr sz="1800" spc="-15" dirty="0">
                <a:latin typeface="Candara"/>
                <a:cs typeface="Candara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ndara"/>
                <a:cs typeface="Candara"/>
                <a:hlinkClick r:id="rId2"/>
              </a:rPr>
              <a:t>https://library.lanecc.edu/sites/default/files/handouts/mla_quick.pdf</a:t>
            </a:r>
            <a:endParaRPr sz="1800">
              <a:latin typeface="Candara"/>
              <a:cs typeface="Candara"/>
            </a:endParaRPr>
          </a:p>
          <a:p>
            <a:pPr marL="469265" marR="5080" indent="-457200">
              <a:lnSpc>
                <a:spcPct val="150000"/>
              </a:lnSpc>
              <a:buFont typeface="Arial MT"/>
              <a:buChar char="•"/>
              <a:tabLst>
                <a:tab pos="469265" algn="l"/>
                <a:tab pos="1651000" algn="l"/>
                <a:tab pos="2066925" algn="l"/>
                <a:tab pos="3130550" algn="l"/>
                <a:tab pos="3265804" algn="l"/>
                <a:tab pos="3997960" algn="l"/>
                <a:tab pos="4612640" algn="l"/>
                <a:tab pos="6055995" algn="l"/>
                <a:tab pos="7205345" algn="l"/>
              </a:tabLst>
            </a:pPr>
            <a:r>
              <a:rPr sz="1800" spc="-10" dirty="0">
                <a:latin typeface="Candara"/>
                <a:cs typeface="Candara"/>
              </a:rPr>
              <a:t>University</a:t>
            </a:r>
            <a:r>
              <a:rPr sz="1800" dirty="0">
                <a:latin typeface="Candara"/>
                <a:cs typeface="Candara"/>
              </a:rPr>
              <a:t>	</a:t>
            </a:r>
            <a:r>
              <a:rPr sz="1800" spc="-25" dirty="0">
                <a:latin typeface="Candara"/>
                <a:cs typeface="Candara"/>
              </a:rPr>
              <a:t>of</a:t>
            </a:r>
            <a:r>
              <a:rPr sz="1800" dirty="0">
                <a:latin typeface="Candara"/>
                <a:cs typeface="Candara"/>
              </a:rPr>
              <a:t>	</a:t>
            </a:r>
            <a:r>
              <a:rPr sz="1800" spc="-10" dirty="0">
                <a:latin typeface="Candara"/>
                <a:cs typeface="Candara"/>
              </a:rPr>
              <a:t>Waikato.</a:t>
            </a:r>
            <a:r>
              <a:rPr sz="1800" dirty="0">
                <a:latin typeface="Candara"/>
                <a:cs typeface="Candara"/>
              </a:rPr>
              <a:t>	</a:t>
            </a:r>
            <a:r>
              <a:rPr sz="1800" spc="-10" dirty="0">
                <a:latin typeface="Candara"/>
                <a:cs typeface="Candara"/>
              </a:rPr>
              <a:t>(2016).</a:t>
            </a:r>
            <a:r>
              <a:rPr sz="1800" dirty="0">
                <a:latin typeface="Candara"/>
                <a:cs typeface="Candara"/>
              </a:rPr>
              <a:t>	</a:t>
            </a:r>
            <a:r>
              <a:rPr sz="1800" spc="-25" dirty="0">
                <a:latin typeface="Candara"/>
                <a:cs typeface="Candara"/>
              </a:rPr>
              <a:t>APA</a:t>
            </a:r>
            <a:r>
              <a:rPr sz="1800" dirty="0">
                <a:latin typeface="Candara"/>
                <a:cs typeface="Candara"/>
              </a:rPr>
              <a:t>	</a:t>
            </a:r>
            <a:r>
              <a:rPr sz="1800" spc="-10" dirty="0">
                <a:latin typeface="Candara"/>
                <a:cs typeface="Candara"/>
              </a:rPr>
              <a:t>Referencing.</a:t>
            </a:r>
            <a:r>
              <a:rPr sz="1800" dirty="0">
                <a:latin typeface="Candara"/>
                <a:cs typeface="Candara"/>
              </a:rPr>
              <a:t>	</a:t>
            </a:r>
            <a:r>
              <a:rPr sz="1800" spc="-10" dirty="0">
                <a:latin typeface="Candara"/>
                <a:cs typeface="Candara"/>
              </a:rPr>
              <a:t>Retrieved</a:t>
            </a:r>
            <a:r>
              <a:rPr sz="1800" dirty="0">
                <a:latin typeface="Candara"/>
                <a:cs typeface="Candara"/>
              </a:rPr>
              <a:t>	</a:t>
            </a:r>
            <a:r>
              <a:rPr sz="1800" spc="-20" dirty="0">
                <a:latin typeface="Candara"/>
                <a:cs typeface="Candara"/>
              </a:rPr>
              <a:t>from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ndara"/>
                <a:cs typeface="Candara"/>
                <a:hlinkClick r:id="rId3"/>
              </a:rPr>
              <a:t>http://www.waikato.ac.nz/</a:t>
            </a:r>
            <a:r>
              <a:rPr sz="1800" u="sng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ndara"/>
                <a:cs typeface="Candara"/>
                <a:hlinkClick r:id="rId3"/>
              </a:rPr>
              <a:t>		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ndara"/>
                <a:cs typeface="Candara"/>
                <a:hlinkClick r:id="rId3"/>
              </a:rPr>
              <a:t>data/assets/pdf_file/0014/236120/apa-quick-</a:t>
            </a:r>
            <a:r>
              <a:rPr sz="1800" spc="-10" dirty="0">
                <a:solidFill>
                  <a:srgbClr val="0462C1"/>
                </a:solidFill>
                <a:latin typeface="Candara"/>
                <a:cs typeface="Candara"/>
              </a:rPr>
              <a:t> </a:t>
            </a:r>
            <a:r>
              <a:rPr sz="1800" u="sng" spc="-10" dirty="0">
                <a:solidFill>
                  <a:srgbClr val="0462C1"/>
                </a:solidFill>
                <a:uFill>
                  <a:solidFill>
                    <a:srgbClr val="0462C1"/>
                  </a:solidFill>
                </a:uFill>
                <a:latin typeface="Candara"/>
                <a:cs typeface="Candara"/>
                <a:hlinkClick r:id="rId3"/>
              </a:rPr>
              <a:t>guide.pdf</a:t>
            </a:r>
            <a:endParaRPr sz="1800">
              <a:latin typeface="Candara"/>
              <a:cs typeface="Candara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60350">
              <a:lnSpc>
                <a:spcPct val="100000"/>
              </a:lnSpc>
              <a:spcBef>
                <a:spcPts val="105"/>
              </a:spcBef>
            </a:pPr>
            <a:r>
              <a:rPr spc="-10" dirty="0"/>
              <a:t>Conclusions</a:t>
            </a:r>
          </a:p>
        </p:txBody>
      </p:sp>
      <p:sp>
        <p:nvSpPr>
          <p:cNvPr id="13" name="object 13"/>
          <p:cNvSpPr txBox="1">
            <a:spLocks noGrp="1"/>
          </p:cNvSpPr>
          <p:nvPr>
            <p:ph type="sldNum" sz="quarter" idx="12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8100">
              <a:lnSpc>
                <a:spcPts val="880"/>
              </a:lnSpc>
            </a:pPr>
            <a:fld id="{81D60167-4931-47E6-BA6A-407CBD079E47}" type="slidenum">
              <a:rPr spc="-25" dirty="0"/>
              <a:t>55</a:t>
            </a:fld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908405" y="1759457"/>
            <a:ext cx="2935605" cy="1122680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ndara"/>
                <a:cs typeface="Candara"/>
              </a:rPr>
              <a:t>Methods</a:t>
            </a:r>
            <a:r>
              <a:rPr sz="2400" spc="-35" dirty="0">
                <a:solidFill>
                  <a:srgbClr val="404040"/>
                </a:solidFill>
                <a:latin typeface="Candara"/>
                <a:cs typeface="Candara"/>
              </a:rPr>
              <a:t> </a:t>
            </a:r>
            <a:r>
              <a:rPr sz="2400" dirty="0">
                <a:solidFill>
                  <a:srgbClr val="404040"/>
                </a:solidFill>
                <a:latin typeface="Candara"/>
                <a:cs typeface="Candara"/>
              </a:rPr>
              <a:t>of</a:t>
            </a:r>
            <a:r>
              <a:rPr sz="2400" spc="-20" dirty="0">
                <a:solidFill>
                  <a:srgbClr val="404040"/>
                </a:solidFill>
                <a:latin typeface="Candara"/>
                <a:cs typeface="Candar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ndara"/>
                <a:cs typeface="Candara"/>
              </a:rPr>
              <a:t>Citation</a:t>
            </a:r>
            <a:endParaRPr sz="2400">
              <a:latin typeface="Candara"/>
              <a:cs typeface="Candara"/>
            </a:endParaRPr>
          </a:p>
          <a:p>
            <a:pPr marL="354965" indent="-342265">
              <a:lnSpc>
                <a:spcPct val="100000"/>
              </a:lnSpc>
              <a:spcBef>
                <a:spcPts val="1440"/>
              </a:spcBef>
              <a:buFont typeface="Arial MT"/>
              <a:buChar char="•"/>
              <a:tabLst>
                <a:tab pos="354965" algn="l"/>
              </a:tabLst>
            </a:pPr>
            <a:r>
              <a:rPr sz="2400" dirty="0">
                <a:solidFill>
                  <a:srgbClr val="404040"/>
                </a:solidFill>
                <a:latin typeface="Candara"/>
                <a:cs typeface="Candara"/>
              </a:rPr>
              <a:t>Referencing</a:t>
            </a:r>
            <a:r>
              <a:rPr sz="2400" spc="-130" dirty="0">
                <a:solidFill>
                  <a:srgbClr val="404040"/>
                </a:solidFill>
                <a:latin typeface="Candara"/>
                <a:cs typeface="Candara"/>
              </a:rPr>
              <a:t> </a:t>
            </a:r>
            <a:r>
              <a:rPr sz="2400" spc="-10" dirty="0">
                <a:solidFill>
                  <a:srgbClr val="404040"/>
                </a:solidFill>
                <a:latin typeface="Candara"/>
                <a:cs typeface="Candara"/>
              </a:rPr>
              <a:t>Styles</a:t>
            </a:r>
            <a:endParaRPr sz="2400">
              <a:latin typeface="Candara"/>
              <a:cs typeface="Candara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857224" y="1405256"/>
            <a:ext cx="6038215" cy="45720"/>
            <a:chOff x="857224" y="1405256"/>
            <a:chExt cx="6038215" cy="45720"/>
          </a:xfrm>
        </p:grpSpPr>
        <p:sp>
          <p:nvSpPr>
            <p:cNvPr id="5" name="object 5"/>
            <p:cNvSpPr/>
            <p:nvPr/>
          </p:nvSpPr>
          <p:spPr>
            <a:xfrm>
              <a:off x="6100191" y="1405256"/>
              <a:ext cx="795020" cy="45720"/>
            </a:xfrm>
            <a:custGeom>
              <a:avLst/>
              <a:gdLst/>
              <a:ahLst/>
              <a:cxnLst/>
              <a:rect l="l" t="t" r="r" b="b"/>
              <a:pathLst>
                <a:path w="795020" h="45719">
                  <a:moveTo>
                    <a:pt x="79484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94842" y="45718"/>
                  </a:lnTo>
                  <a:lnTo>
                    <a:pt x="794842" y="0"/>
                  </a:lnTo>
                  <a:close/>
                </a:path>
              </a:pathLst>
            </a:custGeom>
            <a:solidFill>
              <a:srgbClr val="EC7C3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353176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92D05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61327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8496A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3873500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3133598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225F6E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2300605" y="1405256"/>
              <a:ext cx="838835" cy="45720"/>
            </a:xfrm>
            <a:custGeom>
              <a:avLst/>
              <a:gdLst/>
              <a:ahLst/>
              <a:cxnLst/>
              <a:rect l="l" t="t" r="r" b="b"/>
              <a:pathLst>
                <a:path w="838835" h="45719">
                  <a:moveTo>
                    <a:pt x="838314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838314" y="45718"/>
                  </a:lnTo>
                  <a:lnTo>
                    <a:pt x="838314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1597025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89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8235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857224" y="1405256"/>
              <a:ext cx="745490" cy="45720"/>
            </a:xfrm>
            <a:custGeom>
              <a:avLst/>
              <a:gdLst/>
              <a:ahLst/>
              <a:cxnLst/>
              <a:rect l="l" t="t" r="r" b="b"/>
              <a:pathLst>
                <a:path w="745490" h="45719">
                  <a:moveTo>
                    <a:pt x="745172" y="0"/>
                  </a:moveTo>
                  <a:lnTo>
                    <a:pt x="0" y="0"/>
                  </a:lnTo>
                  <a:lnTo>
                    <a:pt x="0" y="45718"/>
                  </a:lnTo>
                  <a:lnTo>
                    <a:pt x="745172" y="45718"/>
                  </a:lnTo>
                  <a:lnTo>
                    <a:pt x="745172" y="0"/>
                  </a:lnTo>
                  <a:close/>
                </a:path>
              </a:pathLst>
            </a:custGeom>
            <a:solidFill>
              <a:srgbClr val="5340EB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2335</Words>
  <Application>Microsoft Office PowerPoint</Application>
  <PresentationFormat>On-screen Show (4:3)</PresentationFormat>
  <Paragraphs>428</Paragraphs>
  <Slides>55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55</vt:i4>
      </vt:variant>
    </vt:vector>
  </HeadingPairs>
  <TitlesOfParts>
    <vt:vector size="64" baseType="lpstr">
      <vt:lpstr>MS PGothic</vt:lpstr>
      <vt:lpstr>Arial</vt:lpstr>
      <vt:lpstr>Arial MT</vt:lpstr>
      <vt:lpstr>Calibri</vt:lpstr>
      <vt:lpstr>Calibri Light</vt:lpstr>
      <vt:lpstr>Candara</vt:lpstr>
      <vt:lpstr>Courier New</vt:lpstr>
      <vt:lpstr>Wingdings</vt:lpstr>
      <vt:lpstr>Office Theme</vt:lpstr>
      <vt:lpstr>PowerPoint Presentation</vt:lpstr>
      <vt:lpstr>Previous Lecture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Referencing Style</vt:lpstr>
      <vt:lpstr>PowerPoint Presentation</vt:lpstr>
      <vt:lpstr>PowerPoint Presentation</vt:lpstr>
      <vt:lpstr>PowerPoint Presentation</vt:lpstr>
      <vt:lpstr>References</vt:lpstr>
      <vt:lpstr>Conclusions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COMSATS Institute of Information Technology</dc:title>
  <dc:creator>muniba_nasir</dc:creator>
  <cp:lastModifiedBy>mahreenumer</cp:lastModifiedBy>
  <cp:revision>2</cp:revision>
  <dcterms:created xsi:type="dcterms:W3CDTF">2025-01-13T05:20:34Z</dcterms:created>
  <dcterms:modified xsi:type="dcterms:W3CDTF">2025-01-13T05:21:46Z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2025-01-13T00:00:00Z</vt:filetime>
  </property>
  <property fmtid="{D5CDD505-2E9C-101B-9397-08002B2CF9AE}" pid="5" name="Producer">
    <vt:lpwstr>Microsoft® Office PowerPoint® 2007</vt:lpwstr>
  </property>
</Properties>
</file>